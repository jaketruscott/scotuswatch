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413" r:id="rId25"/>
    <p:sldId id="324" r:id="rId26"/>
    <p:sldId id="398" r:id="rId27"/>
    <p:sldId id="399" r:id="rId28"/>
    <p:sldId id="400" r:id="rId29"/>
    <p:sldId id="401"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4E478A"/>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11" d="100"/>
          <a:sy n="111" d="100"/>
        </p:scale>
        <p:origin x="558" y="96"/>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2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2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2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16,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1977837113"/>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02294" y="808786"/>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bars&#10;&#10;AI-generated content may be incorrect.">
            <a:extLst>
              <a:ext uri="{FF2B5EF4-FFF2-40B4-BE49-F238E27FC236}">
                <a16:creationId xmlns:a16="http://schemas.microsoft.com/office/drawing/2014/main" id="{26C38E0C-FED9-B178-570C-77884132CC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384705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creenshot of a graph&#10;&#10;AI-generated content may be incorrect.">
            <a:extLst>
              <a:ext uri="{FF2B5EF4-FFF2-40B4-BE49-F238E27FC236}">
                <a16:creationId xmlns:a16="http://schemas.microsoft.com/office/drawing/2014/main" id="{13CE2C12-4814-33E9-CCB6-DC3656BA38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01031" y="974983"/>
            <a:ext cx="10189937" cy="5094969"/>
          </a:xfrm>
          <a:prstGeom prst="rect">
            <a:avLst/>
          </a:prstGeom>
        </p:spPr>
      </p:pic>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pic>
        <p:nvPicPr>
          <p:cNvPr id="3" name="Picture 2" descr="A graph of different types of numbers&#10;&#10;AI-generated content may be incorrect.">
            <a:extLst>
              <a:ext uri="{FF2B5EF4-FFF2-40B4-BE49-F238E27FC236}">
                <a16:creationId xmlns:a16="http://schemas.microsoft.com/office/drawing/2014/main" id="{4445419E-7590-6237-5E1A-E163EC8828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5" y="143482"/>
            <a:ext cx="6270610" cy="3762366"/>
          </a:xfrm>
          <a:prstGeom prst="rect">
            <a:avLst/>
          </a:prstGeom>
        </p:spPr>
      </p:pic>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a:t>
            </a:r>
            <a:br>
              <a:rPr lang="en-US" sz="1200" dirty="0">
                <a:latin typeface="MULISH REGULAR ROMAN"/>
              </a:rPr>
            </a:br>
            <a:r>
              <a:rPr lang="en-US" sz="1200" dirty="0">
                <a:latin typeface="MULISH REGULAR ROMAN"/>
              </a:rPr>
              <a:t>(in words) of opinions issued by the Court by type between the 2016 and 2024 terms. </a:t>
            </a:r>
          </a:p>
        </p:txBody>
      </p:sp>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3" name="Picture 2" descr="A group of people standing in front of a bar graph&#10;&#10;AI-generated content may be incorrect.">
            <a:extLst>
              <a:ext uri="{FF2B5EF4-FFF2-40B4-BE49-F238E27FC236}">
                <a16:creationId xmlns:a16="http://schemas.microsoft.com/office/drawing/2014/main" id="{092DC330-3E2D-6C56-88EC-3AFD5575C6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43359" y="827825"/>
            <a:ext cx="8670582" cy="5202349"/>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7" name="Picture 6" descr="A group of people standing in front of a bar graph&#10;&#10;AI-generated content may be incorrect.">
            <a:extLst>
              <a:ext uri="{FF2B5EF4-FFF2-40B4-BE49-F238E27FC236}">
                <a16:creationId xmlns:a16="http://schemas.microsoft.com/office/drawing/2014/main" id="{9D2D5789-A305-8B37-BFDE-503995BD4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2" name="Picture 1" descr="A group of people standing in front of a bar graph&#10;&#10;AI-generated content may be incorrect.">
            <a:extLst>
              <a:ext uri="{FF2B5EF4-FFF2-40B4-BE49-F238E27FC236}">
                <a16:creationId xmlns:a16="http://schemas.microsoft.com/office/drawing/2014/main" id="{FAD96983-01C6-599E-ED66-8842DE64E0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31" name="Picture 30" descr="A diagram of a pie chart&#10;&#10;AI-generated content may be incorrect.">
            <a:extLst>
              <a:ext uri="{FF2B5EF4-FFF2-40B4-BE49-F238E27FC236}">
                <a16:creationId xmlns:a16="http://schemas.microsoft.com/office/drawing/2014/main" id="{4AFFCD63-F08B-0625-0297-348F97B888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11" name="Picture 10" descr="A diagram of a pie chart&#10;&#10;AI-generated content may be incorrect.">
            <a:extLst>
              <a:ext uri="{FF2B5EF4-FFF2-40B4-BE49-F238E27FC236}">
                <a16:creationId xmlns:a16="http://schemas.microsoft.com/office/drawing/2014/main" id="{1230187C-AFC4-8FDC-6151-420C2E1B3C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11" name="Picture 10" descr="A graph with numbers and lines&#10;&#10;AI-generated content may be incorrect.">
            <a:extLst>
              <a:ext uri="{FF2B5EF4-FFF2-40B4-BE49-F238E27FC236}">
                <a16:creationId xmlns:a16="http://schemas.microsoft.com/office/drawing/2014/main" id="{0D868788-0A1C-BDB0-CE7C-971943171B4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8"/>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pic>
        <p:nvPicPr>
          <p:cNvPr id="13" name="Picture 12" descr="A graph with a line graph&#10;&#10;AI-generated content may be incorrect.">
            <a:extLst>
              <a:ext uri="{FF2B5EF4-FFF2-40B4-BE49-F238E27FC236}">
                <a16:creationId xmlns:a16="http://schemas.microsoft.com/office/drawing/2014/main" id="{9F6987BD-145A-1B10-AC5B-08F986966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9" y="1181095"/>
            <a:ext cx="9144019" cy="5486411"/>
          </a:xfrm>
          <a:prstGeom prst="rect">
            <a:avLst/>
          </a:prstGeom>
        </p:spPr>
      </p:pic>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41108892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89635274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b="1" dirty="0">
                <a:solidFill>
                  <a:schemeClr val="bg1"/>
                </a:solidFill>
                <a:highlight>
                  <a:srgbClr val="5B9BD5"/>
                </a:highlight>
              </a:rPr>
              <a:t>BLUE</a:t>
            </a:r>
            <a:r>
              <a:rPr lang="en-US" sz="1200" dirty="0"/>
              <a:t> bars represent the percentage of cases where a Justice joined a majority coalition consisting of all the Democratic appointees. Alternatively, the </a:t>
            </a:r>
            <a:r>
              <a:rPr lang="en-US" sz="1200" b="1" dirty="0">
                <a:solidFill>
                  <a:schemeClr val="bg1"/>
                </a:solidFill>
                <a:highlight>
                  <a:srgbClr val="800000"/>
                </a:highlight>
              </a:rPr>
              <a:t>RED</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11" name="Picture 10" descr="A group of people in suits&#10;&#10;AI-generated content may be incorrect.">
            <a:extLst>
              <a:ext uri="{FF2B5EF4-FFF2-40B4-BE49-F238E27FC236}">
                <a16:creationId xmlns:a16="http://schemas.microsoft.com/office/drawing/2014/main" id="{BBB57C09-C5BA-C284-731E-5BCECBA719C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6807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pic>
        <p:nvPicPr>
          <p:cNvPr id="34" name="Picture 33" descr="A group of people in suits&#10;&#10;AI-generated content may be incorrect.">
            <a:extLst>
              <a:ext uri="{FF2B5EF4-FFF2-40B4-BE49-F238E27FC236}">
                <a16:creationId xmlns:a16="http://schemas.microsoft.com/office/drawing/2014/main" id="{57B288CA-583C-26A6-15F5-971F88B1C7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4752" y="961858"/>
            <a:ext cx="7075371" cy="5896143"/>
          </a:xfrm>
          <a:prstGeom prst="rect">
            <a:avLst/>
          </a:prstGeom>
        </p:spPr>
      </p:pic>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11001373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25</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20" name="Picture 19" descr="A group of people in suits&#10;&#10;AI-generated content may be incorrect.">
            <a:extLst>
              <a:ext uri="{FF2B5EF4-FFF2-40B4-BE49-F238E27FC236}">
                <a16:creationId xmlns:a16="http://schemas.microsoft.com/office/drawing/2014/main" id="{FCA2BC4F-CA7F-0350-27AA-8627DF8D9F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866274"/>
            <a:ext cx="7190070" cy="599172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19414</TotalTime>
  <Words>4457</Words>
  <Application>Microsoft Office PowerPoint</Application>
  <PresentationFormat>Widescreen</PresentationFormat>
  <Paragraphs>1186</Paragraphs>
  <Slides>29</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16,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245</cp:revision>
  <cp:lastPrinted>2019-06-28T21:02:00Z</cp:lastPrinted>
  <dcterms:created xsi:type="dcterms:W3CDTF">2019-02-07T19:44:00Z</dcterms:created>
  <dcterms:modified xsi:type="dcterms:W3CDTF">2025-05-16T17:03:34Z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