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omments/comment2.xml" ContentType="application/vnd.openxmlformats-officedocument.presentationml.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324" r:id="rId25"/>
    <p:sldId id="398" r:id="rId26"/>
    <p:sldId id="399" r:id="rId27"/>
    <p:sldId id="400" r:id="rId28"/>
    <p:sldId id="401"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0F9147"/>
    <a:srgbClr val="FDD532"/>
    <a:srgbClr val="4F4789"/>
    <a:srgbClr val="0469A9"/>
    <a:srgbClr val="4FEDED"/>
    <a:srgbClr val="A90404"/>
    <a:srgbClr val="5B9BD5"/>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11" d="100"/>
          <a:sy n="111" d="100"/>
        </p:scale>
        <p:origin x="558" y="96"/>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3" dt="2021-06-22T17:11:09.111" idx="92">
    <p:pos x="10" y="10"/>
    <p:text>Majority opinion author: Column AO
Vote: Column BH
Days between arg and opinion: Column AM
Judgment: Column BP
Court below: Column G
If you want to find exact argument order (again, not a priority): https://www.supremecourt.gov/oral_arguments/calendarsandlists.aspx</p:text>
    <p:extLst>
      <p:ext uri="{C676402C-5697-4E1C-873F-D02D1690AC5C}">
        <p15:threadingInfo xmlns:p15="http://schemas.microsoft.com/office/powerpoint/2012/main" timeZoneBias="24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3" dt="2021-06-22T17:25:40.094" idx="91">
    <p:pos x="10" y="10"/>
    <p:text>Put in order of "R" number, column AG - it's more or less date decided but w/a technicality.
Case name: column D
Decided: column AH
Vote: column BH
Author: column AO
Majority: For 9-0/8-0/8-1/7-1 cases, use vote (column AH) and if needed a quick glance at who wrote the dissenting opinion (column AT). For all other cases, use columns CA-CI.
If a justice is recused, you'll notice it by a blank cell in columns CA-CI.</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comments" Target="../comments/comment2.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14,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1703814600"/>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3</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4</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5</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6-7</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r>
                        <a:rPr lang="en-US" sz="1400" dirty="0">
                          <a:latin typeface="MULISH REGULAR ROMAN" pitchFamily="2" charset="77"/>
                        </a:rPr>
                        <a:t>8</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9</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r>
                        <a:rPr lang="en-US" sz="1400" dirty="0">
                          <a:latin typeface="MULISH REGULAR ROMAN" pitchFamily="2" charset="77"/>
                        </a:rPr>
                        <a:t>10-11</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12</a:t>
                      </a: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13-15</a:t>
                      </a: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16</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17-18</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19-20</a:t>
                      </a: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21</a:t>
                      </a: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r>
                        <a:rPr lang="en-US" sz="1400" dirty="0">
                          <a:latin typeface="MULISH REGULAR ROMAN" pitchFamily="2" charset="77"/>
                        </a:rPr>
                        <a:t>22-24</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25-28</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2608319132"/>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209379160"/>
              </p:ext>
            </p:extLst>
          </p:nvPr>
        </p:nvGraphicFramePr>
        <p:xfrm>
          <a:off x="344808" y="918414"/>
          <a:ext cx="11135992" cy="5212080"/>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74320">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74320">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74320">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74320">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74320">
                <a:tc>
                  <a:txBody>
                    <a:bodyPr/>
                    <a:lstStyle/>
                    <a:p>
                      <a:pPr marL="0" lvl="0" algn="ctr">
                        <a:spcBef>
                          <a:spcPts val="0"/>
                        </a:spcBef>
                        <a:spcAft>
                          <a:spcPts val="0"/>
                        </a:spcAft>
                        <a:buNone/>
                      </a:pPr>
                      <a:r>
                        <a:rPr lang="en-US" sz="1100" b="0" kern="1200" dirty="0">
                          <a:latin typeface="MULISH REGULAR ROMAN"/>
                        </a:rPr>
                        <a:t>Armed Forces</a:t>
                      </a:r>
                    </a:p>
                  </a:txBody>
                  <a:tcPr marL="0" marR="0" marT="0" marB="0" anchor="ctr"/>
                </a:tc>
                <a:tc>
                  <a:txBody>
                    <a:bodyPr/>
                    <a:lstStyle/>
                    <a:p>
                      <a:pPr marL="0" lvl="0" algn="ctr">
                        <a:spcBef>
                          <a:spcPts val="0"/>
                        </a:spcBef>
                        <a:spcAft>
                          <a:spcPts val="0"/>
                        </a:spcAft>
                        <a:buNone/>
                      </a:pPr>
                      <a:endParaRPr lang="en-US" sz="1100" kern="1200" dirty="0">
                        <a:latin typeface="MULISH REGULAR ROMAN"/>
                        <a:cs typeface="Century" panose="02040604050505020304" charset="0"/>
                      </a:endParaRPr>
                    </a:p>
                  </a:txBody>
                  <a:tcPr anchor="ctr"/>
                </a:tc>
                <a:tc>
                  <a:txBody>
                    <a:bodyPr/>
                    <a:lstStyle/>
                    <a:p>
                      <a:pPr marL="0" lvl="0" algn="ctr">
                        <a:spcBef>
                          <a:spcPts val="0"/>
                        </a:spcBef>
                        <a:spcAft>
                          <a:spcPts val="0"/>
                        </a:spcAft>
                        <a:buNone/>
                      </a:pPr>
                      <a:endParaRPr lang="en-US" sz="1100" dirty="0">
                        <a:latin typeface="MULISH REGULAR ROMAN"/>
                        <a:cs typeface="Century" panose="02040604050505020304" charset="0"/>
                      </a:endParaRPr>
                    </a:p>
                  </a:txBody>
                  <a:tcPr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tc>
                  <a:txBody>
                    <a:bodyPr/>
                    <a:lstStyle/>
                    <a:p>
                      <a:pPr marL="0" lvl="0" algn="ctr">
                        <a:spcBef>
                          <a:spcPts val="0"/>
                        </a:spcBef>
                        <a:spcAft>
                          <a:spcPts val="0"/>
                        </a:spcAft>
                        <a:buNone/>
                      </a:pPr>
                      <a:endParaRPr lang="en-US" sz="1100" dirty="0">
                        <a:effectLst/>
                        <a:latin typeface="MULISH REGULAR ROMAN"/>
                        <a:cs typeface="Century" panose="02040604050505020304" charset="0"/>
                      </a:endParaRPr>
                    </a:p>
                  </a:txBody>
                  <a:tcPr marL="0" marR="0" marT="0" marB="0" anchor="ctr"/>
                </a:tc>
                <a:extLst>
                  <a:ext uri="{0D108BD9-81ED-4DB2-BD59-A6C34878D82A}">
                    <a16:rowId xmlns:a16="http://schemas.microsoft.com/office/drawing/2014/main" val="10015"/>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74320">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74320">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74320">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lines and dots&#10;&#10;AI-generated content may be incorrect.">
            <a:extLst>
              <a:ext uri="{FF2B5EF4-FFF2-40B4-BE49-F238E27FC236}">
                <a16:creationId xmlns:a16="http://schemas.microsoft.com/office/drawing/2014/main" id="{E0CD3F0C-9BBC-8F23-9045-550FE38105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02295" y="808786"/>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24408275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104d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136d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102d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96.3d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158d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105d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173d</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86d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Days by Term</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10" name="Picture 9" descr="A graph of different colored bars&#10;&#10;AI-generated content may be incorrect.">
            <a:extLst>
              <a:ext uri="{FF2B5EF4-FFF2-40B4-BE49-F238E27FC236}">
                <a16:creationId xmlns:a16="http://schemas.microsoft.com/office/drawing/2014/main" id="{407B9E20-CC36-0C55-0365-97F82128192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74920" y="792955"/>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3461492712"/>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Alito</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Sotomayor</a:t>
                      </a: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Kagan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Gorsuch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Kavanaugh</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Barrett</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Jackson</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Waetzig</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Hungary</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Royal Canin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dirty="0" err="1">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dirty="0">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Wisconsin Bell</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SF v. EPA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dirty="0">
                          <a:solidFill>
                            <a:schemeClr val="tx1"/>
                          </a:solidFill>
                          <a:effectLst/>
                          <a:latin typeface="MULISH REGULAR ROMAN" pitchFamily="2" charset="77"/>
                        </a:rPr>
                        <a:t>Dissenting</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Trump v. J.G.G.</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Delligatti</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Williams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Miller</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Glossip</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Medical Marijuana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dirty="0">
                          <a:solidFill>
                            <a:schemeClr val="tx1"/>
                          </a:solidFill>
                          <a:effectLst/>
                          <a:latin typeface="MULISH REGULAR ROMAN" pitchFamily="2" charset="77"/>
                        </a:rPr>
                        <a:t>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7</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Feliciano</a:t>
                      </a: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dirty="0">
                          <a:solidFill>
                            <a:schemeClr val="tx1"/>
                          </a:solidFill>
                          <a:effectLst/>
                          <a:latin typeface="MULISH REGULAR ROMAN" pitchFamily="2" charset="77"/>
                        </a:rPr>
                        <a:t>Total</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11" name="Picture 10" descr="A chart with different colored squares&#10;&#10;AI-generated content may be incorrect.">
            <a:extLst>
              <a:ext uri="{FF2B5EF4-FFF2-40B4-BE49-F238E27FC236}">
                <a16:creationId xmlns:a16="http://schemas.microsoft.com/office/drawing/2014/main" id="{2C1E4675-C606-4C1D-5B62-4A1F5AAF88F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2375" y="800100"/>
            <a:ext cx="10515600" cy="5257800"/>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pic>
        <p:nvPicPr>
          <p:cNvPr id="3" name="Picture 2" descr="A graph of different types of numbers&#10;&#10;AI-generated content may be incorrect.">
            <a:extLst>
              <a:ext uri="{FF2B5EF4-FFF2-40B4-BE49-F238E27FC236}">
                <a16:creationId xmlns:a16="http://schemas.microsoft.com/office/drawing/2014/main" id="{4445419E-7590-6237-5E1A-E163EC8828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80075" y="143482"/>
            <a:ext cx="6270610" cy="3762366"/>
          </a:xfrm>
          <a:prstGeom prst="rect">
            <a:avLst/>
          </a:prstGeom>
        </p:spPr>
      </p:pic>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5,987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3,888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3,541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3,380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3,814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2,400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3,415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ctr"/>
                      <a:r>
                        <a:rPr lang="en-US" sz="1100" b="0" i="0" u="none" strike="noStrike" dirty="0">
                          <a:solidFill>
                            <a:srgbClr val="000000"/>
                          </a:solidFill>
                          <a:effectLst/>
                          <a:latin typeface="MULISH REGULAR ROMAN" pitchFamily="2" charset="77"/>
                        </a:rPr>
                        <a:t>3,328</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565405" y="1132113"/>
            <a:ext cx="3554951"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648974" y="1424501"/>
            <a:ext cx="1690777" cy="1200329"/>
          </a:xfrm>
          <a:prstGeom prst="rect">
            <a:avLst/>
          </a:prstGeom>
          <a:noFill/>
          <a:ln>
            <a:solidFill>
              <a:schemeClr val="tx1"/>
            </a:solidFill>
          </a:ln>
        </p:spPr>
        <p:txBody>
          <a:bodyPr wrap="square" rtlCol="0">
            <a:spAutoFit/>
          </a:bodyPr>
          <a:lstStyle/>
          <a:p>
            <a:r>
              <a:rPr lang="en-US" sz="1200" dirty="0">
                <a:latin typeface="MULISH REGULAR ROMAN"/>
              </a:rPr>
              <a:t>Figure shows the average length (in words) of opinions issued by the Court by type between the 2016 and 2024 terms. </a:t>
            </a:r>
          </a:p>
        </p:txBody>
      </p:sp>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12" name="Picture 11" descr="A brown and blue bar graph&#10;&#10;AI-generated content may be incorrect.">
            <a:extLst>
              <a:ext uri="{FF2B5EF4-FFF2-40B4-BE49-F238E27FC236}">
                <a16:creationId xmlns:a16="http://schemas.microsoft.com/office/drawing/2014/main" id="{0B7CB55B-B7C2-FDA0-DD82-80F63AA49DC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35893" y="822431"/>
            <a:ext cx="8688564" cy="5213138"/>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pic>
        <p:nvPicPr>
          <p:cNvPr id="9" name="Picture 8" descr="A graph with a bar of brown and blue bars&#10;&#10;AI-generated content may be incorrect.">
            <a:extLst>
              <a:ext uri="{FF2B5EF4-FFF2-40B4-BE49-F238E27FC236}">
                <a16:creationId xmlns:a16="http://schemas.microsoft.com/office/drawing/2014/main" id="{F51318E8-F559-A4AD-FA5E-9D1035699B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7" y="822430"/>
            <a:ext cx="8688566" cy="5213139"/>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15" name="Picture 14" descr="A graph with numbers and a bar&#10;&#10;AI-generated content may be incorrect.">
            <a:extLst>
              <a:ext uri="{FF2B5EF4-FFF2-40B4-BE49-F238E27FC236}">
                <a16:creationId xmlns:a16="http://schemas.microsoft.com/office/drawing/2014/main" id="{41EED993-2F94-7817-FBF8-7FB945406C3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4368" y="822431"/>
            <a:ext cx="8688564" cy="5213138"/>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024486521"/>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kern="1200" dirty="0">
                        <a:solidFill>
                          <a:schemeClr val="tx1"/>
                        </a:solidFill>
                        <a:effectLst/>
                        <a:latin typeface="MULISH REGULAR ROMAN" pitchFamily="2" charset="77"/>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0" dirty="0">
                        <a:solidFill>
                          <a:schemeClr val="tx1"/>
                        </a:solidFill>
                        <a:effectLst/>
                        <a:latin typeface="MULISH REGULAR ROMAN" pitchFamily="2" charset="77"/>
                      </a:endParaRP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337243966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27" name="Picture 26" descr="A diagram of a pie chart&#10;&#10;AI-generated content may be incorrect.">
            <a:extLst>
              <a:ext uri="{FF2B5EF4-FFF2-40B4-BE49-F238E27FC236}">
                <a16:creationId xmlns:a16="http://schemas.microsoft.com/office/drawing/2014/main" id="{BCD322BE-FA2C-71CE-A5FF-046F5BBB3C2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9" name="Picture 8" descr="A diagram of a pie chart&#10;&#10;AI-generated content may be incorrect.">
            <a:extLst>
              <a:ext uri="{FF2B5EF4-FFF2-40B4-BE49-F238E27FC236}">
                <a16:creationId xmlns:a16="http://schemas.microsoft.com/office/drawing/2014/main" id="{625CC5D8-FE62-097A-6B78-448A284788A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4701396" y="313035"/>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pic>
        <p:nvPicPr>
          <p:cNvPr id="7" name="Picture 6" descr="A graph with numbers and lines&#10;&#10;AI-generated content may be incorrect.">
            <a:extLst>
              <a:ext uri="{FF2B5EF4-FFF2-40B4-BE49-F238E27FC236}">
                <a16:creationId xmlns:a16="http://schemas.microsoft.com/office/drawing/2014/main" id="{D3DE9CA5-7AAD-B5F9-A955-55249E99BA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6301"/>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4701396" y="198408"/>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pic>
        <p:nvPicPr>
          <p:cNvPr id="10" name="Picture 9" descr="A graph with a line graph&#10;&#10;AI-generated content may be incorrect.">
            <a:extLst>
              <a:ext uri="{FF2B5EF4-FFF2-40B4-BE49-F238E27FC236}">
                <a16:creationId xmlns:a16="http://schemas.microsoft.com/office/drawing/2014/main" id="{614DDC44-91A8-853B-835A-E987932ADFE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031674"/>
            <a:ext cx="9144019" cy="5486411"/>
          </a:xfrm>
          <a:prstGeom prst="rect">
            <a:avLst/>
          </a:prstGeom>
        </p:spPr>
      </p:pic>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422360" y="128592"/>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pic>
        <p:nvPicPr>
          <p:cNvPr id="8" name="Picture 7" descr="A graph of different sizes and colors&#10;&#10;AI-generated content may be incorrect.">
            <a:extLst>
              <a:ext uri="{FF2B5EF4-FFF2-40B4-BE49-F238E27FC236}">
                <a16:creationId xmlns:a16="http://schemas.microsoft.com/office/drawing/2014/main" id="{B96DEB8B-748C-96E8-88F0-E8827FA89F8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61222" y="1070366"/>
            <a:ext cx="8669555" cy="5779703"/>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41108892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DOE v. CA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Andrew</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3299391135"/>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6</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D44D38DE-EF84-FFB1-D9C0-1DA8AA60C9FD}"/>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32" name="Picture 31" descr="A group of people in suits&#10;&#10;AI-generated content may be incorrect.">
            <a:extLst>
              <a:ext uri="{FF2B5EF4-FFF2-40B4-BE49-F238E27FC236}">
                <a16:creationId xmlns:a16="http://schemas.microsoft.com/office/drawing/2014/main" id="{570932A4-868B-543B-AEB1-760A221049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5012" y="940903"/>
            <a:ext cx="7075370" cy="5896142"/>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24</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18" name="Picture 17" descr="A group of people in suits&#10;&#10;AI-generated content may be incorrect.">
            <a:extLst>
              <a:ext uri="{FF2B5EF4-FFF2-40B4-BE49-F238E27FC236}">
                <a16:creationId xmlns:a16="http://schemas.microsoft.com/office/drawing/2014/main" id="{95D0DF2C-7BEA-3290-93FC-1C04C74869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3172" y="866274"/>
            <a:ext cx="7190070" cy="599172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45454191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BLACK ROMAN"/>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BLACK ROMAN"/>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2901576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18306</TotalTime>
  <Words>4297</Words>
  <Application>Microsoft Office PowerPoint</Application>
  <PresentationFormat>Widescreen</PresentationFormat>
  <Paragraphs>1102</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14,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232</cp:revision>
  <cp:lastPrinted>2019-06-28T21:02:00Z</cp:lastPrinted>
  <dcterms:created xsi:type="dcterms:W3CDTF">2019-02-07T19:44:00Z</dcterms:created>
  <dcterms:modified xsi:type="dcterms:W3CDTF">2025-05-14T20:43:43Z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