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handoutMasterIdLst>
    <p:handoutMasterId r:id="rId32"/>
  </p:handoutMasterIdLst>
  <p:sldIdLst>
    <p:sldId id="392" r:id="rId2"/>
    <p:sldId id="269" r:id="rId3"/>
    <p:sldId id="393" r:id="rId4"/>
    <p:sldId id="391" r:id="rId5"/>
    <p:sldId id="345" r:id="rId6"/>
    <p:sldId id="411" r:id="rId7"/>
    <p:sldId id="404" r:id="rId8"/>
    <p:sldId id="395" r:id="rId9"/>
    <p:sldId id="407" r:id="rId10"/>
    <p:sldId id="396" r:id="rId11"/>
    <p:sldId id="350" r:id="rId12"/>
    <p:sldId id="413" r:id="rId13"/>
    <p:sldId id="324" r:id="rId14"/>
    <p:sldId id="383" r:id="rId15"/>
    <p:sldId id="340" r:id="rId16"/>
    <p:sldId id="406" r:id="rId17"/>
    <p:sldId id="410" r:id="rId18"/>
    <p:sldId id="409" r:id="rId19"/>
    <p:sldId id="381" r:id="rId20"/>
    <p:sldId id="390" r:id="rId21"/>
    <p:sldId id="299" r:id="rId22"/>
    <p:sldId id="414" r:id="rId23"/>
    <p:sldId id="343" r:id="rId24"/>
    <p:sldId id="412" r:id="rId25"/>
    <p:sldId id="398" r:id="rId26"/>
    <p:sldId id="399" r:id="rId27"/>
    <p:sldId id="400" r:id="rId28"/>
    <p:sldId id="401" r:id="rId29"/>
    <p:sldId id="402" r:id="rId30"/>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391"/>
            <p14:sldId id="345"/>
            <p14:sldId id="411"/>
            <p14:sldId id="404"/>
            <p14:sldId id="395"/>
            <p14:sldId id="407"/>
            <p14:sldId id="396"/>
            <p14:sldId id="350"/>
            <p14:sldId id="413"/>
            <p14:sldId id="324"/>
            <p14:sldId id="383"/>
            <p14:sldId id="340"/>
            <p14:sldId id="406"/>
            <p14:sldId id="410"/>
            <p14:sldId id="409"/>
            <p14:sldId id="381"/>
            <p14:sldId id="390"/>
            <p14:sldId id="299"/>
            <p14:sldId id="414"/>
            <p14:sldId id="343"/>
            <p14:sldId id="412"/>
            <p14:sldId id="398"/>
            <p14:sldId id="399"/>
            <p14:sldId id="400"/>
            <p14:sldId id="401"/>
            <p14:sldId id="402"/>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5B9BD5"/>
    <a:srgbClr val="4E478A"/>
    <a:srgbClr val="0F9147"/>
    <a:srgbClr val="FDD532"/>
    <a:srgbClr val="4F4789"/>
    <a:srgbClr val="0469A9"/>
    <a:srgbClr val="4FEDED"/>
    <a:srgbClr val="A90404"/>
    <a:srgbClr val="D2DEE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561" autoAdjust="0"/>
    <p:restoredTop sz="93220" autoAdjust="0"/>
  </p:normalViewPr>
  <p:slideViewPr>
    <p:cSldViewPr snapToGrid="0">
      <p:cViewPr varScale="1">
        <p:scale>
          <a:sx n="107" d="100"/>
          <a:sy n="107" d="100"/>
        </p:scale>
        <p:origin x="984" y="84"/>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commentAuthors" Target="commentAuthors.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1EF90E4-B67E-E6C2-821C-2B3D99B6443C}"/>
              </a:ext>
            </a:extLst>
          </p:cNvPr>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E41E648-44D8-05EC-AB50-428752A74AEB}"/>
              </a:ext>
            </a:extLst>
          </p:cNvPr>
          <p:cNvSpPr>
            <a:spLocks noGrp="1"/>
          </p:cNvSpPr>
          <p:nvPr>
            <p:ph type="dt" sz="quarter" idx="1"/>
          </p:nvPr>
        </p:nvSpPr>
        <p:spPr>
          <a:xfrm>
            <a:off x="3970338" y="0"/>
            <a:ext cx="3038475" cy="466725"/>
          </a:xfrm>
          <a:prstGeom prst="rect">
            <a:avLst/>
          </a:prstGeom>
        </p:spPr>
        <p:txBody>
          <a:bodyPr vert="horz" lIns="91440" tIns="45720" rIns="91440" bIns="45720" rtlCol="0"/>
          <a:lstStyle>
            <a:lvl1pPr algn="r">
              <a:defRPr sz="1200"/>
            </a:lvl1pPr>
          </a:lstStyle>
          <a:p>
            <a:fld id="{DA8C85FA-D031-4789-9D90-3CFE7A983AA3}" type="datetimeFigureOut">
              <a:rPr lang="en-US" smtClean="0"/>
              <a:t>6/16/2025</a:t>
            </a:fld>
            <a:endParaRPr lang="en-US"/>
          </a:p>
        </p:txBody>
      </p:sp>
      <p:sp>
        <p:nvSpPr>
          <p:cNvPr id="4" name="Footer Placeholder 3">
            <a:extLst>
              <a:ext uri="{FF2B5EF4-FFF2-40B4-BE49-F238E27FC236}">
                <a16:creationId xmlns:a16="http://schemas.microsoft.com/office/drawing/2014/main" id="{4376C22F-18ED-21D2-EF37-AC43B323D82C}"/>
              </a:ext>
            </a:extLst>
          </p:cNvPr>
          <p:cNvSpPr>
            <a:spLocks noGrp="1"/>
          </p:cNvSpPr>
          <p:nvPr>
            <p:ph type="ftr" sz="quarter" idx="2"/>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738A1A9-CBA2-3F1F-6C88-4C113933CA42}"/>
              </a:ext>
            </a:extLst>
          </p:cNvPr>
          <p:cNvSpPr>
            <a:spLocks noGrp="1"/>
          </p:cNvSpPr>
          <p:nvPr>
            <p:ph type="sldNum" sz="quarter" idx="3"/>
          </p:nvPr>
        </p:nvSpPr>
        <p:spPr>
          <a:xfrm>
            <a:off x="3970338" y="8829675"/>
            <a:ext cx="3038475" cy="466725"/>
          </a:xfrm>
          <a:prstGeom prst="rect">
            <a:avLst/>
          </a:prstGeom>
        </p:spPr>
        <p:txBody>
          <a:bodyPr vert="horz" lIns="91440" tIns="45720" rIns="91440" bIns="45720" rtlCol="0" anchor="b"/>
          <a:lstStyle>
            <a:lvl1pPr algn="r">
              <a:defRPr sz="1200"/>
            </a:lvl1pPr>
          </a:lstStyle>
          <a:p>
            <a:fld id="{2F67EE93-2B30-4C28-813D-32068B5E3532}" type="slidenum">
              <a:rPr lang="en-US" smtClean="0"/>
              <a:t>‹#›</a:t>
            </a:fld>
            <a:endParaRPr lang="en-US"/>
          </a:p>
        </p:txBody>
      </p:sp>
    </p:spTree>
    <p:extLst>
      <p:ext uri="{BB962C8B-B14F-4D97-AF65-F5344CB8AC3E}">
        <p14:creationId xmlns:p14="http://schemas.microsoft.com/office/powerpoint/2010/main" val="3411984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6/16/2025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dirty="0"/>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dirty="0"/>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4</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8</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5E1B-EC2E-15F7-D0C5-521782784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4C9298-400C-EB0E-07F9-DFADCF20B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A2E9C-A622-8E88-EC27-F54978D489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83E0E0-2341-3B2A-A4EE-9AA9E493B6F0}"/>
              </a:ext>
            </a:extLst>
          </p:cNvPr>
          <p:cNvSpPr>
            <a:spLocks noGrp="1"/>
          </p:cNvSpPr>
          <p:nvPr>
            <p:ph type="sldNum" sz="quarter" idx="5"/>
          </p:nvPr>
        </p:nvSpPr>
        <p:spPr/>
        <p:txBody>
          <a:bodyPr/>
          <a:lstStyle/>
          <a:p>
            <a:fld id="{B834DF19-3E08-411A-A452-BC015BCC027A}" type="slidenum">
              <a:rPr lang="en-US" smtClean="0"/>
              <a:t>18</a:t>
            </a:fld>
            <a:endParaRPr lang="en-US"/>
          </a:p>
        </p:txBody>
      </p:sp>
    </p:spTree>
    <p:extLst>
      <p:ext uri="{BB962C8B-B14F-4D97-AF65-F5344CB8AC3E}">
        <p14:creationId xmlns:p14="http://schemas.microsoft.com/office/powerpoint/2010/main" val="19362297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21</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E230C-F700-77BC-D082-A7CA0D03CA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AF769-429F-196E-1CD6-C9DD1CE367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354690-196E-4BFA-8EEF-9D556E88265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7C1058-6CC5-5D4E-1AE7-0441E63EF21C}"/>
              </a:ext>
            </a:extLst>
          </p:cNvPr>
          <p:cNvSpPr>
            <a:spLocks noGrp="1"/>
          </p:cNvSpPr>
          <p:nvPr>
            <p:ph type="sldNum" sz="quarter" idx="5"/>
          </p:nvPr>
        </p:nvSpPr>
        <p:spPr/>
        <p:txBody>
          <a:bodyPr/>
          <a:lstStyle/>
          <a:p>
            <a:fld id="{B834DF19-3E08-411A-A452-BC015BCC027A}" type="slidenum">
              <a:rPr lang="en-US" smtClean="0"/>
              <a:t>22</a:t>
            </a:fld>
            <a:endParaRPr lang="en-US"/>
          </a:p>
        </p:txBody>
      </p:sp>
    </p:spTree>
    <p:extLst>
      <p:ext uri="{BB962C8B-B14F-4D97-AF65-F5344CB8AC3E}">
        <p14:creationId xmlns:p14="http://schemas.microsoft.com/office/powerpoint/2010/main" val="2463384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23</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25</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28</a:t>
            </a:fld>
            <a:endParaRPr lang="en-US"/>
          </a:p>
        </p:txBody>
      </p:sp>
    </p:spTree>
    <p:extLst>
      <p:ext uri="{BB962C8B-B14F-4D97-AF65-F5344CB8AC3E}">
        <p14:creationId xmlns:p14="http://schemas.microsoft.com/office/powerpoint/2010/main" val="2270274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E886F95D-63DC-4E27-B831-3510D96A4B12}" type="datetime1">
              <a:rPr lang="en-US" smtClean="0"/>
              <a:t>6/16/2025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B8BF109-4488-4097-8E73-8D9D00B8E452}" type="datetime1">
              <a:rPr lang="en-US" smtClean="0"/>
              <a:t>6/16/2025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9A0D5094-4A69-422F-A552-62E8ADDE57BE}" type="datetime1">
              <a:rPr lang="en-US" smtClean="0"/>
              <a:t>6/16/2025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3BC27A5-B7A4-4AC1-BD00-5E02EB72BBDF}" type="datetime1">
              <a:rPr lang="en-US" smtClean="0"/>
              <a:t>6/16/2025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1F909A7-1576-4363-864A-4A34D8853C5A}" type="datetime1">
              <a:rPr lang="en-US" smtClean="0"/>
              <a:t>6/16/2025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7EB5BDB-F390-41FC-9784-93F0006E4016}" type="datetime1">
              <a:rPr lang="en-US" smtClean="0"/>
              <a:t>6/16/2025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1C60ECA-B0A9-4A16-92BC-607A4684D36B}" type="datetime1">
              <a:rPr lang="en-US" smtClean="0"/>
              <a:t>6/16/2025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5C07315-6A86-46E6-985F-F76E3FE085BD}" type="datetime1">
              <a:rPr lang="en-US" smtClean="0"/>
              <a:t>6/16/2025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9BE60E6-B3BB-411D-8F93-71BCDF2CB629}" type="datetime1">
              <a:rPr lang="en-US" smtClean="0"/>
              <a:t>6/16/2025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00BF8D-729E-4B4F-84E3-41D9C126857F}" type="datetime1">
              <a:rPr lang="en-US" smtClean="0"/>
              <a:t>6/16/2025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51EA33-5068-4368-A67C-916AAF54768D}" type="datetime1">
              <a:rPr lang="en-US" smtClean="0"/>
              <a:t>6/16/2025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17BDBF-2554-4278-9618-598D3C183D26}" type="datetime1">
              <a:rPr lang="en-US" smtClean="0"/>
              <a:t>6/16/2025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mqscores.wustl.edu/"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6.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dirty="0">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June 16, 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2" name="Table 1">
            <a:extLst>
              <a:ext uri="{FF2B5EF4-FFF2-40B4-BE49-F238E27FC236}">
                <a16:creationId xmlns:a16="http://schemas.microsoft.com/office/drawing/2014/main" id="{508DBF86-3555-2565-BA4A-AA93FAFF274F}"/>
              </a:ext>
            </a:extLst>
          </p:cNvPr>
          <p:cNvGraphicFramePr>
            <a:graphicFrameLocks noGrp="1"/>
          </p:cNvGraphicFramePr>
          <p:nvPr>
            <p:extLst>
              <p:ext uri="{D42A27DB-BD31-4B8C-83A1-F6EECF244321}">
                <p14:modId xmlns:p14="http://schemas.microsoft.com/office/powerpoint/2010/main" val="3178210718"/>
              </p:ext>
            </p:extLst>
          </p:nvPr>
        </p:nvGraphicFramePr>
        <p:xfrm>
          <a:off x="304800" y="923675"/>
          <a:ext cx="11582400" cy="5569200"/>
        </p:xfrm>
        <a:graphic>
          <a:graphicData uri="http://schemas.openxmlformats.org/drawingml/2006/table">
            <a:tbl>
              <a:tblPr firstRow="1" bandRow="1">
                <a:tableStyleId>{7DF18680-E054-41AD-8BC1-D1AEF772440D}</a:tableStyleId>
              </a:tblPr>
              <a:tblGrid>
                <a:gridCol w="10538604">
                  <a:extLst>
                    <a:ext uri="{9D8B030D-6E8A-4147-A177-3AD203B41FA5}">
                      <a16:colId xmlns:a16="http://schemas.microsoft.com/office/drawing/2014/main" val="100073054"/>
                    </a:ext>
                  </a:extLst>
                </a:gridCol>
                <a:gridCol w="1043796">
                  <a:extLst>
                    <a:ext uri="{9D8B030D-6E8A-4147-A177-3AD203B41FA5}">
                      <a16:colId xmlns:a16="http://schemas.microsoft.com/office/drawing/2014/main" val="136331299"/>
                    </a:ext>
                  </a:extLst>
                </a:gridCol>
              </a:tblGrid>
              <a:tr h="327600">
                <a:tc>
                  <a:txBody>
                    <a:bodyPr/>
                    <a:lstStyle/>
                    <a:p>
                      <a:pPr algn="l">
                        <a:tabLst>
                          <a:tab pos="10058400" algn="l"/>
                          <a:tab pos="16459200" algn="l"/>
                        </a:tabLst>
                      </a:pPr>
                      <a:r>
                        <a:rPr lang="en-US" sz="1400" b="0" dirty="0">
                          <a:solidFill>
                            <a:schemeClr val="tx1"/>
                          </a:solidFill>
                          <a:latin typeface="MULISH BLACK ROMAN"/>
                        </a:rPr>
                        <a:t>Introduction ……………………………………………………………………………………………………………………………………………………………………………………………………………</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88527602"/>
                  </a:ext>
                </a:extLst>
              </a:tr>
              <a:tr h="327600">
                <a:tc>
                  <a:txBody>
                    <a:bodyPr/>
                    <a:lstStyle/>
                    <a:p>
                      <a:r>
                        <a:rPr lang="en-US" sz="1400" dirty="0">
                          <a:latin typeface="MULISH BLACK ROMAN"/>
                        </a:rPr>
                        <a:t>Opinions Over Time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48292251"/>
                  </a:ext>
                </a:extLst>
              </a:tr>
              <a:tr h="327600">
                <a:tc>
                  <a:txBody>
                    <a:bodyPr/>
                    <a:lstStyle/>
                    <a:p>
                      <a:r>
                        <a:rPr lang="en-US" sz="1400" dirty="0">
                          <a:latin typeface="MULISH BLACK ROMAN"/>
                        </a:rPr>
                        <a:t>Makeup of the Merits Docket</a:t>
                      </a:r>
                      <a:r>
                        <a:rPr lang="en-US" sz="1400" b="0" dirty="0">
                          <a:solidFill>
                            <a:schemeClr val="tx1"/>
                          </a:solidFill>
                          <a:latin typeface="MULISH BLACK ROMAN"/>
                        </a:rPr>
                        <a:t> …………………………………………………………………………………………………………………………………………………………………………………</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06051254"/>
                  </a:ext>
                </a:extLst>
              </a:tr>
              <a:tr h="327600">
                <a:tc>
                  <a:txBody>
                    <a:bodyPr/>
                    <a:lstStyle/>
                    <a:p>
                      <a:r>
                        <a:rPr lang="en-US" sz="1400" dirty="0">
                          <a:latin typeface="MULISH BLACK ROMAN"/>
                        </a:rPr>
                        <a:t>Unanimity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95465042"/>
                  </a:ext>
                </a:extLst>
              </a:tr>
              <a:tr h="327600">
                <a:tc>
                  <a:txBody>
                    <a:bodyPr/>
                    <a:lstStyle/>
                    <a:p>
                      <a:r>
                        <a:rPr lang="en-US" sz="1400" dirty="0">
                          <a:latin typeface="MULISH BLACK ROMAN"/>
                        </a:rPr>
                        <a:t>Frequency in the Majority (All Cases, Non-Unanimous Cases, and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18595700"/>
                  </a:ext>
                </a:extLst>
              </a:tr>
              <a:tr h="327600">
                <a:tc>
                  <a:txBody>
                    <a:bodyPr/>
                    <a:lstStyle/>
                    <a:p>
                      <a:r>
                        <a:rPr lang="en-US" sz="1400" dirty="0">
                          <a:latin typeface="MULISH BLACK ROMAN"/>
                        </a:rPr>
                        <a:t>Breaking Ranks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01254701"/>
                  </a:ext>
                </a:extLst>
              </a:tr>
              <a:tr h="327600">
                <a:tc>
                  <a:txBody>
                    <a:bodyPr/>
                    <a:lstStyle/>
                    <a:p>
                      <a:r>
                        <a:rPr lang="en-US" sz="1400" dirty="0">
                          <a:latin typeface="MULISH BLACK ROMAN"/>
                        </a:rPr>
                        <a:t>Justice Agreement (All Cases vs.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90923527"/>
                  </a:ext>
                </a:extLst>
              </a:tr>
              <a:tr h="327600">
                <a:tc>
                  <a:txBody>
                    <a:bodyPr/>
                    <a:lstStyle/>
                    <a:p>
                      <a:r>
                        <a:rPr lang="en-US" sz="1400" dirty="0">
                          <a:latin typeface="MULISH BLACK ROMAN"/>
                        </a:rPr>
                        <a:t>Strength of the Majority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82956966"/>
                  </a:ext>
                </a:extLst>
              </a:tr>
              <a:tr h="327600">
                <a:tc>
                  <a:txBody>
                    <a:bodyPr/>
                    <a:lstStyle/>
                    <a:p>
                      <a:r>
                        <a:rPr lang="en-US" sz="1400" dirty="0">
                          <a:latin typeface="MULISH BLACK ROMAN"/>
                        </a:rPr>
                        <a:t>Merits Decisions by Vote Split (All Cases vs. Ideologically Split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512231"/>
                  </a:ext>
                </a:extLst>
              </a:tr>
              <a:tr h="327600">
                <a:tc>
                  <a:txBody>
                    <a:bodyPr/>
                    <a:lstStyle/>
                    <a:p>
                      <a:r>
                        <a:rPr lang="en-US" sz="1400" dirty="0">
                          <a:latin typeface="MULISH BLACK ROMAN"/>
                        </a:rPr>
                        <a:t>Judicial Review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31041859"/>
                  </a:ext>
                </a:extLst>
              </a:tr>
              <a:tr h="327600">
                <a:tc>
                  <a:txBody>
                    <a:bodyPr/>
                    <a:lstStyle/>
                    <a:p>
                      <a:r>
                        <a:rPr lang="en-US" sz="1400" dirty="0">
                          <a:latin typeface="MULISH BLACK ROMAN"/>
                        </a:rPr>
                        <a:t>Coalition Alignments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35613698"/>
                  </a:ext>
                </a:extLst>
              </a:tr>
              <a:tr h="327600">
                <a:tc>
                  <a:txBody>
                    <a:bodyPr/>
                    <a:lstStyle/>
                    <a:p>
                      <a:r>
                        <a:rPr lang="en-US" sz="1400" dirty="0">
                          <a:latin typeface="MULISH BLACK ROMAN"/>
                        </a:rPr>
                        <a:t>Circuits Scorecard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96407773"/>
                  </a:ext>
                </a:extLst>
              </a:tr>
              <a:tr h="327600">
                <a:tc>
                  <a:txBody>
                    <a:bodyPr/>
                    <a:lstStyle/>
                    <a:p>
                      <a:r>
                        <a:rPr lang="en-US" sz="1400" dirty="0">
                          <a:latin typeface="MULISH BLACK ROMAN"/>
                        </a:rPr>
                        <a:t>Days Between Oral Argument &amp; Opinion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25366490"/>
                  </a:ext>
                </a:extLst>
              </a:tr>
              <a:tr h="327600">
                <a:tc>
                  <a:txBody>
                    <a:bodyPr/>
                    <a:lstStyle/>
                    <a:p>
                      <a:r>
                        <a:rPr lang="en-US" sz="1400" dirty="0">
                          <a:latin typeface="MULISH BLACK ROMAN"/>
                        </a:rPr>
                        <a:t>Opinions Authored by Each Justice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65921072"/>
                  </a:ext>
                </a:extLst>
              </a:tr>
              <a:tr h="327600">
                <a:tc>
                  <a:txBody>
                    <a:bodyPr/>
                    <a:lstStyle/>
                    <a:p>
                      <a:r>
                        <a:rPr lang="en-US" sz="1400" dirty="0">
                          <a:latin typeface="MULISH BLACK ROMAN"/>
                        </a:rPr>
                        <a:t>Opinion Lengths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982043704"/>
                  </a:ext>
                </a:extLst>
              </a:tr>
              <a:tr h="327600">
                <a:tc>
                  <a:txBody>
                    <a:bodyPr/>
                    <a:lstStyle/>
                    <a:p>
                      <a:r>
                        <a:rPr lang="en-US" sz="1400" dirty="0">
                          <a:latin typeface="MULISH BLACK ROMAN"/>
                        </a:rPr>
                        <a:t>Voting Alignments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45405493"/>
                  </a:ext>
                </a:extLst>
              </a:tr>
              <a:tr h="327600">
                <a:tc>
                  <a:txBody>
                    <a:bodyPr/>
                    <a:lstStyle/>
                    <a:p>
                      <a:r>
                        <a:rPr lang="en-US" sz="1400" dirty="0">
                          <a:latin typeface="MULISH BLACK ROMAN"/>
                        </a:rPr>
                        <a:t>Term Index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36110453"/>
                  </a:ext>
                </a:extLst>
              </a:tr>
            </a:tbl>
          </a:graphicData>
        </a:graphic>
      </p:graphicFrame>
      <p:sp>
        <p:nvSpPr>
          <p:cNvPr id="5" name="Slide Number Placeholder 4">
            <a:extLst>
              <a:ext uri="{FF2B5EF4-FFF2-40B4-BE49-F238E27FC236}">
                <a16:creationId xmlns:a16="http://schemas.microsoft.com/office/drawing/2014/main" id="{AA2B13AD-EC33-76C2-6FAD-6C719135AEB8}"/>
              </a:ext>
            </a:extLst>
          </p:cNvPr>
          <p:cNvSpPr>
            <a:spLocks noGrp="1"/>
          </p:cNvSpPr>
          <p:nvPr>
            <p:ph type="sldNum" sz="quarter" idx="12"/>
          </p:nvPr>
        </p:nvSpPr>
        <p:spPr/>
        <p:txBody>
          <a:bodyPr/>
          <a:lstStyle/>
          <a:p>
            <a:fld id="{5E212BD6-99D2-4430-8307-3DFF6CB1AF68}"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3" name="Slide Number Placeholder 2">
            <a:extLst>
              <a:ext uri="{FF2B5EF4-FFF2-40B4-BE49-F238E27FC236}">
                <a16:creationId xmlns:a16="http://schemas.microsoft.com/office/drawing/2014/main" id="{58E513BC-D699-CF38-8694-42DA22BDA39E}"/>
              </a:ext>
            </a:extLst>
          </p:cNvPr>
          <p:cNvSpPr>
            <a:spLocks noGrp="1"/>
          </p:cNvSpPr>
          <p:nvPr>
            <p:ph type="sldNum" sz="quarter" idx="12"/>
          </p:nvPr>
        </p:nvSpPr>
        <p:spPr>
          <a:xfrm>
            <a:off x="9448800" y="6479925"/>
            <a:ext cx="2743200" cy="365125"/>
          </a:xfrm>
        </p:spPr>
        <p:txBody>
          <a:bodyPr/>
          <a:lstStyle/>
          <a:p>
            <a:pPr algn="ctr"/>
            <a:fld id="{5E212BD6-99D2-4430-8307-3DFF6CB1AF68}" type="slidenum">
              <a:rPr lang="en-US" smtClean="0"/>
              <a:pPr algn="ctr"/>
              <a:t>3</a:t>
            </a:fld>
            <a:endParaRPr lang="en-US"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1A7B839-BA29-E63C-04C6-7B8D71CF857E}"/>
              </a:ext>
            </a:extLst>
          </p:cNvPr>
          <p:cNvSpPr>
            <a:spLocks noGrp="1" noRot="1" noMove="1" noResize="1" noEditPoints="1" noAdjustHandles="1" noChangeArrowheads="1" noChangeShapeType="1"/>
          </p:cNvSpPr>
          <p:nvPr/>
        </p:nvSpPr>
        <p:spPr>
          <a:xfrm>
            <a:off x="1559095" y="896352"/>
            <a:ext cx="8442160" cy="5065296"/>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Opinions delivered </a:t>
            </a:r>
            <a:r>
              <a:rPr lang="en-US" sz="1200" i="1" dirty="0">
                <a:latin typeface="MULISH REGULAR ROMAN"/>
              </a:rPr>
              <a:t>Per Curiam</a:t>
            </a:r>
            <a:r>
              <a:rPr lang="en-US" sz="1200" dirty="0">
                <a:latin typeface="MULISH REGULAR ROMAN"/>
              </a:rPr>
              <a:t> are coded as a Majority Opinion.  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sp>
        <p:nvSpPr>
          <p:cNvPr id="6" name="Slide Number Placeholder 5">
            <a:extLst>
              <a:ext uri="{FF2B5EF4-FFF2-40B4-BE49-F238E27FC236}">
                <a16:creationId xmlns:a16="http://schemas.microsoft.com/office/drawing/2014/main" id="{1408F531-FFA9-F05D-5FA9-8DBB1C47A65F}"/>
              </a:ext>
            </a:extLst>
          </p:cNvPr>
          <p:cNvSpPr>
            <a:spLocks noGrp="1"/>
          </p:cNvSpPr>
          <p:nvPr>
            <p:ph type="sldNum" sz="quarter" idx="12"/>
          </p:nvPr>
        </p:nvSpPr>
        <p:spPr/>
        <p:txBody>
          <a:bodyPr/>
          <a:lstStyle/>
          <a:p>
            <a:fld id="{5E212BD6-99D2-4430-8307-3DFF6CB1AF68}" type="slidenum">
              <a:rPr lang="en-US" smtClean="0"/>
              <a:t>4</a:t>
            </a:fld>
            <a:endParaRPr lang="en-US"/>
          </a:p>
        </p:txBody>
      </p:sp>
      <p:pic>
        <p:nvPicPr>
          <p:cNvPr id="4" name="Picture 3" descr="A graph of different colored squares&#10;&#10;AI-generated content may be incorrect.">
            <a:extLst>
              <a:ext uri="{FF2B5EF4-FFF2-40B4-BE49-F238E27FC236}">
                <a16:creationId xmlns:a16="http://schemas.microsoft.com/office/drawing/2014/main" id="{4E7899A7-68A0-D670-4BDA-6AA911DE479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59096" y="896353"/>
            <a:ext cx="8442160" cy="5065296"/>
          </a:xfrm>
          <a:prstGeom prst="rect">
            <a:avLst/>
          </a:prstGeom>
        </p:spPr>
      </p:pic>
    </p:spTree>
    <p:extLst>
      <p:ext uri="{BB962C8B-B14F-4D97-AF65-F5344CB8AC3E}">
        <p14:creationId xmlns:p14="http://schemas.microsoft.com/office/powerpoint/2010/main" val="21520559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a:t>
            </a:r>
          </a:p>
        </p:txBody>
      </p:sp>
      <p:sp>
        <p:nvSpPr>
          <p:cNvPr id="3" name="Slide Number Placeholder 2">
            <a:extLst>
              <a:ext uri="{FF2B5EF4-FFF2-40B4-BE49-F238E27FC236}">
                <a16:creationId xmlns:a16="http://schemas.microsoft.com/office/drawing/2014/main" id="{A24EF7E7-4DAE-3EAC-8DD9-F5475F4993A7}"/>
              </a:ext>
            </a:extLst>
          </p:cNvPr>
          <p:cNvSpPr>
            <a:spLocks noGrp="1"/>
          </p:cNvSpPr>
          <p:nvPr>
            <p:ph type="sldNum" sz="quarter" idx="12"/>
          </p:nvPr>
        </p:nvSpPr>
        <p:spPr/>
        <p:txBody>
          <a:bodyPr/>
          <a:lstStyle/>
          <a:p>
            <a:fld id="{5E212BD6-99D2-4430-8307-3DFF6CB1AF68}" type="slidenum">
              <a:rPr lang="en-US" smtClean="0"/>
              <a:t>5</a:t>
            </a:fld>
            <a:endParaRPr lang="en-US"/>
          </a:p>
        </p:txBody>
      </p:sp>
      <p:graphicFrame>
        <p:nvGraphicFramePr>
          <p:cNvPr id="7" name="Table 6">
            <a:extLst>
              <a:ext uri="{FF2B5EF4-FFF2-40B4-BE49-F238E27FC236}">
                <a16:creationId xmlns:a16="http://schemas.microsoft.com/office/drawing/2014/main" id="{4758A924-DA2D-EBAE-DF76-83B31FD3ABC3}"/>
              </a:ext>
            </a:extLst>
          </p:cNvPr>
          <p:cNvGraphicFramePr>
            <a:graphicFrameLocks noGrp="1"/>
          </p:cNvGraphicFramePr>
          <p:nvPr>
            <p:extLst>
              <p:ext uri="{D42A27DB-BD31-4B8C-83A1-F6EECF244321}">
                <p14:modId xmlns:p14="http://schemas.microsoft.com/office/powerpoint/2010/main" val="1651424525"/>
              </p:ext>
            </p:extLst>
          </p:nvPr>
        </p:nvGraphicFramePr>
        <p:xfrm>
          <a:off x="320850" y="796386"/>
          <a:ext cx="11550300" cy="5317138"/>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49772">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46566">
                <a:tc>
                  <a:txBody>
                    <a:bodyPr/>
                    <a:lstStyle/>
                    <a:p>
                      <a:pPr algn="l" fontAlgn="b"/>
                      <a:r>
                        <a:rPr lang="en-US" sz="1050" b="0" i="0" u="none" strike="noStrike" dirty="0">
                          <a:solidFill>
                            <a:srgbClr val="000000"/>
                          </a:solidFill>
                          <a:effectLst/>
                          <a:latin typeface="MULISH BLACK ROMAN"/>
                        </a:rPr>
                        <a:t>A.J.T. v. Osseo Area Schools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A.J.T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Disability discrimination standard in education</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46566">
                <a:tc>
                  <a:txBody>
                    <a:bodyPr/>
                    <a:lstStyle/>
                    <a:p>
                      <a:pPr algn="l" fontAlgn="b"/>
                      <a:r>
                        <a:rPr lang="en-US" sz="1050" b="0" i="0" u="none" strike="noStrike" dirty="0">
                          <a:solidFill>
                            <a:srgbClr val="000000"/>
                          </a:solidFill>
                          <a:effectLst/>
                          <a:latin typeface="MULISH BLACK ROMAN"/>
                        </a:rPr>
                        <a:t>Advocate Christ Medical Center v. Kennedy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Advocate Christ Medical</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Medicare eligibility based on SSI payment month</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194963">
                <a:tc>
                  <a:txBody>
                    <a:bodyPr/>
                    <a:lstStyle/>
                    <a:p>
                      <a:pPr algn="l" fontAlgn="b"/>
                      <a:r>
                        <a:rPr lang="en-US" sz="1050" b="0" i="0" u="none" strike="noStrike" dirty="0">
                          <a:solidFill>
                            <a:srgbClr val="000000"/>
                          </a:solidFill>
                          <a:effectLst/>
                          <a:latin typeface="MULISH BLACK ROMAN"/>
                        </a:rPr>
                        <a:t>Ames v. Ohio Department of Youth Services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Ames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Discrimination claim standard for majority-group employee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170765">
                <a:tc>
                  <a:txBody>
                    <a:bodyPr/>
                    <a:lstStyle/>
                    <a:p>
                      <a:pPr algn="l" fontAlgn="b"/>
                      <a:r>
                        <a:rPr lang="en-US" sz="1050" b="0" i="0" u="none" strike="noStrike" dirty="0">
                          <a:solidFill>
                            <a:srgbClr val="000000"/>
                          </a:solidFill>
                          <a:effectLst/>
                          <a:latin typeface="MULISH BLACK ROMAN"/>
                        </a:rPr>
                        <a:t>Barnes v. Felix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Barnes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Excessive force standard under Fourth Amendment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170765">
                <a:tc>
                  <a:txBody>
                    <a:bodyPr/>
                    <a:lstStyle/>
                    <a:p>
                      <a:pPr algn="l" fontAlgn="b"/>
                      <a:r>
                        <a:rPr lang="sv-SE" sz="1050" b="0" i="0" u="none" strike="noStrike" dirty="0">
                          <a:solidFill>
                            <a:srgbClr val="000000"/>
                          </a:solidFill>
                          <a:effectLst/>
                          <a:latin typeface="MULISH BLACK ROMAN"/>
                        </a:rPr>
                        <a:t>BLOM Bank SAL v. Honickman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BLOM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Standard for reopening cases under Rule 60(b)(6)</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98169">
                <a:tc>
                  <a:txBody>
                    <a:bodyPr/>
                    <a:lstStyle/>
                    <a:p>
                      <a:pPr algn="l" fontAlgn="b"/>
                      <a:r>
                        <a:rPr lang="en-US" sz="1050" b="0" i="0" u="none" strike="noStrike" dirty="0">
                          <a:solidFill>
                            <a:srgbClr val="000000"/>
                          </a:solidFill>
                          <a:effectLst/>
                          <a:latin typeface="MULISH BLACK ROMAN"/>
                        </a:rPr>
                        <a:t>Bondi v. 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ATF regulation of ghost guns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146566">
                <a:tc>
                  <a:txBody>
                    <a:bodyPr/>
                    <a:lstStyle/>
                    <a:p>
                      <a:pPr algn="l" fontAlgn="b"/>
                      <a:r>
                        <a:rPr lang="en-US" sz="1050" b="0" i="0" u="none" strike="noStrike" dirty="0">
                          <a:solidFill>
                            <a:srgbClr val="000000"/>
                          </a:solidFill>
                          <a:effectLst/>
                          <a:latin typeface="MULISH BLACK ROMAN"/>
                        </a:rPr>
                        <a:t>Bouarfa v. Mayorkas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Bouarfa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Judicial review of visa revocation for sham marriage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122368">
                <a:tc>
                  <a:txBody>
                    <a:bodyPr/>
                    <a:lstStyle/>
                    <a:p>
                      <a:pPr algn="l" fontAlgn="b"/>
                      <a:r>
                        <a:rPr lang="en-US" sz="1050" b="0" i="0" u="none" strike="noStrike" dirty="0">
                          <a:solidFill>
                            <a:srgbClr val="000000"/>
                          </a:solidFill>
                          <a:effectLst/>
                          <a:latin typeface="MULISH BLACK ROMAN"/>
                        </a:rPr>
                        <a:t>Bufkin v. McDonough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Bufkin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Clear-error review of VA benefit decisions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170765">
                <a:tc>
                  <a:txBody>
                    <a:bodyPr/>
                    <a:lstStyle/>
                    <a:p>
                      <a:pPr algn="l" fontAlgn="b"/>
                      <a:r>
                        <a:rPr lang="en-US" sz="1050" b="0" i="0" u="none" strike="noStrike" dirty="0">
                          <a:solidFill>
                            <a:srgbClr val="000000"/>
                          </a:solidFill>
                          <a:effectLst/>
                          <a:latin typeface="MULISH BLACK ROMAN"/>
                        </a:rPr>
                        <a:t>Catholic Charities Bureau v. Wisconsin LIRC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Catholic Charities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Religious exemption denial under First Amendment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146566">
                <a:tc>
                  <a:txBody>
                    <a:bodyPr/>
                    <a:lstStyle/>
                    <a:p>
                      <a:pPr algn="l" fontAlgn="b"/>
                      <a:r>
                        <a:rPr lang="en-US" sz="1050" b="0" i="0" u="none" strike="noStrike" dirty="0">
                          <a:solidFill>
                            <a:srgbClr val="000000"/>
                          </a:solidFill>
                          <a:effectLst/>
                          <a:latin typeface="MULISH BLACK ROMAN"/>
                        </a:rPr>
                        <a:t>CC/Devas v. Antrix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CC/Devas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Jurisdiction over foreign states under FSIA</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122368">
                <a:tc>
                  <a:txBody>
                    <a:bodyPr/>
                    <a:lstStyle/>
                    <a:p>
                      <a:pPr algn="l" fontAlgn="b"/>
                      <a:r>
                        <a:rPr lang="en-US" sz="1050" b="0" i="0" u="none" strike="noStrike" dirty="0">
                          <a:solidFill>
                            <a:srgbClr val="000000"/>
                          </a:solidFill>
                          <a:effectLst/>
                          <a:latin typeface="MULISH BLACK ROMAN"/>
                        </a:rPr>
                        <a:t>City and County of 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EPA Clean Water Act authority on water permits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98169">
                <a:tc>
                  <a:txBody>
                    <a:bodyPr/>
                    <a:lstStyle/>
                    <a:p>
                      <a:pPr algn="l" fontAlgn="b"/>
                      <a:r>
                        <a:rPr lang="en-US" sz="1050" b="0" i="0" u="none" strike="noStrike" dirty="0">
                          <a:solidFill>
                            <a:srgbClr val="000000"/>
                          </a:solidFill>
                          <a:effectLst/>
                          <a:latin typeface="MULISH BLACK ROMAN"/>
                        </a:rPr>
                        <a:t>Commissioner of IRS v. 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IRS levy challenge mootness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98169">
                <a:tc>
                  <a:txBody>
                    <a:bodyPr/>
                    <a:lstStyle/>
                    <a:p>
                      <a:pPr algn="l" fontAlgn="b"/>
                      <a:r>
                        <a:rPr lang="en-US" sz="1050" b="0" i="0" u="none" strike="noStrike" dirty="0">
                          <a:solidFill>
                            <a:srgbClr val="000000"/>
                          </a:solidFill>
                          <a:effectLst/>
                          <a:latin typeface="MULISH BLACK ROMAN"/>
                        </a:rPr>
                        <a:t>Cunningham v. Cornell University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Cunningham</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ERISA fiduciary transaction pleading</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122368">
                <a:tc>
                  <a:txBody>
                    <a:bodyPr/>
                    <a:lstStyle/>
                    <a:p>
                      <a:pPr algn="l" fontAlgn="b"/>
                      <a:r>
                        <a:rPr lang="en-US" sz="1050" b="0" i="0" u="none" strike="noStrike" dirty="0">
                          <a:solidFill>
                            <a:srgbClr val="000000"/>
                          </a:solidFill>
                          <a:effectLst/>
                          <a:latin typeface="MULISH BLACK ROMAN"/>
                        </a:rPr>
                        <a:t>Delligatti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Delligatti</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Force element in omission-based crimes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170765">
                <a:tc>
                  <a:txBody>
                    <a:bodyPr/>
                    <a:lstStyle/>
                    <a:p>
                      <a:pPr algn="l" fontAlgn="b"/>
                      <a:r>
                        <a:rPr lang="en-US" sz="1050" b="0" i="0" u="none" strike="noStrike" dirty="0">
                          <a:solidFill>
                            <a:srgbClr val="000000"/>
                          </a:solidFill>
                          <a:effectLst/>
                          <a:latin typeface="MULISH BLACK ROMAN"/>
                        </a:rPr>
                        <a:t>Department of Education v. Career Colleges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DOE v. CA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Borrower defense scope under Higher Education 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122368">
                <a:tc>
                  <a:txBody>
                    <a:bodyPr/>
                    <a:lstStyle/>
                    <a:p>
                      <a:pPr algn="l" fontAlgn="b"/>
                      <a:r>
                        <a:rPr lang="en-US" sz="1050" b="0" i="0" u="none" strike="noStrike" dirty="0">
                          <a:solidFill>
                            <a:srgbClr val="000000"/>
                          </a:solidFill>
                          <a:effectLst/>
                          <a:latin typeface="MULISH BLACK ROMAN"/>
                        </a:rPr>
                        <a:t>Dewberry Group v. Dewberry Engineers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Dewberry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Lanham Act profits limited to named defendant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22368">
                <a:tc>
                  <a:txBody>
                    <a:bodyPr/>
                    <a:lstStyle/>
                    <a:p>
                      <a:pPr algn="l" fontAlgn="b"/>
                      <a:r>
                        <a:rPr lang="en-US" sz="1050" b="0" i="0" u="none" strike="noStrike" dirty="0">
                          <a:solidFill>
                            <a:srgbClr val="000000"/>
                          </a:solidFill>
                          <a:effectLst/>
                          <a:latin typeface="MULISH BLACK ROMAN"/>
                        </a:rPr>
                        <a:t>Diamond Alternative Energy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Diamond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Standing based on third-party regulatory impact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98169">
                <a:tc>
                  <a:txBody>
                    <a:bodyPr/>
                    <a:lstStyle/>
                    <a:p>
                      <a:pPr algn="l" fontAlgn="b"/>
                      <a:r>
                        <a:rPr lang="en-US" sz="1050" b="0" i="0" u="none" strike="noStrike" dirty="0">
                          <a:solidFill>
                            <a:srgbClr val="000000"/>
                          </a:solidFill>
                          <a:effectLst/>
                          <a:latin typeface="MULISH BLACK ROMAN"/>
                        </a:rPr>
                        <a:t>E.M.D. Sales v. Carrera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E.M.D. Sales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FLSA exemption proof standard</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122368">
                <a:tc>
                  <a:txBody>
                    <a:bodyPr/>
                    <a:lstStyle/>
                    <a:p>
                      <a:pPr algn="l" fontAlgn="b"/>
                      <a:r>
                        <a:rPr lang="en-US" sz="1050" b="0" i="0" u="none" strike="noStrike" dirty="0">
                          <a:solidFill>
                            <a:srgbClr val="000000"/>
                          </a:solidFill>
                          <a:effectLst/>
                          <a:latin typeface="MULISH BLACK ROMAN"/>
                        </a:rPr>
                        <a:t>EPA v. Calumet Shreveport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Calumet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Venue for refinery exemption claims under CAA</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146566">
                <a:tc>
                  <a:txBody>
                    <a:bodyPr/>
                    <a:lstStyle/>
                    <a:p>
                      <a:pPr algn="l" fontAlgn="b"/>
                      <a:r>
                        <a:rPr lang="en-US" sz="1050" b="0" i="0" u="none" strike="noStrike" dirty="0">
                          <a:solidFill>
                            <a:srgbClr val="000000"/>
                          </a:solidFill>
                          <a:effectLst/>
                          <a:latin typeface="MULISH BLACK ROMAN"/>
                        </a:rPr>
                        <a:t>Esteras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Esteras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Sentencing factor use in supervised release revocation</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122368">
                <a:tc>
                  <a:txBody>
                    <a:bodyPr/>
                    <a:lstStyle/>
                    <a:p>
                      <a:pPr algn="l" fontAlgn="b"/>
                      <a:r>
                        <a:rPr lang="en-US" sz="1050" b="0" i="0" u="none" strike="noStrike" dirty="0">
                          <a:solidFill>
                            <a:srgbClr val="000000"/>
                          </a:solidFill>
                          <a:effectLst/>
                          <a:latin typeface="MULISH BLACK ROMAN"/>
                        </a:rPr>
                        <a:t>Facebook v. Amalgamated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Facebook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Materiality of past risks in securities filings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170765">
                <a:tc>
                  <a:txBody>
                    <a:bodyPr/>
                    <a:lstStyle/>
                    <a:p>
                      <a:pPr algn="l" fontAlgn="b"/>
                      <a:r>
                        <a:rPr lang="en-US" sz="1050" b="0" i="0" u="none" strike="noStrike" dirty="0">
                          <a:solidFill>
                            <a:srgbClr val="000000"/>
                          </a:solidFill>
                          <a:effectLst/>
                          <a:latin typeface="MULISH BLACK ROMAN"/>
                        </a:rPr>
                        <a:t>FDA v. 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FDA denial of e-cigarette marketing applications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122368">
                <a:tc>
                  <a:txBody>
                    <a:bodyPr/>
                    <a:lstStyle/>
                    <a:p>
                      <a:pPr algn="l" fontAlgn="b"/>
                      <a:r>
                        <a:rPr lang="en-US" sz="1050" b="0" i="0" u="none" strike="noStrike" dirty="0">
                          <a:solidFill>
                            <a:srgbClr val="000000"/>
                          </a:solidFill>
                          <a:effectLst/>
                          <a:latin typeface="MULISH BLACK ROMAN"/>
                        </a:rPr>
                        <a:t>FCC v. 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Constitutional limits on FCC funding authority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122368">
                <a:tc>
                  <a:txBody>
                    <a:bodyPr/>
                    <a:lstStyle/>
                    <a:p>
                      <a:pPr algn="l" fontAlgn="b"/>
                      <a:r>
                        <a:rPr lang="en-US" sz="1050" b="0" i="0" u="none" strike="noStrike" dirty="0">
                          <a:solidFill>
                            <a:srgbClr val="000000"/>
                          </a:solidFill>
                          <a:effectLst/>
                          <a:latin typeface="MULISH BLACK ROMAN"/>
                        </a:rPr>
                        <a:t>Feliciano v. DOT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Feliciano</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Differential pay for emergency military service</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122368">
                <a:tc>
                  <a:txBody>
                    <a:bodyPr/>
                    <a:lstStyle/>
                    <a:p>
                      <a:pPr algn="l" fontAlgn="b"/>
                      <a:r>
                        <a:rPr lang="en-US" sz="1050" b="0" i="0" u="none" strike="noStrike" dirty="0">
                          <a:solidFill>
                            <a:srgbClr val="000000"/>
                          </a:solidFill>
                          <a:effectLst/>
                          <a:latin typeface="MULISH BLACK ROMAN"/>
                        </a:rPr>
                        <a:t>FDA v. 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Proper venue in agency review cases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170765">
                <a:tc>
                  <a:txBody>
                    <a:bodyPr/>
                    <a:lstStyle/>
                    <a:p>
                      <a:pPr algn="l" fontAlgn="b"/>
                      <a:r>
                        <a:rPr lang="en-US" sz="1050" b="0" i="0" u="none" strike="noStrike" dirty="0">
                          <a:solidFill>
                            <a:srgbClr val="000000"/>
                          </a:solidFill>
                          <a:effectLst/>
                          <a:latin typeface="MULISH BLACK ROMAN"/>
                        </a:rPr>
                        <a:t>Free Speech Coalition v. Paxton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Free Speech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Review standard for adult-content web restrictions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170765">
                <a:tc>
                  <a:txBody>
                    <a:bodyPr/>
                    <a:lstStyle/>
                    <a:p>
                      <a:pPr algn="l" fontAlgn="b"/>
                      <a:r>
                        <a:rPr lang="en-US" sz="1050" b="0" i="0" u="none" strike="noStrike" dirty="0">
                          <a:solidFill>
                            <a:srgbClr val="000000"/>
                          </a:solidFill>
                          <a:effectLst/>
                          <a:latin typeface="MULISH BLACK ROMAN"/>
                        </a:rPr>
                        <a:t>Fuld v. Palestine Liberation Organization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Fuld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Due process challenge to terrorism liability statute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146566">
                <a:tc>
                  <a:txBody>
                    <a:bodyPr/>
                    <a:lstStyle/>
                    <a:p>
                      <a:pPr algn="l" fontAlgn="b"/>
                      <a:r>
                        <a:rPr lang="en-US" sz="1050" b="0" i="0" u="none" strike="noStrike" dirty="0">
                          <a:solidFill>
                            <a:srgbClr val="000000"/>
                          </a:solidFill>
                          <a:effectLst/>
                          <a:latin typeface="MULISH BLACK ROMAN"/>
                        </a:rPr>
                        <a:t>Glossip v. 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Glossip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Due process violation for false trial testimony</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122368">
                <a:tc>
                  <a:txBody>
                    <a:bodyPr/>
                    <a:lstStyle/>
                    <a:p>
                      <a:pPr algn="l" fontAlgn="b"/>
                      <a:r>
                        <a:rPr lang="en-US" sz="1050" b="0" i="0" u="none" strike="noStrike" dirty="0">
                          <a:solidFill>
                            <a:srgbClr val="000000"/>
                          </a:solidFill>
                          <a:effectLst/>
                          <a:latin typeface="MULISH BLACK ROMAN"/>
                        </a:rPr>
                        <a:t>Gutierrez v. Saenz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Gutierrez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Access to DNA testing under Texas law</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146566">
                <a:tc>
                  <a:txBody>
                    <a:bodyPr/>
                    <a:lstStyle/>
                    <a:p>
                      <a:pPr algn="l" fontAlgn="b"/>
                      <a:r>
                        <a:rPr lang="en-US" sz="1050" b="0" i="0" u="none" strike="noStrike" dirty="0">
                          <a:solidFill>
                            <a:srgbClr val="000000"/>
                          </a:solidFill>
                          <a:effectLst/>
                          <a:latin typeface="MULISH BLACK ROMAN"/>
                        </a:rPr>
                        <a:t>Hewitt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Hewitt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Application of First Step Act to resentencing</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46566">
                <a:tc>
                  <a:txBody>
                    <a:bodyPr/>
                    <a:lstStyle/>
                    <a:p>
                      <a:pPr algn="l" fontAlgn="b"/>
                      <a:r>
                        <a:rPr lang="en-US" sz="1050" b="0" i="0" u="none" strike="noStrike" dirty="0">
                          <a:solidFill>
                            <a:srgbClr val="000000"/>
                          </a:solidFill>
                          <a:effectLst/>
                          <a:latin typeface="MULISH BLACK ROMAN"/>
                        </a:rPr>
                        <a:t>Kennedy v. Braidwood Management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Kennedy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Appointments Clause challenge to health agency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bl>
          </a:graphicData>
        </a:graphic>
      </p:graphicFrame>
    </p:spTree>
    <p:extLst>
      <p:ext uri="{BB962C8B-B14F-4D97-AF65-F5344CB8AC3E}">
        <p14:creationId xmlns:p14="http://schemas.microsoft.com/office/powerpoint/2010/main" val="25842101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 (Cont.)</a:t>
            </a:r>
          </a:p>
        </p:txBody>
      </p:sp>
      <p:sp>
        <p:nvSpPr>
          <p:cNvPr id="3" name="Slide Number Placeholder 2">
            <a:extLst>
              <a:ext uri="{FF2B5EF4-FFF2-40B4-BE49-F238E27FC236}">
                <a16:creationId xmlns:a16="http://schemas.microsoft.com/office/drawing/2014/main" id="{ACE69ECD-50DB-C726-1B35-F5BF13390359}"/>
              </a:ext>
            </a:extLst>
          </p:cNvPr>
          <p:cNvSpPr>
            <a:spLocks noGrp="1"/>
          </p:cNvSpPr>
          <p:nvPr>
            <p:ph type="sldNum" sz="quarter" idx="12"/>
          </p:nvPr>
        </p:nvSpPr>
        <p:spPr/>
        <p:txBody>
          <a:bodyPr/>
          <a:lstStyle/>
          <a:p>
            <a:fld id="{5E212BD6-99D2-4430-8307-3DFF6CB1AF68}" type="slidenum">
              <a:rPr lang="en-US" smtClean="0"/>
              <a:t>6</a:t>
            </a:fld>
            <a:endParaRPr lang="en-US" dirty="0"/>
          </a:p>
        </p:txBody>
      </p:sp>
      <p:graphicFrame>
        <p:nvGraphicFramePr>
          <p:cNvPr id="4" name="Table 3">
            <a:extLst>
              <a:ext uri="{FF2B5EF4-FFF2-40B4-BE49-F238E27FC236}">
                <a16:creationId xmlns:a16="http://schemas.microsoft.com/office/drawing/2014/main" id="{7DDC0621-7967-AD21-08EB-AEE9CF78D603}"/>
              </a:ext>
            </a:extLst>
          </p:cNvPr>
          <p:cNvGraphicFramePr>
            <a:graphicFrameLocks noGrp="1"/>
          </p:cNvGraphicFramePr>
          <p:nvPr>
            <p:extLst>
              <p:ext uri="{D42A27DB-BD31-4B8C-83A1-F6EECF244321}">
                <p14:modId xmlns:p14="http://schemas.microsoft.com/office/powerpoint/2010/main" val="2083649185"/>
              </p:ext>
            </p:extLst>
          </p:nvPr>
        </p:nvGraphicFramePr>
        <p:xfrm>
          <a:off x="320850" y="796386"/>
          <a:ext cx="11550300" cy="5473153"/>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208558">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27397">
                <a:tc>
                  <a:txBody>
                    <a:bodyPr/>
                    <a:lstStyle/>
                    <a:p>
                      <a:pPr algn="l" fontAlgn="b"/>
                      <a:r>
                        <a:rPr lang="en-US" sz="1050" b="0" i="0" u="none" strike="noStrike" dirty="0">
                          <a:solidFill>
                            <a:srgbClr val="000000"/>
                          </a:solidFill>
                          <a:effectLst/>
                          <a:latin typeface="MULISH BLACK ROMAN"/>
                        </a:rPr>
                        <a:t>Kousisis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Kousisis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Wire fraud liability without economic loss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64040">
                <a:tc>
                  <a:txBody>
                    <a:bodyPr/>
                    <a:lstStyle/>
                    <a:p>
                      <a:pPr algn="l" fontAlgn="b"/>
                      <a:r>
                        <a:rPr lang="en-US" sz="1050" b="0" i="0" u="none" strike="noStrike" dirty="0">
                          <a:solidFill>
                            <a:srgbClr val="000000"/>
                          </a:solidFill>
                          <a:effectLst/>
                          <a:latin typeface="MULISH BLACK ROMAN"/>
                        </a:rPr>
                        <a:t>Laboratory Corp. v. Davis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Laboratory Corp.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Standing for class members in Rule 23(b)(3) cases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0">
                <a:tc>
                  <a:txBody>
                    <a:bodyPr/>
                    <a:lstStyle/>
                    <a:p>
                      <a:pPr algn="l" fontAlgn="b"/>
                      <a:r>
                        <a:rPr lang="en-US" sz="1050" b="0" i="0" u="none" strike="noStrike" dirty="0">
                          <a:solidFill>
                            <a:srgbClr val="000000"/>
                          </a:solidFill>
                          <a:effectLst/>
                          <a:latin typeface="MULISH BLACK ROMAN"/>
                        </a:rPr>
                        <a:t>Lackey v. Stinnie</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Lackey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Attorney’s fees after preliminary injunction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49068">
                <a:tc>
                  <a:txBody>
                    <a:bodyPr/>
                    <a:lstStyle/>
                    <a:p>
                      <a:pPr algn="l" fontAlgn="b"/>
                      <a:r>
                        <a:rPr lang="en-US" sz="1050" b="0" i="0" u="none" strike="noStrike" dirty="0">
                          <a:solidFill>
                            <a:srgbClr val="000000"/>
                          </a:solidFill>
                          <a:effectLst/>
                          <a:latin typeface="MULISH BLACK ROMAN"/>
                        </a:rPr>
                        <a:t>Louisiana v. Callais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Louisiana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VRA and constitutionality of majority-Black district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0">
                <a:tc>
                  <a:txBody>
                    <a:bodyPr/>
                    <a:lstStyle/>
                    <a:p>
                      <a:pPr algn="l" fontAlgn="b"/>
                      <a:r>
                        <a:rPr lang="en-US" sz="1050" b="0" i="0" u="none" strike="noStrike">
                          <a:solidFill>
                            <a:srgbClr val="000000"/>
                          </a:solidFill>
                          <a:effectLst/>
                          <a:latin typeface="MULISH BLACK ROMAN"/>
                        </a:rPr>
                        <a:t>Mahmoud v. Taylor</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Mahmoud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Parental rights in gender and sexuality instruction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68566">
                <a:tc>
                  <a:txBody>
                    <a:bodyPr/>
                    <a:lstStyle/>
                    <a:p>
                      <a:pPr algn="l" fontAlgn="b"/>
                      <a:r>
                        <a:rPr lang="en-US" sz="1050" b="0" i="0" u="none" strike="noStrike" dirty="0">
                          <a:solidFill>
                            <a:srgbClr val="000000"/>
                          </a:solidFill>
                          <a:effectLst/>
                          <a:latin typeface="MULISH BLACK ROMAN"/>
                        </a:rPr>
                        <a:t>Martin v. United States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Martin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FTCA limits and discretionary function exception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0">
                <a:tc>
                  <a:txBody>
                    <a:bodyPr/>
                    <a:lstStyle/>
                    <a:p>
                      <a:pPr algn="l" fontAlgn="b"/>
                      <a:r>
                        <a:rPr lang="en-US" sz="1050" b="0" i="0" u="none" strike="noStrike">
                          <a:solidFill>
                            <a:srgbClr val="000000"/>
                          </a:solidFill>
                          <a:effectLst/>
                          <a:latin typeface="MULISH BLACK ROMAN"/>
                        </a:rPr>
                        <a:t>McLaughlin Chiropractic v. McKesson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McLaughlin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Deference to FCC under Hobbs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0">
                <a:tc>
                  <a:txBody>
                    <a:bodyPr/>
                    <a:lstStyle/>
                    <a:p>
                      <a:pPr algn="l" fontAlgn="b"/>
                      <a:r>
                        <a:rPr lang="en-US" sz="1050" b="0" i="0" u="none" strike="noStrike">
                          <a:solidFill>
                            <a:srgbClr val="000000"/>
                          </a:solidFill>
                          <a:effectLst/>
                          <a:latin typeface="MULISH BLACK ROMAN"/>
                        </a:rPr>
                        <a:t>Medical Marijuana v. Horn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Medical Marijuana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RICO damages for injury-linked property loss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79884">
                <a:tc>
                  <a:txBody>
                    <a:bodyPr/>
                    <a:lstStyle/>
                    <a:p>
                      <a:pPr algn="l" fontAlgn="b"/>
                      <a:r>
                        <a:rPr lang="en-US" sz="1050" b="0" i="0" u="none" strike="noStrike">
                          <a:solidFill>
                            <a:srgbClr val="000000"/>
                          </a:solidFill>
                          <a:effectLst/>
                          <a:latin typeface="MULISH BLACK ROMAN"/>
                        </a:rPr>
                        <a:t>Medina v. Planned Parenthood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Medina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Medicaid right to choose provider</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53774">
                <a:tc>
                  <a:txBody>
                    <a:bodyPr/>
                    <a:lstStyle/>
                    <a:p>
                      <a:pPr algn="l" fontAlgn="b"/>
                      <a:r>
                        <a:rPr lang="en-US" sz="1050" b="0" i="0" u="none" strike="noStrike" dirty="0">
                          <a:solidFill>
                            <a:srgbClr val="000000"/>
                          </a:solidFill>
                          <a:effectLst/>
                          <a:latin typeface="MULISH BLACK ROMAN"/>
                        </a:rPr>
                        <a:t>Monsalvo Velazquez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Valazquez</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deadline rule for voluntary departure</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0">
                <a:tc>
                  <a:txBody>
                    <a:bodyPr/>
                    <a:lstStyle/>
                    <a:p>
                      <a:pPr algn="l" fontAlgn="b"/>
                      <a:r>
                        <a:rPr lang="en-US" sz="1050" b="0" i="0" u="none" strike="noStrike">
                          <a:solidFill>
                            <a:srgbClr val="000000"/>
                          </a:solidFill>
                          <a:effectLst/>
                          <a:latin typeface="MULISH BLACK ROMAN"/>
                        </a:rPr>
                        <a:t>NRC v. Texas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NRC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Challenge to nuclear waste storage and review rights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0">
                <a:tc>
                  <a:txBody>
                    <a:bodyPr/>
                    <a:lstStyle/>
                    <a:p>
                      <a:pPr algn="l" fontAlgn="b"/>
                      <a:r>
                        <a:rPr lang="en-US" sz="1050" b="0" i="0" u="none" strike="noStrike">
                          <a:solidFill>
                            <a:srgbClr val="000000"/>
                          </a:solidFill>
                          <a:effectLst/>
                          <a:latin typeface="MULISH BLACK ROMAN"/>
                        </a:rPr>
                        <a:t>NVIDIA v. Ohman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NVIDIA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Pleading standards for securities fraud intent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0">
                <a:tc>
                  <a:txBody>
                    <a:bodyPr/>
                    <a:lstStyle/>
                    <a:p>
                      <a:pPr algn="l" fontAlgn="b"/>
                      <a:r>
                        <a:rPr lang="en-US" sz="1050" b="0" i="0" u="none" strike="noStrike">
                          <a:solidFill>
                            <a:srgbClr val="000000"/>
                          </a:solidFill>
                          <a:effectLst/>
                          <a:latin typeface="MULISH BLACK ROMAN"/>
                        </a:rPr>
                        <a:t>Oklahoma Charter Board v. Drummond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Drummond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Religious access to charter school system</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47947">
                <a:tc>
                  <a:txBody>
                    <a:bodyPr/>
                    <a:lstStyle/>
                    <a:p>
                      <a:pPr algn="l" fontAlgn="b"/>
                      <a:r>
                        <a:rPr lang="en-US" sz="1050" b="0" i="0" u="none" strike="noStrike">
                          <a:solidFill>
                            <a:srgbClr val="000000"/>
                          </a:solidFill>
                          <a:effectLst/>
                          <a:latin typeface="MULISH BLACK ROMAN"/>
                        </a:rPr>
                        <a:t>Oklahoma v. EPA</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Jurisdiction for state-specific EPA rules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0">
                <a:tc>
                  <a:txBody>
                    <a:bodyPr/>
                    <a:lstStyle/>
                    <a:p>
                      <a:pPr algn="l" fontAlgn="b"/>
                      <a:r>
                        <a:rPr lang="en-US" sz="1050" b="0" i="0" u="none" strike="noStrike">
                          <a:solidFill>
                            <a:srgbClr val="000000"/>
                          </a:solidFill>
                          <a:effectLst/>
                          <a:latin typeface="MULISH BLACK ROMAN"/>
                        </a:rPr>
                        <a:t>Parrish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Parrish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Appeal procedure after time-to-appeal reopened</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94339">
                <a:tc>
                  <a:txBody>
                    <a:bodyPr/>
                    <a:lstStyle/>
                    <a:p>
                      <a:pPr algn="l" fontAlgn="b"/>
                      <a:r>
                        <a:rPr lang="en-US" sz="1050" b="0" i="0" u="none" strike="noStrike">
                          <a:solidFill>
                            <a:srgbClr val="000000"/>
                          </a:solidFill>
                          <a:effectLst/>
                          <a:latin typeface="MULISH BLACK ROMAN"/>
                        </a:rPr>
                        <a:t>Perttu v. Richards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Perttu</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Jury trial on PLRA exhaustion disputes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57877">
                <a:tc>
                  <a:txBody>
                    <a:bodyPr/>
                    <a:lstStyle/>
                    <a:p>
                      <a:pPr algn="l" fontAlgn="b"/>
                      <a:r>
                        <a:rPr lang="en-US" sz="1050" b="0" i="0" u="none" strike="noStrike">
                          <a:solidFill>
                            <a:srgbClr val="000000"/>
                          </a:solidFill>
                          <a:effectLst/>
                          <a:latin typeface="MULISH BLACK ROMAN"/>
                        </a:rPr>
                        <a:t>Republic of Hungary v. Simon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Hungary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Commercial activity requirement under FSIA</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0">
                <a:tc>
                  <a:txBody>
                    <a:bodyPr/>
                    <a:lstStyle/>
                    <a:p>
                      <a:pPr algn="l" fontAlgn="b"/>
                      <a:r>
                        <a:rPr lang="en-US" sz="1050" b="0" i="0" u="none" strike="noStrike">
                          <a:solidFill>
                            <a:srgbClr val="000000"/>
                          </a:solidFill>
                          <a:effectLst/>
                          <a:latin typeface="MULISH BLACK ROMAN"/>
                        </a:rPr>
                        <a:t>Riley v. Bondi</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Riley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appeal deadline jurisdiction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0">
                <a:tc>
                  <a:txBody>
                    <a:bodyPr/>
                    <a:lstStyle/>
                    <a:p>
                      <a:pPr algn="l" fontAlgn="b"/>
                      <a:r>
                        <a:rPr lang="en-US" sz="1050" b="0" i="0" u="none" strike="noStrike">
                          <a:solidFill>
                            <a:srgbClr val="000000"/>
                          </a:solidFill>
                          <a:effectLst/>
                          <a:latin typeface="MULISH BLACK ROMAN"/>
                        </a:rPr>
                        <a:t>Rivers v. Guerrero</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Rivers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Limits on second habeas petitions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70583">
                <a:tc>
                  <a:txBody>
                    <a:bodyPr/>
                    <a:lstStyle/>
                    <a:p>
                      <a:pPr algn="l" fontAlgn="b"/>
                      <a:r>
                        <a:rPr lang="en-US" sz="1050" b="0" i="0" u="none" strike="noStrike">
                          <a:solidFill>
                            <a:srgbClr val="000000"/>
                          </a:solidFill>
                          <a:effectLst/>
                          <a:latin typeface="MULISH BLACK ROMAN"/>
                        </a:rPr>
                        <a:t>Royal Canin v. Wullschleger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Royal Canin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Federal jurisdiction over amended complaints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0">
                <a:tc>
                  <a:txBody>
                    <a:bodyPr/>
                    <a:lstStyle/>
                    <a:p>
                      <a:pPr algn="l" fontAlgn="b"/>
                      <a:r>
                        <a:rPr lang="en-US" sz="1050" b="0" i="0" u="none" strike="noStrike">
                          <a:solidFill>
                            <a:srgbClr val="000000"/>
                          </a:solidFill>
                          <a:effectLst/>
                          <a:latin typeface="MULISH BLACK ROMAN"/>
                        </a:rPr>
                        <a:t>Seven County v. Eagle County</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Seven County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NEPA scope for indirect environmental effects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0">
                <a:tc>
                  <a:txBody>
                    <a:bodyPr/>
                    <a:lstStyle/>
                    <a:p>
                      <a:pPr algn="l" fontAlgn="b"/>
                      <a:r>
                        <a:rPr lang="en-US" sz="1050" b="0" i="0" u="none" strike="noStrike">
                          <a:solidFill>
                            <a:srgbClr val="000000"/>
                          </a:solidFill>
                          <a:effectLst/>
                          <a:latin typeface="MULISH BLACK ROMAN"/>
                        </a:rPr>
                        <a:t>Smith &amp; Wesson v. Mexico</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Smith and Wesson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Gunmaker immunity in foreign violence claims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0">
                <a:tc>
                  <a:txBody>
                    <a:bodyPr/>
                    <a:lstStyle/>
                    <a:p>
                      <a:pPr algn="l" fontAlgn="b"/>
                      <a:r>
                        <a:rPr lang="en-US" sz="1050" b="0" i="0" u="none" strike="noStrike">
                          <a:solidFill>
                            <a:srgbClr val="000000"/>
                          </a:solidFill>
                          <a:effectLst/>
                          <a:latin typeface="MULISH BLACK ROMAN"/>
                        </a:rPr>
                        <a:t>Soto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Soto</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Retroactive pay under CRSC and Barring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0">
                <a:tc>
                  <a:txBody>
                    <a:bodyPr/>
                    <a:lstStyle/>
                    <a:p>
                      <a:pPr algn="l" fontAlgn="b"/>
                      <a:r>
                        <a:rPr lang="en-US" sz="1050" b="0" i="0" u="none" strike="noStrike">
                          <a:solidFill>
                            <a:srgbClr val="000000"/>
                          </a:solidFill>
                          <a:effectLst/>
                          <a:latin typeface="MULISH BLACK ROMAN"/>
                        </a:rPr>
                        <a:t>Stanley v. City of Sanford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Stanley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ADA protection for post-employment benefits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0">
                <a:tc>
                  <a:txBody>
                    <a:bodyPr/>
                    <a:lstStyle/>
                    <a:p>
                      <a:pPr algn="l" fontAlgn="b"/>
                      <a:r>
                        <a:rPr lang="en-US" sz="1050" b="0" i="0" u="none" strike="noStrike">
                          <a:solidFill>
                            <a:srgbClr val="000000"/>
                          </a:solidFill>
                          <a:effectLst/>
                          <a:latin typeface="MULISH BLACK ROMAN"/>
                        </a:rPr>
                        <a:t>Thompson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Thompson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Misleading vs. false statements under Â§ 1014</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0">
                <a:tc>
                  <a:txBody>
                    <a:bodyPr/>
                    <a:lstStyle/>
                    <a:p>
                      <a:pPr algn="l" fontAlgn="b"/>
                      <a:r>
                        <a:rPr lang="en-US" sz="1050" b="0" i="0" u="none" strike="noStrike">
                          <a:solidFill>
                            <a:srgbClr val="000000"/>
                          </a:solidFill>
                          <a:effectLst/>
                          <a:latin typeface="MULISH BLACK ROMAN"/>
                        </a:rPr>
                        <a:t>TikTok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TikTok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First Amendment challenge to TikTok restrictions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0">
                <a:tc>
                  <a:txBody>
                    <a:bodyPr/>
                    <a:lstStyle/>
                    <a:p>
                      <a:pPr algn="l" fontAlgn="b"/>
                      <a:r>
                        <a:rPr lang="en-US" sz="1050" b="0" i="0" u="none" strike="noStrike">
                          <a:solidFill>
                            <a:srgbClr val="000000"/>
                          </a:solidFill>
                          <a:effectLst/>
                          <a:latin typeface="MULISH BLACK ROMAN"/>
                        </a:rPr>
                        <a:t>Trump v. CASA</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Trump v. CASA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Nationwide injunction scope in constitutional cases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0">
                <a:tc>
                  <a:txBody>
                    <a:bodyPr/>
                    <a:lstStyle/>
                    <a:p>
                      <a:pPr algn="l" fontAlgn="b"/>
                      <a:r>
                        <a:rPr lang="en-US" sz="1050" b="0" i="0" u="none" strike="noStrike">
                          <a:solidFill>
                            <a:srgbClr val="000000"/>
                          </a:solidFill>
                          <a:effectLst/>
                          <a:latin typeface="MULISH BLACK ROMAN"/>
                        </a:rPr>
                        <a:t>United States v. Miller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Miller</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Bankruptcy clawback and sovereign immunity</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0">
                <a:tc>
                  <a:txBody>
                    <a:bodyPr/>
                    <a:lstStyle/>
                    <a:p>
                      <a:pPr algn="l" fontAlgn="b"/>
                      <a:r>
                        <a:rPr lang="en-US" sz="1050" b="0" i="0" u="none" strike="noStrike">
                          <a:solidFill>
                            <a:srgbClr val="000000"/>
                          </a:solidFill>
                          <a:effectLst/>
                          <a:latin typeface="MULISH BLACK ROMAN"/>
                        </a:rPr>
                        <a:t>United States v. Skrmetti</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err="1">
                          <a:solidFill>
                            <a:srgbClr val="000000"/>
                          </a:solidFill>
                          <a:effectLst/>
                          <a:latin typeface="MULISH BLACK ROMAN"/>
                        </a:rPr>
                        <a:t>Skrmetti</a:t>
                      </a:r>
                      <a:endParaRPr lang="en-US" sz="1050" b="0" i="1" u="none" strike="noStrike" dirty="0">
                        <a:solidFill>
                          <a:srgbClr val="000000"/>
                        </a:solidFill>
                        <a:effectLst/>
                        <a:latin typeface="MULISH BLACK ROMAN"/>
                      </a:endParaRP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Transgender care ban and Equal Protection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0">
                <a:tc>
                  <a:txBody>
                    <a:bodyPr/>
                    <a:lstStyle/>
                    <a:p>
                      <a:pPr algn="l" fontAlgn="b"/>
                      <a:r>
                        <a:rPr lang="en-US" sz="1050" b="0" i="0" u="none" strike="noStrike">
                          <a:solidFill>
                            <a:srgbClr val="000000"/>
                          </a:solidFill>
                          <a:effectLst/>
                          <a:latin typeface="MULISH BLACK ROMAN"/>
                        </a:rPr>
                        <a:t>Waetzig v. Halliburton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Waetzig</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Dismissals under Rule 41 as final for Rule 60</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72068">
                <a:tc>
                  <a:txBody>
                    <a:bodyPr/>
                    <a:lstStyle/>
                    <a:p>
                      <a:pPr algn="l" fontAlgn="b"/>
                      <a:r>
                        <a:rPr lang="en-US" sz="1050" b="0" i="0" u="none" strike="noStrike" dirty="0">
                          <a:solidFill>
                            <a:srgbClr val="000000"/>
                          </a:solidFill>
                          <a:effectLst/>
                          <a:latin typeface="MULISH BLACK ROMAN"/>
                        </a:rPr>
                        <a:t>Williams v. Reed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Willaims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Exhaustion rule and Section 1983 state suits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bl>
          </a:graphicData>
        </a:graphic>
      </p:graphicFrame>
    </p:spTree>
    <p:extLst>
      <p:ext uri="{BB962C8B-B14F-4D97-AF65-F5344CB8AC3E}">
        <p14:creationId xmlns:p14="http://schemas.microsoft.com/office/powerpoint/2010/main" val="3385928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779079E-2341-1D58-0A96-2CCBE00E6BDB}"/>
              </a:ext>
            </a:extLst>
          </p:cNvPr>
          <p:cNvSpPr>
            <a:spLocks noGrp="1" noRot="1" noMove="1" noResize="1" noEditPoints="1" noAdjustHandles="1" noChangeArrowheads="1" noChangeShapeType="1"/>
          </p:cNvSpPr>
          <p:nvPr/>
        </p:nvSpPr>
        <p:spPr>
          <a:xfrm>
            <a:off x="1006640" y="1147657"/>
            <a:ext cx="9144018" cy="548641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5391207" y="314392"/>
            <a:ext cx="5874589" cy="646331"/>
          </a:xfrm>
          <a:prstGeom prst="rect">
            <a:avLst/>
          </a:prstGeom>
          <a:noFill/>
          <a:ln>
            <a:solidFill>
              <a:schemeClr val="tx1"/>
            </a:solidFill>
          </a:ln>
        </p:spPr>
        <p:txBody>
          <a:bodyPr wrap="square" rtlCol="0">
            <a:spAutoFit/>
          </a:bodyPr>
          <a:lstStyle/>
          <a:p>
            <a:r>
              <a:rPr lang="en-US" sz="1200" dirty="0"/>
              <a:t>This figure shows the raw percentage of unanimous (i.e., cases decided without any full dissents) between OT05-OT24 given the total number of cases decided in those terms. These include decisions reached </a:t>
            </a:r>
            <a:r>
              <a:rPr lang="en-US" sz="1200" i="1" dirty="0"/>
              <a:t>per </a:t>
            </a:r>
            <a:r>
              <a:rPr lang="en-US" sz="1200" i="1" dirty="0" err="1"/>
              <a:t>curiam</a:t>
            </a:r>
            <a:r>
              <a:rPr lang="en-US" sz="1200" dirty="0"/>
              <a:t> without any noted dissents.  </a:t>
            </a:r>
            <a:endParaRPr lang="en-US" sz="1200" dirty="0">
              <a:latin typeface="MULISH REGULAR ROMAN"/>
            </a:endParaRPr>
          </a:p>
        </p:txBody>
      </p:sp>
      <p:sp>
        <p:nvSpPr>
          <p:cNvPr id="7" name="Slide Number Placeholder 6">
            <a:extLst>
              <a:ext uri="{FF2B5EF4-FFF2-40B4-BE49-F238E27FC236}">
                <a16:creationId xmlns:a16="http://schemas.microsoft.com/office/drawing/2014/main" id="{7AC1E094-747F-A600-F989-BCC81BD2ABCF}"/>
              </a:ext>
            </a:extLst>
          </p:cNvPr>
          <p:cNvSpPr>
            <a:spLocks noGrp="1"/>
          </p:cNvSpPr>
          <p:nvPr>
            <p:ph type="sldNum" sz="quarter" idx="12"/>
          </p:nvPr>
        </p:nvSpPr>
        <p:spPr/>
        <p:txBody>
          <a:bodyPr/>
          <a:lstStyle/>
          <a:p>
            <a:fld id="{5E212BD6-99D2-4430-8307-3DFF6CB1AF68}" type="slidenum">
              <a:rPr lang="en-US" smtClean="0"/>
              <a:t>7</a:t>
            </a:fld>
            <a:endParaRPr lang="en-US"/>
          </a:p>
        </p:txBody>
      </p:sp>
      <p:pic>
        <p:nvPicPr>
          <p:cNvPr id="4" name="Picture 3" descr="A graph with numbers and lines&#10;&#10;AI-generated content may be incorrect.">
            <a:extLst>
              <a:ext uri="{FF2B5EF4-FFF2-40B4-BE49-F238E27FC236}">
                <a16:creationId xmlns:a16="http://schemas.microsoft.com/office/drawing/2014/main" id="{75AB4753-3B98-0ECB-6F21-CC3FD4ABF1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39" y="1147656"/>
            <a:ext cx="9144019" cy="5486411"/>
          </a:xfrm>
          <a:prstGeom prst="rect">
            <a:avLst/>
          </a:prstGeom>
        </p:spPr>
      </p:pic>
    </p:spTree>
    <p:extLst>
      <p:ext uri="{BB962C8B-B14F-4D97-AF65-F5344CB8AC3E}">
        <p14:creationId xmlns:p14="http://schemas.microsoft.com/office/powerpoint/2010/main" val="8189809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715974D-D7CA-E5A2-5169-621B7C50A8A7}"/>
              </a:ext>
            </a:extLst>
          </p:cNvPr>
          <p:cNvSpPr>
            <a:spLocks noGrp="1" noRot="1" noMove="1" noResize="1" noEditPoints="1" noAdjustHandles="1" noChangeArrowheads="1" noChangeShapeType="1"/>
          </p:cNvSpPr>
          <p:nvPr/>
        </p:nvSpPr>
        <p:spPr>
          <a:xfrm>
            <a:off x="1208167" y="827825"/>
            <a:ext cx="8705775"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(including those decided unanimously or </a:t>
            </a:r>
            <a:r>
              <a:rPr lang="en-US" sz="1200" i="1" dirty="0">
                <a:latin typeface="MULISH REGULAR ROMAN"/>
              </a:rPr>
              <a:t>Per Curiam</a:t>
            </a:r>
            <a:r>
              <a:rPr lang="en-US" sz="1200" dirty="0">
                <a:latin typeface="MULISH REGULAR ROMAN"/>
              </a:rPr>
              <a:t>).</a:t>
            </a:r>
          </a:p>
        </p:txBody>
      </p:sp>
      <p:sp>
        <p:nvSpPr>
          <p:cNvPr id="8" name="Slide Number Placeholder 7">
            <a:extLst>
              <a:ext uri="{FF2B5EF4-FFF2-40B4-BE49-F238E27FC236}">
                <a16:creationId xmlns:a16="http://schemas.microsoft.com/office/drawing/2014/main" id="{A6FEEA7B-53FC-C4F8-5211-4905CA356EF7}"/>
              </a:ext>
            </a:extLst>
          </p:cNvPr>
          <p:cNvSpPr>
            <a:spLocks noGrp="1"/>
          </p:cNvSpPr>
          <p:nvPr>
            <p:ph type="sldNum" sz="quarter" idx="12"/>
          </p:nvPr>
        </p:nvSpPr>
        <p:spPr/>
        <p:txBody>
          <a:bodyPr/>
          <a:lstStyle/>
          <a:p>
            <a:fld id="{5E212BD6-99D2-4430-8307-3DFF6CB1AF68}" type="slidenum">
              <a:rPr lang="en-US" smtClean="0"/>
              <a:t>8</a:t>
            </a:fld>
            <a:endParaRPr lang="en-US"/>
          </a:p>
        </p:txBody>
      </p:sp>
      <p:pic>
        <p:nvPicPr>
          <p:cNvPr id="4" name="Picture 3" descr="A group of people in a row&#10;&#10;AI-generated content may be incorrect.">
            <a:extLst>
              <a:ext uri="{FF2B5EF4-FFF2-40B4-BE49-F238E27FC236}">
                <a16:creationId xmlns:a16="http://schemas.microsoft.com/office/drawing/2014/main" id="{8452CD62-53AA-3827-9333-8971A1CEBBB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5" y="827825"/>
            <a:ext cx="8705775" cy="5223465"/>
          </a:xfrm>
          <a:prstGeom prst="rect">
            <a:avLst/>
          </a:prstGeom>
        </p:spPr>
      </p:pic>
    </p:spTree>
    <p:extLst>
      <p:ext uri="{BB962C8B-B14F-4D97-AF65-F5344CB8AC3E}">
        <p14:creationId xmlns:p14="http://schemas.microsoft.com/office/powerpoint/2010/main" val="1407281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3C501CA-B9A4-9ABB-5102-8B2239FF11DD}"/>
              </a:ext>
            </a:extLst>
          </p:cNvPr>
          <p:cNvSpPr>
            <a:spLocks noGrp="1" noRot="1" noMove="1" noResize="1" noEditPoints="1" noAdjustHandles="1" noChangeArrowheads="1" noChangeShapeType="1"/>
          </p:cNvSpPr>
          <p:nvPr/>
        </p:nvSpPr>
        <p:spPr>
          <a:xfrm>
            <a:off x="1208166" y="859611"/>
            <a:ext cx="8705776" cy="522346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sp>
        <p:nvSpPr>
          <p:cNvPr id="7" name="Slide Number Placeholder 6">
            <a:extLst>
              <a:ext uri="{FF2B5EF4-FFF2-40B4-BE49-F238E27FC236}">
                <a16:creationId xmlns:a16="http://schemas.microsoft.com/office/drawing/2014/main" id="{13726465-4154-710A-F9BC-4A914735200D}"/>
              </a:ext>
            </a:extLst>
          </p:cNvPr>
          <p:cNvSpPr>
            <a:spLocks noGrp="1"/>
          </p:cNvSpPr>
          <p:nvPr>
            <p:ph type="sldNum" sz="quarter" idx="12"/>
          </p:nvPr>
        </p:nvSpPr>
        <p:spPr/>
        <p:txBody>
          <a:bodyPr/>
          <a:lstStyle/>
          <a:p>
            <a:fld id="{5E212BD6-99D2-4430-8307-3DFF6CB1AF68}" type="slidenum">
              <a:rPr lang="en-US" smtClean="0"/>
              <a:t>9</a:t>
            </a:fld>
            <a:endParaRPr lang="en-US"/>
          </a:p>
        </p:txBody>
      </p:sp>
      <p:pic>
        <p:nvPicPr>
          <p:cNvPr id="6" name="Picture 5" descr="A group of people standing in front of a graph&#10;&#10;AI-generated content may be incorrect.">
            <a:extLst>
              <a:ext uri="{FF2B5EF4-FFF2-40B4-BE49-F238E27FC236}">
                <a16:creationId xmlns:a16="http://schemas.microsoft.com/office/drawing/2014/main" id="{18BC4ED0-7C0E-7361-1199-0DB2271ECAD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5" y="859611"/>
            <a:ext cx="8705777" cy="5223466"/>
          </a:xfrm>
          <a:prstGeom prst="rect">
            <a:avLst/>
          </a:prstGeom>
        </p:spPr>
      </p:pic>
    </p:spTree>
    <p:extLst>
      <p:ext uri="{BB962C8B-B14F-4D97-AF65-F5344CB8AC3E}">
        <p14:creationId xmlns:p14="http://schemas.microsoft.com/office/powerpoint/2010/main" val="18742430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EF1A1FB-105D-32D2-911A-2624F78E4F7B}"/>
              </a:ext>
            </a:extLst>
          </p:cNvPr>
          <p:cNvSpPr>
            <a:spLocks noGrp="1" noRot="1" noMove="1" noResize="1" noEditPoints="1" noAdjustHandles="1" noChangeArrowheads="1" noChangeShapeType="1"/>
          </p:cNvSpPr>
          <p:nvPr/>
        </p:nvSpPr>
        <p:spPr>
          <a:xfrm>
            <a:off x="1208166" y="827825"/>
            <a:ext cx="8705776"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sp>
        <p:nvSpPr>
          <p:cNvPr id="8" name="Slide Number Placeholder 7">
            <a:extLst>
              <a:ext uri="{FF2B5EF4-FFF2-40B4-BE49-F238E27FC236}">
                <a16:creationId xmlns:a16="http://schemas.microsoft.com/office/drawing/2014/main" id="{33E00DAD-7370-1C1A-1316-87B59CDE3EC4}"/>
              </a:ext>
            </a:extLst>
          </p:cNvPr>
          <p:cNvSpPr>
            <a:spLocks noGrp="1"/>
          </p:cNvSpPr>
          <p:nvPr>
            <p:ph type="sldNum" sz="quarter" idx="12"/>
          </p:nvPr>
        </p:nvSpPr>
        <p:spPr/>
        <p:txBody>
          <a:bodyPr/>
          <a:lstStyle/>
          <a:p>
            <a:fld id="{5E212BD6-99D2-4430-8307-3DFF6CB1AF68}" type="slidenum">
              <a:rPr lang="en-US" smtClean="0"/>
              <a:t>10</a:t>
            </a:fld>
            <a:endParaRPr lang="en-US"/>
          </a:p>
        </p:txBody>
      </p:sp>
      <p:pic>
        <p:nvPicPr>
          <p:cNvPr id="4" name="Picture 3" descr="A group of people standing in front of a graph&#10;&#10;AI-generated content may be incorrect.">
            <a:extLst>
              <a:ext uri="{FF2B5EF4-FFF2-40B4-BE49-F238E27FC236}">
                <a16:creationId xmlns:a16="http://schemas.microsoft.com/office/drawing/2014/main" id="{8812488D-CE41-558E-A162-27AF9946EEB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27825"/>
            <a:ext cx="8705776" cy="5223465"/>
          </a:xfrm>
          <a:prstGeom prst="rect">
            <a:avLst/>
          </a:prstGeom>
        </p:spPr>
      </p:pic>
    </p:spTree>
    <p:extLst>
      <p:ext uri="{BB962C8B-B14F-4D97-AF65-F5344CB8AC3E}">
        <p14:creationId xmlns:p14="http://schemas.microsoft.com/office/powerpoint/2010/main" val="40606662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62697E2-5ABB-843F-62F3-D838370F29A2}"/>
              </a:ext>
            </a:extLst>
          </p:cNvPr>
          <p:cNvSpPr>
            <a:spLocks/>
          </p:cNvSpPr>
          <p:nvPr/>
        </p:nvSpPr>
        <p:spPr>
          <a:xfrm>
            <a:off x="320850" y="1107821"/>
            <a:ext cx="9144019" cy="545407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9">
            <a:extLst>
              <a:ext uri="{FF2B5EF4-FFF2-40B4-BE49-F238E27FC236}">
                <a16:creationId xmlns:a16="http://schemas.microsoft.com/office/drawing/2014/main" id="{F7EB7E3A-4562-FCEF-EA81-6C370DCA8FD5}"/>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BREAKING RANKS</a:t>
            </a:r>
          </a:p>
        </p:txBody>
      </p:sp>
      <p:sp>
        <p:nvSpPr>
          <p:cNvPr id="2" name="TextBox 1">
            <a:extLst>
              <a:ext uri="{FF2B5EF4-FFF2-40B4-BE49-F238E27FC236}">
                <a16:creationId xmlns:a16="http://schemas.microsoft.com/office/drawing/2014/main" id="{D8B37D0C-3077-D6B1-43EE-B61695475735}"/>
              </a:ext>
            </a:extLst>
          </p:cNvPr>
          <p:cNvSpPr txBox="1"/>
          <p:nvPr/>
        </p:nvSpPr>
        <p:spPr>
          <a:xfrm>
            <a:off x="4032739" y="130861"/>
            <a:ext cx="7776307" cy="830997"/>
          </a:xfrm>
          <a:prstGeom prst="rect">
            <a:avLst/>
          </a:prstGeom>
          <a:noFill/>
          <a:ln>
            <a:solidFill>
              <a:schemeClr val="tx1"/>
            </a:solidFill>
          </a:ln>
        </p:spPr>
        <p:txBody>
          <a:bodyPr wrap="square" rtlCol="0">
            <a:spAutoFit/>
          </a:bodyPr>
          <a:lstStyle/>
          <a:p>
            <a:r>
              <a:rPr lang="en-US" sz="1200" dirty="0"/>
              <a:t>This figure shows the coalition behaviors of Justices in </a:t>
            </a:r>
            <a:r>
              <a:rPr lang="en-US" sz="1200" u="sng" dirty="0"/>
              <a:t>non-unanimous</a:t>
            </a:r>
            <a:r>
              <a:rPr lang="en-US" sz="1200" dirty="0"/>
              <a:t> cases between the 2020 and 2024 terms. The </a:t>
            </a:r>
            <a:r>
              <a:rPr lang="en-US" sz="1200" dirty="0">
                <a:solidFill>
                  <a:schemeClr val="bg1"/>
                </a:solidFill>
                <a:highlight>
                  <a:srgbClr val="808080"/>
                </a:highlight>
              </a:rPr>
              <a:t>DARK GREY</a:t>
            </a:r>
            <a:r>
              <a:rPr lang="en-US" sz="1200" dirty="0">
                <a:solidFill>
                  <a:schemeClr val="bg1"/>
                </a:solidFill>
              </a:rPr>
              <a:t> </a:t>
            </a:r>
            <a:r>
              <a:rPr lang="en-US" sz="1200" dirty="0"/>
              <a:t>bars represent the percentage of cases where a Justice joined a coalition consisting of all the Justices appointed by a President of a different party. Alternatively, the </a:t>
            </a:r>
            <a:r>
              <a:rPr lang="en-US" sz="1200" b="1" dirty="0">
                <a:highlight>
                  <a:srgbClr val="C0C0C0"/>
                </a:highlight>
              </a:rPr>
              <a:t>LIGHT GREY</a:t>
            </a:r>
            <a:r>
              <a:rPr lang="en-US" sz="1200" dirty="0"/>
              <a:t> bars indicate the percentage of cases where a Justice was the lone dissenter from a coalition consisting of the remaining same-party appointees. </a:t>
            </a:r>
            <a:endParaRPr lang="en-US" sz="1200" dirty="0">
              <a:highlight>
                <a:srgbClr val="FFFF00"/>
              </a:highlight>
              <a:latin typeface="MULISH REGULAR ROMAN"/>
            </a:endParaRPr>
          </a:p>
        </p:txBody>
      </p:sp>
      <p:sp>
        <p:nvSpPr>
          <p:cNvPr id="6" name="Slide Number Placeholder 5">
            <a:extLst>
              <a:ext uri="{FF2B5EF4-FFF2-40B4-BE49-F238E27FC236}">
                <a16:creationId xmlns:a16="http://schemas.microsoft.com/office/drawing/2014/main" id="{8D5EE303-FE0A-1A83-4436-CD8EA6DF072D}"/>
              </a:ext>
            </a:extLst>
          </p:cNvPr>
          <p:cNvSpPr>
            <a:spLocks noGrp="1"/>
          </p:cNvSpPr>
          <p:nvPr>
            <p:ph type="sldNum" sz="quarter" idx="12"/>
          </p:nvPr>
        </p:nvSpPr>
        <p:spPr/>
        <p:txBody>
          <a:bodyPr/>
          <a:lstStyle/>
          <a:p>
            <a:fld id="{5E212BD6-99D2-4430-8307-3DFF6CB1AF68}" type="slidenum">
              <a:rPr lang="en-US" smtClean="0"/>
              <a:t>11</a:t>
            </a:fld>
            <a:endParaRPr lang="en-US"/>
          </a:p>
        </p:txBody>
      </p:sp>
      <p:sp>
        <p:nvSpPr>
          <p:cNvPr id="3" name="TextBox 2">
            <a:extLst>
              <a:ext uri="{FF2B5EF4-FFF2-40B4-BE49-F238E27FC236}">
                <a16:creationId xmlns:a16="http://schemas.microsoft.com/office/drawing/2014/main" id="{681B9AB2-8F52-F6F9-2F8E-1BA127D0C6A9}"/>
              </a:ext>
            </a:extLst>
          </p:cNvPr>
          <p:cNvSpPr txBox="1"/>
          <p:nvPr/>
        </p:nvSpPr>
        <p:spPr>
          <a:xfrm>
            <a:off x="9464869" y="1314369"/>
            <a:ext cx="2512627" cy="3793346"/>
          </a:xfrm>
          <a:prstGeom prst="rect">
            <a:avLst/>
          </a:prstGeom>
          <a:noFill/>
          <a:ln>
            <a:solidFill>
              <a:schemeClr val="tx1"/>
            </a:solidFill>
          </a:ln>
        </p:spPr>
        <p:txBody>
          <a:bodyPr wrap="square" rtlCol="0">
            <a:spAutoFit/>
          </a:bodyPr>
          <a:lstStyle/>
          <a:p>
            <a:r>
              <a:rPr lang="en-US" sz="1100" dirty="0">
                <a:solidFill>
                  <a:schemeClr val="bg1"/>
                </a:solidFill>
                <a:highlight>
                  <a:srgbClr val="808080"/>
                </a:highlight>
              </a:rPr>
              <a:t>DARK GREY</a:t>
            </a:r>
            <a:r>
              <a:rPr lang="en-US" sz="1100" dirty="0"/>
              <a:t> Ex(s): In approximately 38% of cases, Chief Justice Roberts and Justice Kavanaugh joined a coalition that also included all those appointed by Democratic presidents. Alternatively, Justice Breyer joined a coalition consisting of all the Republican appointees in 8.1% of cases. </a:t>
            </a:r>
            <a:br>
              <a:rPr lang="en-US" sz="1100" dirty="0"/>
            </a:br>
            <a:endParaRPr lang="en-US" sz="1100" b="1" i="1" dirty="0"/>
          </a:p>
          <a:p>
            <a:r>
              <a:rPr lang="en-US" sz="900" b="1" i="1" dirty="0"/>
              <a:t>Note</a:t>
            </a:r>
            <a:r>
              <a:rPr lang="en-US" sz="900" b="1" dirty="0"/>
              <a:t>:</a:t>
            </a:r>
            <a:r>
              <a:rPr lang="en-US" sz="900" dirty="0"/>
              <a:t> This does </a:t>
            </a:r>
            <a:r>
              <a:rPr lang="en-US" sz="900" u="sng" dirty="0"/>
              <a:t>not</a:t>
            </a:r>
            <a:r>
              <a:rPr lang="en-US" sz="900" dirty="0"/>
              <a:t> mean they were the lone Republican (Democratic) appointee(s) to do so in a particular case.</a:t>
            </a:r>
          </a:p>
          <a:p>
            <a:endParaRPr lang="en-US" sz="1100" b="1" dirty="0">
              <a:solidFill>
                <a:schemeClr val="bg1"/>
              </a:solidFill>
              <a:highlight>
                <a:srgbClr val="C0C0C0"/>
              </a:highlight>
            </a:endParaRPr>
          </a:p>
          <a:p>
            <a:endParaRPr lang="en-US" sz="1100" b="1" dirty="0">
              <a:solidFill>
                <a:schemeClr val="bg1"/>
              </a:solidFill>
              <a:highlight>
                <a:srgbClr val="C0C0C0"/>
              </a:highlight>
            </a:endParaRPr>
          </a:p>
          <a:p>
            <a:r>
              <a:rPr lang="en-US" sz="1100" b="1" dirty="0">
                <a:highlight>
                  <a:srgbClr val="C0C0C0"/>
                </a:highlight>
              </a:rPr>
              <a:t>LIGHT GREY</a:t>
            </a:r>
            <a:r>
              <a:rPr lang="en-US" sz="1100" dirty="0"/>
              <a:t> Ex(s):  In 2.5% of cases, Justice Roberts was the lone Republican appointee to break from a coalition consisting of the remaining Republican appointees. Justice Sotomayor was likewise the lone defector from a coalition consisting of all the remaining Democratic appointees in 4.4% of cases.</a:t>
            </a:r>
            <a:endParaRPr lang="en-US" sz="1100" dirty="0">
              <a:highlight>
                <a:srgbClr val="FFFF00"/>
              </a:highlight>
              <a:latin typeface="MULISH REGULAR ROMAN"/>
            </a:endParaRPr>
          </a:p>
        </p:txBody>
      </p:sp>
      <p:pic>
        <p:nvPicPr>
          <p:cNvPr id="8" name="Picture 7" descr="A group of people in suits&#10;&#10;AI-generated content may be incorrect.">
            <a:extLst>
              <a:ext uri="{FF2B5EF4-FFF2-40B4-BE49-F238E27FC236}">
                <a16:creationId xmlns:a16="http://schemas.microsoft.com/office/drawing/2014/main" id="{4BC48CA2-071B-5630-1F50-6679631804A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1107821"/>
            <a:ext cx="9144019" cy="5486411"/>
          </a:xfrm>
          <a:prstGeom prst="rect">
            <a:avLst/>
          </a:prstGeom>
        </p:spPr>
      </p:pic>
    </p:spTree>
    <p:extLst>
      <p:ext uri="{BB962C8B-B14F-4D97-AF65-F5344CB8AC3E}">
        <p14:creationId xmlns:p14="http://schemas.microsoft.com/office/powerpoint/2010/main" val="24904585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E9DBF-2E9B-A27F-93BF-CF63E383D85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ED80C4D-23BC-B727-258C-4820AED989C5}"/>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9">
            <a:extLst>
              <a:ext uri="{FF2B5EF4-FFF2-40B4-BE49-F238E27FC236}">
                <a16:creationId xmlns:a16="http://schemas.microsoft.com/office/drawing/2014/main" id="{11143281-96A2-98FE-8D69-E8A01B3D8277}"/>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32EB1118-ECF4-78AB-814C-C6975A3ED2F5}"/>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sp>
        <p:nvSpPr>
          <p:cNvPr id="5" name="Slide Number Placeholder 4">
            <a:extLst>
              <a:ext uri="{FF2B5EF4-FFF2-40B4-BE49-F238E27FC236}">
                <a16:creationId xmlns:a16="http://schemas.microsoft.com/office/drawing/2014/main" id="{D8D5BAB9-6CE6-E752-D512-07A58538C5D4}"/>
              </a:ext>
            </a:extLst>
          </p:cNvPr>
          <p:cNvSpPr>
            <a:spLocks noGrp="1"/>
          </p:cNvSpPr>
          <p:nvPr>
            <p:ph type="sldNum" sz="quarter" idx="12"/>
          </p:nvPr>
        </p:nvSpPr>
        <p:spPr/>
        <p:txBody>
          <a:bodyPr/>
          <a:lstStyle/>
          <a:p>
            <a:fld id="{5E212BD6-99D2-4430-8307-3DFF6CB1AF68}" type="slidenum">
              <a:rPr lang="en-US" smtClean="0"/>
              <a:t>12</a:t>
            </a:fld>
            <a:endParaRPr lang="en-US"/>
          </a:p>
        </p:txBody>
      </p:sp>
      <p:pic>
        <p:nvPicPr>
          <p:cNvPr id="4" name="Picture 3" descr="A group of people in a graph&#10;&#10;AI-generated content may be incorrect.">
            <a:extLst>
              <a:ext uri="{FF2B5EF4-FFF2-40B4-BE49-F238E27FC236}">
                <a16:creationId xmlns:a16="http://schemas.microsoft.com/office/drawing/2014/main" id="{FCF33C47-B987-063E-4EBE-971D06638F9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961854"/>
            <a:ext cx="7075373" cy="5896145"/>
          </a:xfrm>
          <a:prstGeom prst="rect">
            <a:avLst/>
          </a:prstGeom>
        </p:spPr>
      </p:pic>
    </p:spTree>
    <p:extLst>
      <p:ext uri="{BB962C8B-B14F-4D97-AF65-F5344CB8AC3E}">
        <p14:creationId xmlns:p14="http://schemas.microsoft.com/office/powerpoint/2010/main" val="11001373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91C96E-34A4-7367-D1CE-44B2946B07A3}"/>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sp>
        <p:nvSpPr>
          <p:cNvPr id="5" name="Slide Number Placeholder 4">
            <a:extLst>
              <a:ext uri="{FF2B5EF4-FFF2-40B4-BE49-F238E27FC236}">
                <a16:creationId xmlns:a16="http://schemas.microsoft.com/office/drawing/2014/main" id="{D97E5F8E-7018-BD8E-009F-8D51ED4CFDBE}"/>
              </a:ext>
            </a:extLst>
          </p:cNvPr>
          <p:cNvSpPr>
            <a:spLocks noGrp="1"/>
          </p:cNvSpPr>
          <p:nvPr>
            <p:ph type="sldNum" sz="quarter" idx="12"/>
          </p:nvPr>
        </p:nvSpPr>
        <p:spPr/>
        <p:txBody>
          <a:bodyPr/>
          <a:lstStyle/>
          <a:p>
            <a:fld id="{5E212BD6-99D2-4430-8307-3DFF6CB1AF68}" type="slidenum">
              <a:rPr lang="en-US" smtClean="0"/>
              <a:t>13</a:t>
            </a:fld>
            <a:endParaRPr lang="en-US"/>
          </a:p>
        </p:txBody>
      </p:sp>
      <p:pic>
        <p:nvPicPr>
          <p:cNvPr id="4" name="Picture 3" descr="A group of people in a graph&#10;&#10;AI-generated content may be incorrect.">
            <a:extLst>
              <a:ext uri="{FF2B5EF4-FFF2-40B4-BE49-F238E27FC236}">
                <a16:creationId xmlns:a16="http://schemas.microsoft.com/office/drawing/2014/main" id="{C364B88F-FBA3-1EB4-F741-1F1CCBB5691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961854"/>
            <a:ext cx="7075373" cy="5896145"/>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2796267052"/>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9-0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8.33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rgbClr val="000000"/>
                          </a:solidFill>
                          <a:effectLst/>
                          <a:latin typeface="MULISH BLACK ROMAN"/>
                        </a:rPr>
                        <a:t>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solidFill>
                      <a:srgbClr val="FFFFFF"/>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8.2</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8.75</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118713857"/>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67%</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2565891121"/>
              </p:ext>
            </p:extLst>
          </p:nvPr>
        </p:nvGraphicFramePr>
        <p:xfrm>
          <a:off x="4656537" y="4156187"/>
          <a:ext cx="6179914" cy="2513061"/>
        </p:xfrm>
        <a:graphic>
          <a:graphicData uri="http://schemas.openxmlformats.org/drawingml/2006/table">
            <a:tbl>
              <a:tblPr firstRow="1" bandRow="1">
                <a:tableStyleId>{C083E6E3-FA7D-4D7B-A595-EF9225AFEA82}</a:tableStyleId>
              </a:tblPr>
              <a:tblGrid>
                <a:gridCol w="1364897">
                  <a:extLst>
                    <a:ext uri="{9D8B030D-6E8A-4147-A177-3AD203B41FA5}">
                      <a16:colId xmlns:a16="http://schemas.microsoft.com/office/drawing/2014/main" val="20000"/>
                    </a:ext>
                  </a:extLst>
                </a:gridCol>
                <a:gridCol w="924970">
                  <a:extLst>
                    <a:ext uri="{9D8B030D-6E8A-4147-A177-3AD203B41FA5}">
                      <a16:colId xmlns:a16="http://schemas.microsoft.com/office/drawing/2014/main" val="20001"/>
                    </a:ext>
                  </a:extLst>
                </a:gridCol>
                <a:gridCol w="2864419">
                  <a:extLst>
                    <a:ext uri="{9D8B030D-6E8A-4147-A177-3AD203B41FA5}">
                      <a16:colId xmlns:a16="http://schemas.microsoft.com/office/drawing/2014/main" val="4268982242"/>
                    </a:ext>
                  </a:extLst>
                </a:gridCol>
                <a:gridCol w="1025628">
                  <a:extLst>
                    <a:ext uri="{9D8B030D-6E8A-4147-A177-3AD203B41FA5}">
                      <a16:colId xmlns:a16="http://schemas.microsoft.com/office/drawing/2014/main" val="914673701"/>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OT05-OT24</a:t>
                      </a: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38</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 Parrish, Zuch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3" name="Slide Number Placeholder 2">
            <a:extLst>
              <a:ext uri="{FF2B5EF4-FFF2-40B4-BE49-F238E27FC236}">
                <a16:creationId xmlns:a16="http://schemas.microsoft.com/office/drawing/2014/main" id="{63057870-EE7F-C86B-2CE1-B44847CF43D8}"/>
              </a:ext>
            </a:extLst>
          </p:cNvPr>
          <p:cNvSpPr>
            <a:spLocks noGrp="1"/>
          </p:cNvSpPr>
          <p:nvPr>
            <p:ph type="sldNum" sz="quarter" idx="12"/>
          </p:nvPr>
        </p:nvSpPr>
        <p:spPr/>
        <p:txBody>
          <a:bodyPr/>
          <a:lstStyle/>
          <a:p>
            <a:fld id="{5E212BD6-99D2-4430-8307-3DFF6CB1AF68}" type="slidenum">
              <a:rPr lang="en-US" smtClean="0"/>
              <a:t>14</a:t>
            </a:fld>
            <a:endParaRPr lang="en-US"/>
          </a:p>
        </p:txBody>
      </p:sp>
    </p:spTree>
    <p:extLst>
      <p:ext uri="{BB962C8B-B14F-4D97-AF65-F5344CB8AC3E}">
        <p14:creationId xmlns:p14="http://schemas.microsoft.com/office/powerpoint/2010/main" val="11040160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461665"/>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did not participate in an otherwise unanimous decision, we coded these as </a:t>
            </a:r>
            <a:r>
              <a:rPr lang="en-US" sz="1200" i="1" dirty="0">
                <a:latin typeface="MULISH REGULAR ROMAN"/>
              </a:rPr>
              <a:t>unanimous </a:t>
            </a:r>
            <a:r>
              <a:rPr lang="en-US" sz="1200" dirty="0">
                <a:latin typeface="MULISH REGULAR ROMAN"/>
              </a:rPr>
              <a:t>(e.g., 8-0 decisions were included in calculating 9-0 coalitions).</a:t>
            </a:r>
          </a:p>
        </p:txBody>
      </p:sp>
      <p:sp>
        <p:nvSpPr>
          <p:cNvPr id="5" name="Slide Number Placeholder 4">
            <a:extLst>
              <a:ext uri="{FF2B5EF4-FFF2-40B4-BE49-F238E27FC236}">
                <a16:creationId xmlns:a16="http://schemas.microsoft.com/office/drawing/2014/main" id="{4FD4F124-A6BF-9C4C-959E-1CD03893D301}"/>
              </a:ext>
            </a:extLst>
          </p:cNvPr>
          <p:cNvSpPr>
            <a:spLocks noGrp="1"/>
          </p:cNvSpPr>
          <p:nvPr>
            <p:ph type="sldNum" sz="quarter" idx="12"/>
          </p:nvPr>
        </p:nvSpPr>
        <p:spPr/>
        <p:txBody>
          <a:bodyPr/>
          <a:lstStyle/>
          <a:p>
            <a:fld id="{5E212BD6-99D2-4430-8307-3DFF6CB1AF68}" type="slidenum">
              <a:rPr lang="en-US" smtClean="0"/>
              <a:t>15</a:t>
            </a:fld>
            <a:endParaRPr lang="en-US"/>
          </a:p>
        </p:txBody>
      </p:sp>
      <p:pic>
        <p:nvPicPr>
          <p:cNvPr id="11" name="Picture 10" descr="A diagram of a pie chart&#10;&#10;AI-generated content may be incorrect.">
            <a:extLst>
              <a:ext uri="{FF2B5EF4-FFF2-40B4-BE49-F238E27FC236}">
                <a16:creationId xmlns:a16="http://schemas.microsoft.com/office/drawing/2014/main" id="{E5C7F085-0C41-F458-27E9-B80D994437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 y="0"/>
            <a:ext cx="120015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12" name="Title 9">
            <a:extLst>
              <a:ext uri="{FF2B5EF4-FFF2-40B4-BE49-F238E27FC236}">
                <a16:creationId xmlns:a16="http://schemas.microsoft.com/office/drawing/2014/main" id="{8A08EC0C-6929-4371-9A49-BE164F8FC8CE}"/>
              </a:ext>
            </a:extLst>
          </p:cNvPr>
          <p:cNvSpPr txBox="1">
            <a:spLocks/>
          </p:cNvSpPr>
          <p:nvPr/>
        </p:nvSpPr>
        <p:spPr>
          <a:xfrm>
            <a:off x="320849" y="128592"/>
            <a:ext cx="11662603"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sp>
        <p:nvSpPr>
          <p:cNvPr id="6" name="Slide Number Placeholder 5">
            <a:extLst>
              <a:ext uri="{FF2B5EF4-FFF2-40B4-BE49-F238E27FC236}">
                <a16:creationId xmlns:a16="http://schemas.microsoft.com/office/drawing/2014/main" id="{73020708-ECC4-2053-1AFC-E1BA9D99BACD}"/>
              </a:ext>
            </a:extLst>
          </p:cNvPr>
          <p:cNvSpPr>
            <a:spLocks noGrp="1"/>
          </p:cNvSpPr>
          <p:nvPr>
            <p:ph type="sldNum" sz="quarter" idx="12"/>
          </p:nvPr>
        </p:nvSpPr>
        <p:spPr/>
        <p:txBody>
          <a:bodyPr/>
          <a:lstStyle/>
          <a:p>
            <a:fld id="{5E212BD6-99D2-4430-8307-3DFF6CB1AF68}" type="slidenum">
              <a:rPr lang="en-US" smtClean="0"/>
              <a:t>16</a:t>
            </a:fld>
            <a:endParaRPr lang="en-US"/>
          </a:p>
        </p:txBody>
      </p:sp>
      <p:pic>
        <p:nvPicPr>
          <p:cNvPr id="8" name="Picture 7" descr="A diagram of a pie chart&#10;&#10;AI-generated content may be incorrect.">
            <a:extLst>
              <a:ext uri="{FF2B5EF4-FFF2-40B4-BE49-F238E27FC236}">
                <a16:creationId xmlns:a16="http://schemas.microsoft.com/office/drawing/2014/main" id="{FF962F73-0E2C-09A7-9FD9-564FB515815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33D0D-2475-9ED6-10D5-33229B4F7CF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0111935-5CCF-3164-7956-FE2B732E2171}"/>
              </a:ext>
            </a:extLst>
          </p:cNvPr>
          <p:cNvSpPr>
            <a:spLocks noGrp="1" noRot="1" noMove="1" noResize="1" noEditPoints="1" noAdjustHandles="1" noChangeArrowheads="1" noChangeShapeType="1"/>
          </p:cNvSpPr>
          <p:nvPr/>
        </p:nvSpPr>
        <p:spPr>
          <a:xfrm>
            <a:off x="1874920" y="1060165"/>
            <a:ext cx="8684856" cy="5789904"/>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9">
            <a:extLst>
              <a:ext uri="{FF2B5EF4-FFF2-40B4-BE49-F238E27FC236}">
                <a16:creationId xmlns:a16="http://schemas.microsoft.com/office/drawing/2014/main" id="{845D2ED7-884E-246F-F6DD-316909A50224}"/>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JUDICIAL REVIEW</a:t>
            </a:r>
          </a:p>
        </p:txBody>
      </p:sp>
      <p:sp>
        <p:nvSpPr>
          <p:cNvPr id="6" name="TextBox 5">
            <a:extLst>
              <a:ext uri="{FF2B5EF4-FFF2-40B4-BE49-F238E27FC236}">
                <a16:creationId xmlns:a16="http://schemas.microsoft.com/office/drawing/2014/main" id="{05B716E9-4B3F-CFA9-4CAB-8AAC44867806}"/>
              </a:ext>
            </a:extLst>
          </p:cNvPr>
          <p:cNvSpPr txBox="1"/>
          <p:nvPr/>
        </p:nvSpPr>
        <p:spPr>
          <a:xfrm>
            <a:off x="3958401" y="130861"/>
            <a:ext cx="7912749" cy="830997"/>
          </a:xfrm>
          <a:prstGeom prst="rect">
            <a:avLst/>
          </a:prstGeom>
          <a:noFill/>
          <a:ln>
            <a:solidFill>
              <a:schemeClr val="tx1"/>
            </a:solidFill>
          </a:ln>
        </p:spPr>
        <p:txBody>
          <a:bodyPr wrap="square" rtlCol="0">
            <a:spAutoFit/>
          </a:bodyPr>
          <a:lstStyle/>
          <a:p>
            <a:r>
              <a:rPr lang="en-US" sz="1200" dirty="0"/>
              <a:t>The top figures show the volume of cases between the 1986 and 2024 terms where (i) an existing precedent was altered (and) or (ii) the Court declared a federal, state, or municipal law or act unconstitutional. Alternatively, the bottom illustrates the total number of cases decided by the Court during those terms – including those decided without oral arguments. The colors represent the distinction between the periods where William Rehnquist or John Roberts serve as Chief Justice.  </a:t>
            </a:r>
            <a:endParaRPr lang="en-US" sz="1200" dirty="0">
              <a:latin typeface="MULISH REGULAR ROMAN"/>
            </a:endParaRPr>
          </a:p>
        </p:txBody>
      </p:sp>
      <p:sp>
        <p:nvSpPr>
          <p:cNvPr id="5" name="Slide Number Placeholder 4">
            <a:extLst>
              <a:ext uri="{FF2B5EF4-FFF2-40B4-BE49-F238E27FC236}">
                <a16:creationId xmlns:a16="http://schemas.microsoft.com/office/drawing/2014/main" id="{70464E93-9C16-5AB8-19AF-43670B2F9D05}"/>
              </a:ext>
            </a:extLst>
          </p:cNvPr>
          <p:cNvSpPr>
            <a:spLocks noGrp="1"/>
          </p:cNvSpPr>
          <p:nvPr>
            <p:ph type="sldNum" sz="quarter" idx="12"/>
          </p:nvPr>
        </p:nvSpPr>
        <p:spPr/>
        <p:txBody>
          <a:bodyPr/>
          <a:lstStyle/>
          <a:p>
            <a:fld id="{5E212BD6-99D2-4430-8307-3DFF6CB1AF68}" type="slidenum">
              <a:rPr lang="en-US" smtClean="0"/>
              <a:t>17</a:t>
            </a:fld>
            <a:endParaRPr lang="en-US"/>
          </a:p>
        </p:txBody>
      </p:sp>
      <p:pic>
        <p:nvPicPr>
          <p:cNvPr id="4" name="Picture 3" descr="Several different types of graphs&#10;&#10;AI-generated content may be incorrect.">
            <a:extLst>
              <a:ext uri="{FF2B5EF4-FFF2-40B4-BE49-F238E27FC236}">
                <a16:creationId xmlns:a16="http://schemas.microsoft.com/office/drawing/2014/main" id="{EBDF3045-E175-1FDF-407B-9D7EEF8D896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874920" y="1068096"/>
            <a:ext cx="8684856" cy="5789904"/>
          </a:xfrm>
          <a:prstGeom prst="rect">
            <a:avLst/>
          </a:prstGeom>
        </p:spPr>
      </p:pic>
    </p:spTree>
    <p:extLst>
      <p:ext uri="{BB962C8B-B14F-4D97-AF65-F5344CB8AC3E}">
        <p14:creationId xmlns:p14="http://schemas.microsoft.com/office/powerpoint/2010/main" val="40259217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1ADE8-1AB5-A888-B8A7-341D95B43CBB}"/>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EFBDF338-444A-A00C-DA93-E1A5F1C07D6F}"/>
              </a:ext>
            </a:extLst>
          </p:cNvPr>
          <p:cNvGraphicFramePr>
            <a:graphicFrameLocks noGrp="1"/>
          </p:cNvGraphicFramePr>
          <p:nvPr>
            <p:ph idx="1"/>
            <p:extLst>
              <p:ext uri="{D42A27DB-BD31-4B8C-83A1-F6EECF244321}">
                <p14:modId xmlns:p14="http://schemas.microsoft.com/office/powerpoint/2010/main" val="2693726279"/>
              </p:ext>
            </p:extLst>
          </p:nvPr>
        </p:nvGraphicFramePr>
        <p:xfrm>
          <a:off x="320850" y="845389"/>
          <a:ext cx="11538585" cy="1920004"/>
        </p:xfrm>
        <a:graphic>
          <a:graphicData uri="http://schemas.openxmlformats.org/drawingml/2006/table">
            <a:tbl>
              <a:tblPr firstRow="1" bandRow="1">
                <a:tableStyleId>{F5AB1C69-6EDB-4FF4-983F-18BD219EF322}</a:tableStyleId>
              </a:tblPr>
              <a:tblGrid>
                <a:gridCol w="4669544">
                  <a:extLst>
                    <a:ext uri="{9D8B030D-6E8A-4147-A177-3AD203B41FA5}">
                      <a16:colId xmlns:a16="http://schemas.microsoft.com/office/drawing/2014/main" val="20000"/>
                    </a:ext>
                  </a:extLst>
                </a:gridCol>
                <a:gridCol w="1533236">
                  <a:extLst>
                    <a:ext uri="{9D8B030D-6E8A-4147-A177-3AD203B41FA5}">
                      <a16:colId xmlns:a16="http://schemas.microsoft.com/office/drawing/2014/main" val="20001"/>
                    </a:ext>
                  </a:extLst>
                </a:gridCol>
                <a:gridCol w="5335805">
                  <a:extLst>
                    <a:ext uri="{9D8B030D-6E8A-4147-A177-3AD203B41FA5}">
                      <a16:colId xmlns:a16="http://schemas.microsoft.com/office/drawing/2014/main" val="20002"/>
                    </a:ext>
                  </a:extLst>
                </a:gridCol>
              </a:tblGrid>
              <a:tr h="257552">
                <a:tc gridSpan="3">
                  <a:txBody>
                    <a:bodyPr/>
                    <a:lstStyle/>
                    <a:p>
                      <a:pPr algn="ctr" fontAlgn="b"/>
                      <a:r>
                        <a:rPr lang="en-US" sz="1600" b="1" u="none" strike="noStrike" dirty="0">
                          <a:solidFill>
                            <a:schemeClr val="tx1"/>
                          </a:solidFill>
                          <a:effectLst/>
                          <a:latin typeface="MULISH REGULAR ROMAN"/>
                        </a:rPr>
                        <a:t>Alignment of the Majority (OT24)</a:t>
                      </a:r>
                      <a:endParaRPr lang="en-US" sz="1600" b="1" i="0" u="none" strike="noStrike" dirty="0">
                        <a:solidFill>
                          <a:schemeClr val="tx1"/>
                        </a:solidFill>
                        <a:effectLst/>
                        <a:latin typeface="MULISH REGULAR ROMAN"/>
                      </a:endParaRPr>
                    </a:p>
                  </a:txBody>
                  <a:tcPr marL="5672" marR="5672" marT="5672"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hMerge="1">
                  <a:txBody>
                    <a:bodyPr/>
                    <a:lstStyle/>
                    <a:p>
                      <a:endParaRPr lang="en-US"/>
                    </a:p>
                  </a:txBody>
                  <a:tcPr marL="5672" marR="5672" marT="5672" marB="0" anchor="b"/>
                </a:tc>
                <a:tc hMerge="1">
                  <a:txBody>
                    <a:bodyPr/>
                    <a:lstStyle/>
                    <a:p>
                      <a:endParaRPr lang="en-US"/>
                    </a:p>
                  </a:txBody>
                  <a:tcPr marL="5672" marR="5672" marT="5672" marB="0" anchor="b"/>
                </a:tc>
                <a:extLst>
                  <a:ext uri="{0D108BD9-81ED-4DB2-BD59-A6C34878D82A}">
                    <a16:rowId xmlns:a16="http://schemas.microsoft.com/office/drawing/2014/main" val="10000"/>
                  </a:ext>
                </a:extLst>
              </a:tr>
              <a:tr h="251606">
                <a:tc>
                  <a:txBody>
                    <a:bodyPr/>
                    <a:lstStyle/>
                    <a:p>
                      <a:pPr algn="ctr" fontAlgn="b"/>
                      <a:r>
                        <a:rPr lang="en-US" sz="1200" b="1" u="none" strike="noStrike" dirty="0">
                          <a:effectLst/>
                          <a:latin typeface="MULISH REGULAR ROMAN"/>
                        </a:rPr>
                        <a:t>Majority Coalition</a:t>
                      </a:r>
                      <a:endParaRPr lang="en-US" sz="1200" b="1"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1" u="none" strike="noStrike" dirty="0">
                          <a:solidFill>
                            <a:srgbClr val="000000"/>
                          </a:solidFill>
                          <a:effectLst/>
                          <a:latin typeface="MULISH REGULAR ROMAN"/>
                        </a:rPr>
                        <a:t>Frequency</a:t>
                      </a:r>
                      <a:endParaRPr lang="en-US" sz="1200" b="1" i="0" u="none" strike="noStrike" dirty="0">
                        <a:solidFill>
                          <a:srgbClr val="000000"/>
                        </a:solidFill>
                        <a:effectLst/>
                        <a:latin typeface="MULISH REGULAR ROMAN"/>
                      </a:endParaRPr>
                    </a:p>
                  </a:txBody>
                  <a:tcPr marR="5672" marT="5672" marB="0" anchor="ctr"/>
                </a:tc>
                <a:tc>
                  <a:txBody>
                    <a:bodyPr/>
                    <a:lstStyle/>
                    <a:p>
                      <a:pPr algn="ctr" fontAlgn="b"/>
                      <a:r>
                        <a:rPr lang="en-US" sz="1200" b="1" u="none" strike="noStrike" dirty="0">
                          <a:effectLst/>
                          <a:latin typeface="MULISH REGULAR ROMAN"/>
                        </a:rPr>
                        <a:t>Cases</a:t>
                      </a:r>
                      <a:endParaRPr lang="en-US" sz="1200" b="1" i="0"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374476">
                <a:tc>
                  <a:txBody>
                    <a:bodyPr/>
                    <a:lstStyle/>
                    <a:p>
                      <a:pPr algn="l" fontAlgn="b"/>
                      <a:r>
                        <a:rPr lang="en-US" sz="1200" dirty="0">
                          <a:effectLst/>
                          <a:latin typeface="MULISH REGULAR ROMAN"/>
                        </a:rPr>
                        <a:t>Roberts, Alito, Thomas, Sotomayor, Kagan,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3</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Miller, Parish, Zuch</a:t>
                      </a:r>
                      <a:endParaRPr lang="en-US" altLang="de-DE" sz="1200" b="0" i="1"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374476">
                <a:tc>
                  <a:txBody>
                    <a:bodyPr/>
                    <a:lstStyle/>
                    <a:p>
                      <a:pPr algn="l" fontAlgn="b"/>
                      <a:r>
                        <a:rPr lang="en-US" sz="1200" dirty="0">
                          <a:effectLst/>
                        </a:rPr>
                        <a:t>Roberts, Alito, Thomas, Kagan, Gorsuch,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2</a:t>
                      </a:r>
                    </a:p>
                  </a:txBody>
                  <a:tcPr marR="5672" marT="5672" marB="0" anchor="ctr"/>
                </a:tc>
                <a:tc>
                  <a:txBody>
                    <a:bodyPr/>
                    <a:lstStyle/>
                    <a:p>
                      <a:pPr algn="l" fontAlgn="b"/>
                      <a:r>
                        <a:rPr lang="en-US" altLang="de-DE" sz="1200" b="0" i="1" u="none" strike="noStrike" dirty="0">
                          <a:solidFill>
                            <a:srgbClr val="000000"/>
                          </a:solidFill>
                          <a:effectLst/>
                          <a:latin typeface="MULISH REGULAR ROMAN"/>
                        </a:rPr>
                        <a:t>Lackey; Advocate Christ Medical</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38856231"/>
                  </a:ext>
                </a:extLst>
              </a:tr>
              <a:tr h="330947">
                <a:tc>
                  <a:txBody>
                    <a:bodyPr/>
                    <a:lstStyle/>
                    <a:p>
                      <a:pPr algn="l" fontAlgn="b"/>
                      <a:r>
                        <a:rPr lang="en-US" sz="1200" dirty="0">
                          <a:effectLst/>
                          <a:latin typeface="MULISH REGULAR ROMAN"/>
                        </a:rPr>
                        <a:t>Roberts, Alito, Thomas, Sotomayor, Kagan,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Bufkin, Delligatti</a:t>
                      </a:r>
                      <a:endParaRPr lang="en-US" altLang="de-DE" sz="1200" b="0" i="1"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330947">
                <a:tc>
                  <a:txBody>
                    <a:bodyPr/>
                    <a:lstStyle/>
                    <a:p>
                      <a:pPr algn="l" fontAlgn="b">
                        <a:buNone/>
                      </a:pPr>
                      <a:r>
                        <a:rPr lang="en-US" sz="1200" dirty="0">
                          <a:effectLst/>
                          <a:latin typeface="MULISH REGULAR ROMAN"/>
                        </a:rPr>
                        <a:t>Roberts, Sotomayor, Kagan, Gorsuch, Kavanaugh, Barrett, Jackson</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buNone/>
                      </a:pPr>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buNone/>
                      </a:pPr>
                      <a:r>
                        <a:rPr lang="en-US" sz="1200" b="0" i="1" u="none" strike="noStrike" dirty="0">
                          <a:solidFill>
                            <a:srgbClr val="000000"/>
                          </a:solidFill>
                          <a:effectLst/>
                          <a:latin typeface="MULISH REGULAR ROMAN"/>
                        </a:rPr>
                        <a:t>Vanderstok, A.A.R.P v. Trump</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bl>
          </a:graphicData>
        </a:graphic>
      </p:graphicFrame>
      <p:graphicFrame>
        <p:nvGraphicFramePr>
          <p:cNvPr id="7" name="Table 6">
            <a:extLst>
              <a:ext uri="{FF2B5EF4-FFF2-40B4-BE49-F238E27FC236}">
                <a16:creationId xmlns:a16="http://schemas.microsoft.com/office/drawing/2014/main" id="{7384F9A6-BEA8-460B-7EDC-9C7C0EF7552F}"/>
              </a:ext>
            </a:extLst>
          </p:cNvPr>
          <p:cNvGraphicFramePr>
            <a:graphicFrameLocks noGrp="1"/>
          </p:cNvGraphicFramePr>
          <p:nvPr>
            <p:extLst>
              <p:ext uri="{D42A27DB-BD31-4B8C-83A1-F6EECF244321}">
                <p14:modId xmlns:p14="http://schemas.microsoft.com/office/powerpoint/2010/main" val="4143528756"/>
              </p:ext>
            </p:extLst>
          </p:nvPr>
        </p:nvGraphicFramePr>
        <p:xfrm>
          <a:off x="327329" y="2765393"/>
          <a:ext cx="11538586" cy="3515395"/>
        </p:xfrm>
        <a:graphic>
          <a:graphicData uri="http://schemas.openxmlformats.org/drawingml/2006/table">
            <a:tbl>
              <a:tblPr firstRow="1" bandRow="1">
                <a:tableStyleId>{F5AB1C69-6EDB-4FF4-983F-18BD219EF322}</a:tableStyleId>
              </a:tblPr>
              <a:tblGrid>
                <a:gridCol w="1288093">
                  <a:extLst>
                    <a:ext uri="{9D8B030D-6E8A-4147-A177-3AD203B41FA5}">
                      <a16:colId xmlns:a16="http://schemas.microsoft.com/office/drawing/2014/main" val="20000"/>
                    </a:ext>
                  </a:extLst>
                </a:gridCol>
                <a:gridCol w="2905022">
                  <a:extLst>
                    <a:ext uri="{9D8B030D-6E8A-4147-A177-3AD203B41FA5}">
                      <a16:colId xmlns:a16="http://schemas.microsoft.com/office/drawing/2014/main" val="20001"/>
                    </a:ext>
                  </a:extLst>
                </a:gridCol>
                <a:gridCol w="2760893">
                  <a:extLst>
                    <a:ext uri="{9D8B030D-6E8A-4147-A177-3AD203B41FA5}">
                      <a16:colId xmlns:a16="http://schemas.microsoft.com/office/drawing/2014/main" val="20002"/>
                    </a:ext>
                  </a:extLst>
                </a:gridCol>
                <a:gridCol w="2318003">
                  <a:extLst>
                    <a:ext uri="{9D8B030D-6E8A-4147-A177-3AD203B41FA5}">
                      <a16:colId xmlns:a16="http://schemas.microsoft.com/office/drawing/2014/main" val="20003"/>
                    </a:ext>
                  </a:extLst>
                </a:gridCol>
                <a:gridCol w="2266575">
                  <a:extLst>
                    <a:ext uri="{9D8B030D-6E8A-4147-A177-3AD203B41FA5}">
                      <a16:colId xmlns:a16="http://schemas.microsoft.com/office/drawing/2014/main" val="20006"/>
                    </a:ext>
                  </a:extLst>
                </a:gridCol>
              </a:tblGrid>
              <a:tr h="610067">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Term</a:t>
                      </a:r>
                      <a:endParaRPr lang="en-US" sz="1200" b="1" i="0" u="none" strike="noStrike" dirty="0">
                        <a:solidFill>
                          <a:schemeClr val="tx1"/>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Cases Decided by</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5 </a:t>
                      </a:r>
                      <a:r>
                        <a:rPr lang="en-US" sz="1200" b="1" u="sng" strike="noStrike" dirty="0">
                          <a:solidFill>
                            <a:schemeClr val="tx1"/>
                          </a:solidFill>
                          <a:effectLst/>
                          <a:latin typeface="MULISH REGULAR ROMAN"/>
                        </a:rPr>
                        <a:t>or</a:t>
                      </a:r>
                      <a:r>
                        <a:rPr lang="en-US" sz="1200" b="1" u="none" strike="noStrike" dirty="0">
                          <a:solidFill>
                            <a:schemeClr val="tx1"/>
                          </a:solidFill>
                          <a:effectLst/>
                          <a:latin typeface="MULISH REGULAR ROMAN"/>
                        </a:rPr>
                        <a:t> 6-Justice Majorities</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of </a:t>
                      </a:r>
                    </a:p>
                    <a:p>
                      <a:pPr algn="ctr" fontAlgn="b"/>
                      <a:r>
                        <a:rPr lang="en-US" sz="1200" b="1" u="none" strike="noStrike" dirty="0">
                          <a:solidFill>
                            <a:schemeClr val="tx1"/>
                          </a:solidFill>
                          <a:effectLst/>
                          <a:latin typeface="MULISH REGULAR ROMAN"/>
                        </a:rPr>
                        <a:t>Total Cases in Term</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Decided w/ </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Ideological Split</a:t>
                      </a:r>
                      <a:r>
                        <a:rPr lang="en-US" sz="1050" b="1" u="none" strike="noStrike" dirty="0">
                          <a:solidFill>
                            <a:schemeClr val="tx1"/>
                          </a:solidFill>
                          <a:effectLst/>
                          <a:latin typeface="MULISH REGULAR ROMAN"/>
                        </a:rPr>
                        <a:t>*</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Number of</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 Different Majority Coalitions</a:t>
                      </a:r>
                      <a:endParaRPr lang="en-US" sz="1200" b="1" i="0" u="none" strike="noStrike" dirty="0">
                        <a:solidFill>
                          <a:schemeClr val="tx1"/>
                        </a:solidFill>
                        <a:effectLst/>
                        <a:latin typeface="MULISH REGULAR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23</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OT15</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6"/>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OT16</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7"/>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OT17</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8"/>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OT18</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9"/>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OT19</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4"/>
                  </a:ext>
                </a:extLst>
              </a:tr>
              <a:tr h="181583">
                <a:tc>
                  <a:txBody>
                    <a:bodyPr/>
                    <a:lstStyle/>
                    <a:p>
                      <a:pPr algn="ctr" fontAlgn="b">
                        <a:buNone/>
                      </a:pPr>
                      <a:r>
                        <a:rPr lang="en-US" sz="1100" b="1" u="none" strike="noStrike" dirty="0">
                          <a:solidFill>
                            <a:srgbClr val="000000"/>
                          </a:solidFill>
                          <a:effectLst/>
                          <a:latin typeface="MULISH REGULAR ROMAN"/>
                        </a:rPr>
                        <a:t>OT24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p>
                      <a:pPr algn="ctr" fontAlgn="b">
                        <a:buNone/>
                      </a:pPr>
                      <a:r>
                        <a:rPr lang="en-US" sz="1100" b="0" i="0" u="none" strike="noStrike" dirty="0">
                          <a:solidFill>
                            <a:srgbClr val="000000"/>
                          </a:solidFill>
                          <a:effectLst/>
                          <a:latin typeface="MULISH REGULAR ROMAN"/>
                        </a:rPr>
                        <a:t>7</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15%</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0%</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MULISH REGULAR ROMAN"/>
                        </a:rPr>
                        <a:t>Average</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24.46</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34.8</a:t>
                      </a:r>
                      <a:r>
                        <a:rPr lang="en-US" sz="1100" b="1" i="0" u="none" strike="noStrike" dirty="0">
                          <a:solidFill>
                            <a:srgbClr val="000000"/>
                          </a:solidFill>
                          <a:effectLst/>
                          <a:latin typeface="MULISH REGULAR ROMAN"/>
                        </a:rPr>
                        <a:t>%</a:t>
                      </a:r>
                      <a:endParaRPr lang="en-US" sz="1100" b="1" i="0" u="none" strike="noStrike" dirty="0">
                        <a:solidFill>
                          <a:schemeClr val="tx1"/>
                        </a:solidFill>
                        <a:effectLst/>
                        <a:latin typeface="MULISH REGULAR ROMAN"/>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11.4%</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23.5</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6"/>
                  </a:ext>
                </a:extLst>
              </a:tr>
            </a:tbl>
          </a:graphicData>
        </a:graphic>
      </p:graphicFrame>
      <p:sp>
        <p:nvSpPr>
          <p:cNvPr id="3" name="Title 9">
            <a:extLst>
              <a:ext uri="{FF2B5EF4-FFF2-40B4-BE49-F238E27FC236}">
                <a16:creationId xmlns:a16="http://schemas.microsoft.com/office/drawing/2014/main" id="{24742AD3-722B-E682-FD6B-65ED18299FA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COALITION ALIGNMENTS</a:t>
            </a:r>
          </a:p>
        </p:txBody>
      </p:sp>
      <p:sp>
        <p:nvSpPr>
          <p:cNvPr id="6" name="Slide Number Placeholder 5">
            <a:extLst>
              <a:ext uri="{FF2B5EF4-FFF2-40B4-BE49-F238E27FC236}">
                <a16:creationId xmlns:a16="http://schemas.microsoft.com/office/drawing/2014/main" id="{6F917167-D351-D9FE-0CDF-BD9E92B3FF87}"/>
              </a:ext>
            </a:extLst>
          </p:cNvPr>
          <p:cNvSpPr>
            <a:spLocks noGrp="1"/>
          </p:cNvSpPr>
          <p:nvPr>
            <p:ph type="sldNum" sz="quarter" idx="12"/>
          </p:nvPr>
        </p:nvSpPr>
        <p:spPr/>
        <p:txBody>
          <a:bodyPr/>
          <a:lstStyle/>
          <a:p>
            <a:fld id="{5E212BD6-99D2-4430-8307-3DFF6CB1AF68}" type="slidenum">
              <a:rPr lang="en-US" smtClean="0"/>
              <a:t>18</a:t>
            </a:fld>
            <a:endParaRPr lang="en-US" dirty="0"/>
          </a:p>
        </p:txBody>
      </p:sp>
      <p:sp>
        <p:nvSpPr>
          <p:cNvPr id="9" name="TextBox 8">
            <a:extLst>
              <a:ext uri="{FF2B5EF4-FFF2-40B4-BE49-F238E27FC236}">
                <a16:creationId xmlns:a16="http://schemas.microsoft.com/office/drawing/2014/main" id="{610E4D12-C6EA-6236-4D21-152B25F48D98}"/>
              </a:ext>
            </a:extLst>
          </p:cNvPr>
          <p:cNvSpPr txBox="1"/>
          <p:nvPr/>
        </p:nvSpPr>
        <p:spPr>
          <a:xfrm>
            <a:off x="5788324" y="186909"/>
            <a:ext cx="6071111" cy="553998"/>
          </a:xfrm>
          <a:prstGeom prst="rect">
            <a:avLst/>
          </a:prstGeom>
          <a:noFill/>
          <a:ln>
            <a:solidFill>
              <a:schemeClr val="tx1"/>
            </a:solidFill>
          </a:ln>
        </p:spPr>
        <p:txBody>
          <a:bodyPr wrap="square">
            <a:spAutoFit/>
          </a:bodyPr>
          <a:lstStyle/>
          <a:p>
            <a:r>
              <a:rPr lang="en-US" sz="1000" b="0" u="none" strike="noStrike" dirty="0">
                <a:solidFill>
                  <a:srgbClr val="000000"/>
                </a:solidFill>
                <a:effectLst/>
                <a:latin typeface="MULISH REGULAR ROMAN"/>
              </a:rPr>
              <a:t>* Ideological splits represent instances where Justices representing divergent ideological orientations (i.e., </a:t>
            </a:r>
            <a:r>
              <a:rPr lang="en-US" sz="1000" b="0" i="1" u="none" strike="noStrike" dirty="0">
                <a:solidFill>
                  <a:srgbClr val="000000"/>
                </a:solidFill>
                <a:effectLst/>
                <a:latin typeface="MULISH REGULAR ROMAN"/>
              </a:rPr>
              <a:t>Liberal or Conservative</a:t>
            </a:r>
            <a:r>
              <a:rPr lang="en-US" sz="1000" b="0" i="0" u="none" strike="noStrike" dirty="0">
                <a:solidFill>
                  <a:srgbClr val="000000"/>
                </a:solidFill>
                <a:effectLst/>
                <a:latin typeface="MULISH REGULAR ROMAN"/>
              </a:rPr>
              <a:t>) according to </a:t>
            </a:r>
            <a:r>
              <a:rPr lang="en-US" sz="1000" dirty="0">
                <a:latin typeface="MULISH REGULAR ROMAN"/>
              </a:rPr>
              <a:t> </a:t>
            </a:r>
            <a:r>
              <a:rPr lang="en-US" sz="1000" dirty="0">
                <a:latin typeface="MULISH REGULAR ROMAN"/>
                <a:hlinkClick r:id="rId3"/>
              </a:rPr>
              <a:t>Martin-Quinn</a:t>
            </a:r>
            <a:r>
              <a:rPr lang="en-US" sz="1000" dirty="0">
                <a:latin typeface="MULISH REGULAR ROMAN"/>
              </a:rPr>
              <a:t> populate the Majority and Dissenting Coalitions</a:t>
            </a:r>
            <a:r>
              <a:rPr lang="en-US" sz="1000" b="0" i="0" u="none" strike="noStrike" dirty="0">
                <a:solidFill>
                  <a:srgbClr val="000000"/>
                </a:solidFill>
                <a:effectLst/>
                <a:latin typeface="MULISH REGULAR ROMAN"/>
              </a:rPr>
              <a:t>. For OT10-OT19, this represents a (5-4) all-Conservative majority – Since OT20, this represents an all-Conservative (6-3) majority. </a:t>
            </a:r>
            <a:endParaRPr lang="en-US" sz="1000" dirty="0"/>
          </a:p>
        </p:txBody>
      </p:sp>
    </p:spTree>
    <p:extLst>
      <p:ext uri="{BB962C8B-B14F-4D97-AF65-F5344CB8AC3E}">
        <p14:creationId xmlns:p14="http://schemas.microsoft.com/office/powerpoint/2010/main" val="26075269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3858234815"/>
              </p:ext>
            </p:extLst>
          </p:nvPr>
        </p:nvGraphicFramePr>
        <p:xfrm>
          <a:off x="344808" y="918414"/>
          <a:ext cx="11135992" cy="5107248"/>
        </p:xfrm>
        <a:graphic>
          <a:graphicData uri="http://schemas.openxmlformats.org/drawingml/2006/table">
            <a:tbl>
              <a:tblPr firstRow="1" bandRow="1">
                <a:tableStyleId>{C083E6E3-FA7D-4D7B-A595-EF9225AFEA82}</a:tableStyleId>
              </a:tblPr>
              <a:tblGrid>
                <a:gridCol w="1391999">
                  <a:extLst>
                    <a:ext uri="{9D8B030D-6E8A-4147-A177-3AD203B41FA5}">
                      <a16:colId xmlns:a16="http://schemas.microsoft.com/office/drawing/2014/main" val="20000"/>
                    </a:ext>
                  </a:extLst>
                </a:gridCol>
                <a:gridCol w="1391999">
                  <a:extLst>
                    <a:ext uri="{9D8B030D-6E8A-4147-A177-3AD203B41FA5}">
                      <a16:colId xmlns:a16="http://schemas.microsoft.com/office/drawing/2014/main" val="20001"/>
                    </a:ext>
                  </a:extLst>
                </a:gridCol>
                <a:gridCol w="1391999">
                  <a:extLst>
                    <a:ext uri="{9D8B030D-6E8A-4147-A177-3AD203B41FA5}">
                      <a16:colId xmlns:a16="http://schemas.microsoft.com/office/drawing/2014/main" val="20002"/>
                    </a:ext>
                  </a:extLst>
                </a:gridCol>
                <a:gridCol w="1391999">
                  <a:extLst>
                    <a:ext uri="{9D8B030D-6E8A-4147-A177-3AD203B41FA5}">
                      <a16:colId xmlns:a16="http://schemas.microsoft.com/office/drawing/2014/main" val="20003"/>
                    </a:ext>
                  </a:extLst>
                </a:gridCol>
                <a:gridCol w="1391999">
                  <a:extLst>
                    <a:ext uri="{9D8B030D-6E8A-4147-A177-3AD203B41FA5}">
                      <a16:colId xmlns:a16="http://schemas.microsoft.com/office/drawing/2014/main" val="20004"/>
                    </a:ext>
                  </a:extLst>
                </a:gridCol>
                <a:gridCol w="1391999">
                  <a:extLst>
                    <a:ext uri="{9D8B030D-6E8A-4147-A177-3AD203B41FA5}">
                      <a16:colId xmlns:a16="http://schemas.microsoft.com/office/drawing/2014/main" val="20005"/>
                    </a:ext>
                  </a:extLst>
                </a:gridCol>
                <a:gridCol w="1391999">
                  <a:extLst>
                    <a:ext uri="{9D8B030D-6E8A-4147-A177-3AD203B41FA5}">
                      <a16:colId xmlns:a16="http://schemas.microsoft.com/office/drawing/2014/main" val="20006"/>
                    </a:ext>
                  </a:extLst>
                </a:gridCol>
                <a:gridCol w="1391999">
                  <a:extLst>
                    <a:ext uri="{9D8B030D-6E8A-4147-A177-3AD203B41FA5}">
                      <a16:colId xmlns:a16="http://schemas.microsoft.com/office/drawing/2014/main" val="20007"/>
                    </a:ext>
                  </a:extLst>
                </a:gridCol>
              </a:tblGrid>
              <a:tr h="283736">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Decided​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1st Cir.​</a:t>
                      </a:r>
                      <a:endParaRPr lang="en-US" sz="1100" b="0" dirty="0">
                        <a:effectLst/>
                        <a:latin typeface="MULISH REGULAR ROMAN"/>
                      </a:endParaRPr>
                    </a:p>
                  </a:txBody>
                  <a:tcPr marL="0" marR="0" marT="0"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1.5%</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100%</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T w="12700" cmpd="sng">
                      <a:noFill/>
                    </a:lnT>
                  </a:tcPr>
                </a:tc>
                <a:extLst>
                  <a:ext uri="{0D108BD9-81ED-4DB2-BD59-A6C34878D82A}">
                    <a16:rowId xmlns:a16="http://schemas.microsoft.com/office/drawing/2014/main" val="10002"/>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2nd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9%</a:t>
                      </a:r>
                    </a:p>
                  </a:txBody>
                  <a:tcPr marL="9525" marR="9525" marT="9525"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60%</a:t>
                      </a:r>
                    </a:p>
                  </a:txBody>
                  <a:tcPr marL="9525" marR="9525" marT="9525" marB="0" anchor="ctr"/>
                </a:tc>
                <a:tc>
                  <a:txBody>
                    <a:bodyPr/>
                    <a:lstStyle/>
                    <a:p>
                      <a:pPr algn="ctr" fontAlgn="b"/>
                      <a:r>
                        <a:rPr lang="en-US" sz="1100" b="0" i="0" u="none" strike="noStrike">
                          <a:solidFill>
                            <a:srgbClr val="000000"/>
                          </a:solidFill>
                          <a:effectLst/>
                          <a:latin typeface="MULISH BLACK ROMAN"/>
                        </a:rPr>
                        <a:t>40%</a:t>
                      </a:r>
                    </a:p>
                  </a:txBody>
                  <a:tcPr marL="9525" marR="9525" marT="9525" marB="0" anchor="ctr"/>
                </a:tc>
                <a:extLst>
                  <a:ext uri="{0D108BD9-81ED-4DB2-BD59-A6C34878D82A}">
                    <a16:rowId xmlns:a16="http://schemas.microsoft.com/office/drawing/2014/main" val="10003"/>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3rd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4th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8</a:t>
                      </a:r>
                    </a:p>
                  </a:txBody>
                  <a:tcPr marL="9525" marR="9525" marT="9525" marB="0" anchor="ctr"/>
                </a:tc>
                <a:tc>
                  <a:txBody>
                    <a:bodyPr/>
                    <a:lstStyle/>
                    <a:p>
                      <a:pPr algn="ctr" fontAlgn="b"/>
                      <a:r>
                        <a:rPr lang="en-US" sz="1100" b="0" i="0" u="none" strike="noStrike">
                          <a:solidFill>
                            <a:srgbClr val="000000"/>
                          </a:solidFill>
                          <a:effectLst/>
                          <a:latin typeface="MULISH BLACK ROMAN"/>
                        </a:rPr>
                        <a:t>11.9%</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extLst>
                  <a:ext uri="{0D108BD9-81ED-4DB2-BD59-A6C34878D82A}">
                    <a16:rowId xmlns:a16="http://schemas.microsoft.com/office/drawing/2014/main" val="10005"/>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5th</a:t>
                      </a:r>
                      <a:r>
                        <a:rPr lang="en-US" sz="1100" b="0" kern="1200" baseline="30000" dirty="0">
                          <a:effectLst/>
                          <a:latin typeface="MULISH REGULAR ROMAN"/>
                        </a:rPr>
                        <a:t> </a:t>
                      </a:r>
                      <a:r>
                        <a:rPr lang="en-US" sz="1100" b="0" kern="1200" dirty="0">
                          <a:effectLst/>
                          <a:latin typeface="MULISH REGULAR ROMAN"/>
                        </a:rPr>
                        <a:t>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13</a:t>
                      </a:r>
                    </a:p>
                  </a:txBody>
                  <a:tcPr marL="9525" marR="9525" marT="9525" marB="0" anchor="ctr"/>
                </a:tc>
                <a:tc>
                  <a:txBody>
                    <a:bodyPr/>
                    <a:lstStyle/>
                    <a:p>
                      <a:pPr algn="ctr" fontAlgn="b"/>
                      <a:r>
                        <a:rPr lang="en-US" sz="1100" b="0" i="0" u="none" strike="noStrike">
                          <a:solidFill>
                            <a:srgbClr val="000000"/>
                          </a:solidFill>
                          <a:effectLst/>
                          <a:latin typeface="MULISH BLACK ROMAN"/>
                        </a:rPr>
                        <a:t>19.4%</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75%</a:t>
                      </a:r>
                    </a:p>
                  </a:txBody>
                  <a:tcPr marL="9525" marR="9525" marT="9525" marB="0" anchor="ctr"/>
                </a:tc>
                <a:tc>
                  <a:txBody>
                    <a:bodyPr/>
                    <a:lstStyle/>
                    <a:p>
                      <a:pPr algn="ctr" fontAlgn="b"/>
                      <a:r>
                        <a:rPr lang="en-US" sz="1100" b="0" i="0" u="none" strike="noStrike">
                          <a:solidFill>
                            <a:srgbClr val="000000"/>
                          </a:solidFill>
                          <a:effectLst/>
                          <a:latin typeface="MULISH BLACK ROMAN"/>
                        </a:rPr>
                        <a:t>25%</a:t>
                      </a:r>
                    </a:p>
                  </a:txBody>
                  <a:tcPr marL="9525" marR="9525" marT="9525" marB="0" anchor="ctr"/>
                </a:tc>
                <a:extLst>
                  <a:ext uri="{0D108BD9-81ED-4DB2-BD59-A6C34878D82A}">
                    <a16:rowId xmlns:a16="http://schemas.microsoft.com/office/drawing/2014/main" val="10006"/>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6th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extLst>
                  <a:ext uri="{0D108BD9-81ED-4DB2-BD59-A6C34878D82A}">
                    <a16:rowId xmlns:a16="http://schemas.microsoft.com/office/drawing/2014/main" val="10007"/>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7th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8"/>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8th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9"/>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9th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9%</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extLst>
                  <a:ext uri="{0D108BD9-81ED-4DB2-BD59-A6C34878D82A}">
                    <a16:rowId xmlns:a16="http://schemas.microsoft.com/office/drawing/2014/main" val="10010"/>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10th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extLst>
                  <a:ext uri="{0D108BD9-81ED-4DB2-BD59-A6C34878D82A}">
                    <a16:rowId xmlns:a16="http://schemas.microsoft.com/office/drawing/2014/main" val="10011"/>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11th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66.7%</a:t>
                      </a:r>
                    </a:p>
                  </a:txBody>
                  <a:tcPr marL="9525" marR="9525" marT="9525" marB="0" anchor="ctr"/>
                </a:tc>
                <a:tc>
                  <a:txBody>
                    <a:bodyPr/>
                    <a:lstStyle/>
                    <a:p>
                      <a:pPr algn="ctr" fontAlgn="b"/>
                      <a:r>
                        <a:rPr lang="en-US" sz="1100" b="0" i="0" u="none" strike="noStrike">
                          <a:solidFill>
                            <a:srgbClr val="000000"/>
                          </a:solidFill>
                          <a:effectLst/>
                          <a:latin typeface="MULISH BLACK ROMAN"/>
                        </a:rPr>
                        <a:t>33.3%</a:t>
                      </a:r>
                    </a:p>
                  </a:txBody>
                  <a:tcPr marL="9525" marR="9525" marT="9525" marB="0" anchor="ctr"/>
                </a:tc>
                <a:extLst>
                  <a:ext uri="{0D108BD9-81ED-4DB2-BD59-A6C34878D82A}">
                    <a16:rowId xmlns:a16="http://schemas.microsoft.com/office/drawing/2014/main" val="10012"/>
                  </a:ext>
                </a:extLst>
              </a:tr>
              <a:tr h="283736">
                <a:tc>
                  <a:txBody>
                    <a:bodyPr/>
                    <a:lstStyle/>
                    <a:p>
                      <a:pPr marL="0" algn="ctr" rtl="0">
                        <a:spcBef>
                          <a:spcPts val="0"/>
                        </a:spcBef>
                        <a:spcAft>
                          <a:spcPts val="0"/>
                        </a:spcAft>
                      </a:pPr>
                      <a:r>
                        <a:rPr lang="en-US" sz="1100" b="0" kern="1200" dirty="0">
                          <a:effectLst/>
                          <a:latin typeface="MULISH REGULAR ROMAN"/>
                        </a:rPr>
                        <a:t>D.C.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7.5%</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13"/>
                  </a:ext>
                </a:extLst>
              </a:tr>
              <a:tr h="283736">
                <a:tc>
                  <a:txBody>
                    <a:bodyPr/>
                    <a:lstStyle/>
                    <a:p>
                      <a:pPr marL="0" algn="ctr" rtl="0">
                        <a:spcBef>
                          <a:spcPts val="0"/>
                        </a:spcBef>
                        <a:spcAft>
                          <a:spcPts val="0"/>
                        </a:spcAft>
                      </a:pPr>
                      <a:r>
                        <a:rPr lang="en-US" sz="1100" b="0" kern="1200" dirty="0">
                          <a:latin typeface="MULISH REGULAR ROMAN"/>
                        </a:rPr>
                        <a:t>Fed.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4.5%</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66.7%</a:t>
                      </a:r>
                    </a:p>
                  </a:txBody>
                  <a:tcPr marL="9525" marR="9525" marT="9525" marB="0" anchor="ctr"/>
                </a:tc>
                <a:tc>
                  <a:txBody>
                    <a:bodyPr/>
                    <a:lstStyle/>
                    <a:p>
                      <a:pPr algn="ctr" fontAlgn="b"/>
                      <a:r>
                        <a:rPr lang="en-US" sz="1100" b="0" i="0" u="none" strike="noStrike">
                          <a:solidFill>
                            <a:srgbClr val="000000"/>
                          </a:solidFill>
                          <a:effectLst/>
                          <a:latin typeface="MULISH BLACK ROMAN"/>
                        </a:rPr>
                        <a:t>33.3%</a:t>
                      </a:r>
                    </a:p>
                  </a:txBody>
                  <a:tcPr marL="9525" marR="9525" marT="9525" marB="0" anchor="ctr"/>
                </a:tc>
                <a:extLst>
                  <a:ext uri="{0D108BD9-81ED-4DB2-BD59-A6C34878D82A}">
                    <a16:rowId xmlns:a16="http://schemas.microsoft.com/office/drawing/2014/main" val="1001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State​ Court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75%</a:t>
                      </a:r>
                    </a:p>
                  </a:txBody>
                  <a:tcPr marL="9525" marR="9525" marT="9525" marB="0" anchor="ctr"/>
                </a:tc>
                <a:tc>
                  <a:txBody>
                    <a:bodyPr/>
                    <a:lstStyle/>
                    <a:p>
                      <a:pPr algn="ctr" fontAlgn="b"/>
                      <a:r>
                        <a:rPr lang="en-US" sz="1100" b="0" i="0" u="none" strike="noStrike">
                          <a:solidFill>
                            <a:srgbClr val="000000"/>
                          </a:solidFill>
                          <a:effectLst/>
                          <a:latin typeface="MULISH BLACK ROMAN"/>
                        </a:rPr>
                        <a:t>25%</a:t>
                      </a:r>
                    </a:p>
                  </a:txBody>
                  <a:tcPr marL="9525" marR="9525" marT="9525" marB="0" anchor="ctr"/>
                </a:tc>
                <a:extLst>
                  <a:ext uri="{0D108BD9-81ED-4DB2-BD59-A6C34878D82A}">
                    <a16:rowId xmlns:a16="http://schemas.microsoft.com/office/drawing/2014/main" val="10016"/>
                  </a:ext>
                </a:extLst>
              </a:tr>
              <a:tr h="283736">
                <a:tc>
                  <a:txBody>
                    <a:bodyPr/>
                    <a:lstStyle/>
                    <a:p>
                      <a:pPr marL="0" algn="ctr" rtl="0">
                        <a:spcBef>
                          <a:spcPts val="0"/>
                        </a:spcBef>
                        <a:spcAft>
                          <a:spcPts val="0"/>
                        </a:spcAft>
                      </a:pPr>
                      <a:r>
                        <a:rPr lang="en-US" sz="1100" b="0" kern="1200" dirty="0">
                          <a:latin typeface="MULISH REGULAR ROMAN"/>
                        </a:rPr>
                        <a:t>District Court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4.5%</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tc>
                <a:extLst>
                  <a:ext uri="{0D108BD9-81ED-4DB2-BD59-A6C34878D82A}">
                    <a16:rowId xmlns:a16="http://schemas.microsoft.com/office/drawing/2014/main" val="10017"/>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Original​</a:t>
                      </a:r>
                      <a:endParaRPr lang="en-US" sz="1100" b="0" dirty="0">
                        <a:effectLst/>
                        <a:latin typeface="MULISH REGULAR ROMAN"/>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8"/>
                  </a:ext>
                </a:extLst>
              </a:tr>
              <a:tr h="283736">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4718649" y="128140"/>
            <a:ext cx="6762151" cy="707886"/>
          </a:xfrm>
          <a:prstGeom prst="rect">
            <a:avLst/>
          </a:prstGeom>
          <a:noFill/>
          <a:ln>
            <a:solidFill>
              <a:schemeClr val="tx1"/>
            </a:solidFill>
          </a:ln>
        </p:spPr>
        <p:txBody>
          <a:bodyPr wrap="square" rtlCol="0">
            <a:spAutoFit/>
          </a:bodyPr>
          <a:lstStyle/>
          <a:p>
            <a:r>
              <a:rPr lang="en-US" sz="1000" dirty="0">
                <a:latin typeface="MULISH BLACK ROMAN"/>
                <a:cs typeface="Calibri" panose="020F0502020204030204"/>
              </a:rPr>
              <a:t>For the Circuit Scorecard, we treat consolidated cases emerging from different courts below as separate entries. For example, a consolidated case emerging from conflicting decisions in the Fifth and Ninth U.S. Circuit Courts of Appeal are coded as two independent entries. Alternatively, consolidated cases emerging from the same court below (e.g., both emerging from the Fifth Circuit) are treated as a single entry. </a:t>
            </a:r>
          </a:p>
        </p:txBody>
      </p:sp>
      <p:sp>
        <p:nvSpPr>
          <p:cNvPr id="4" name="Slide Number Placeholder 3">
            <a:extLst>
              <a:ext uri="{FF2B5EF4-FFF2-40B4-BE49-F238E27FC236}">
                <a16:creationId xmlns:a16="http://schemas.microsoft.com/office/drawing/2014/main" id="{38E6075F-5AE1-A00C-D457-F834E0B564D9}"/>
              </a:ext>
            </a:extLst>
          </p:cNvPr>
          <p:cNvSpPr>
            <a:spLocks noGrp="1"/>
          </p:cNvSpPr>
          <p:nvPr>
            <p:ph type="sldNum" sz="quarter" idx="12"/>
          </p:nvPr>
        </p:nvSpPr>
        <p:spPr/>
        <p:txBody>
          <a:bodyPr/>
          <a:lstStyle/>
          <a:p>
            <a:fld id="{5E212BD6-99D2-4430-8307-3DFF6CB1AF68}" type="slidenum">
              <a:rPr lang="en-US" smtClean="0"/>
              <a:t>19</a:t>
            </a:fld>
            <a:endParaRPr lang="en-US"/>
          </a:p>
        </p:txBody>
      </p:sp>
    </p:spTree>
    <p:extLst>
      <p:ext uri="{BB962C8B-B14F-4D97-AF65-F5344CB8AC3E}">
        <p14:creationId xmlns:p14="http://schemas.microsoft.com/office/powerpoint/2010/main" val="10335373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4406D52-82A8-6473-8110-4FD9B07680DD}"/>
              </a:ext>
            </a:extLst>
          </p:cNvPr>
          <p:cNvSpPr>
            <a:spLocks noGrp="1" noRot="1" noMove="1" noResize="1" noEditPoints="1" noAdjustHandles="1" noChangeArrowheads="1" noChangeShapeType="1"/>
          </p:cNvSpPr>
          <p:nvPr/>
        </p:nvSpPr>
        <p:spPr>
          <a:xfrm>
            <a:off x="6133437" y="786952"/>
            <a:ext cx="5215463" cy="313704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0" name="Table 9"/>
          <p:cNvGraphicFramePr>
            <a:graphicFrameLocks noGrp="1"/>
          </p:cNvGraphicFramePr>
          <p:nvPr>
            <p:extLst>
              <p:ext uri="{D42A27DB-BD31-4B8C-83A1-F6EECF244321}">
                <p14:modId xmlns:p14="http://schemas.microsoft.com/office/powerpoint/2010/main" val="2745200703"/>
              </p:ext>
            </p:extLst>
          </p:nvPr>
        </p:nvGraphicFramePr>
        <p:xfrm>
          <a:off x="207817" y="3923993"/>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Laboratory Corp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04/29/2025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06/05/2025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Advocate Christ Medical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176</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04/29/2025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Seven County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12/10/2024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05/29/2025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10/08/2024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rgbClr val="000000"/>
                          </a:solidFill>
                          <a:effectLst/>
                          <a:latin typeface="MULISH BLACK ROMAN"/>
                        </a:rPr>
                        <a:t>Kouisisis</a:t>
                      </a:r>
                      <a:endParaRPr lang="en-US" sz="1100" b="0" i="1" u="none" strike="noStrike" dirty="0">
                        <a:solidFill>
                          <a:srgbClr val="000000"/>
                        </a:solidFill>
                        <a:effectLst/>
                        <a:latin typeface="MULISH BLACK ROMAN"/>
                      </a:endParaRP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165</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12/09/2024</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05/22/2025</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3931284540"/>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84.67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85.4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99.4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130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140.75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86.5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887873" y="1173965"/>
            <a:ext cx="1690778" cy="292388"/>
          </a:xfrm>
          <a:prstGeom prst="rect">
            <a:avLst/>
          </a:prstGeom>
          <a:noFill/>
        </p:spPr>
        <p:txBody>
          <a:bodyPr wrap="square" rtlCol="0">
            <a:spAutoFit/>
          </a:bodyPr>
          <a:lstStyle/>
          <a:p>
            <a:pPr algn="ctr"/>
            <a:r>
              <a:rPr lang="en-US" sz="1300" b="1" dirty="0">
                <a:latin typeface="MULISH BOLD ROMAN" pitchFamily="2" charset="77"/>
              </a:rPr>
              <a:t>Average Days by Term</a:t>
            </a:r>
          </a:p>
        </p:txBody>
      </p:sp>
      <p:sp>
        <p:nvSpPr>
          <p:cNvPr id="2" name="TextBox 1">
            <a:extLst>
              <a:ext uri="{FF2B5EF4-FFF2-40B4-BE49-F238E27FC236}">
                <a16:creationId xmlns:a16="http://schemas.microsoft.com/office/drawing/2014/main" id="{D94AC198-E753-1886-71E0-46B240C76C77}"/>
              </a:ext>
            </a:extLst>
          </p:cNvPr>
          <p:cNvSpPr txBox="1"/>
          <p:nvPr/>
        </p:nvSpPr>
        <p:spPr>
          <a:xfrm>
            <a:off x="3887873" y="1466353"/>
            <a:ext cx="1690777" cy="1446550"/>
          </a:xfrm>
          <a:prstGeom prst="rect">
            <a:avLst/>
          </a:prstGeom>
          <a:noFill/>
          <a:ln>
            <a:solidFill>
              <a:schemeClr val="tx1"/>
            </a:solidFill>
          </a:ln>
        </p:spPr>
        <p:txBody>
          <a:bodyPr wrap="square" rtlCol="0">
            <a:spAutoFit/>
          </a:bodyPr>
          <a:lstStyle/>
          <a:p>
            <a:r>
              <a:rPr lang="en-US" sz="1100" dirty="0">
                <a:latin typeface="MULISH REGULAR ROMAN"/>
              </a:rPr>
              <a:t>Figure shows the average number of days between oral arguments and the rendering of a decision for a case between the 2005 and 2024 terms. Bars represent 25</a:t>
            </a:r>
            <a:r>
              <a:rPr lang="en-US" sz="1100" baseline="30000" dirty="0">
                <a:latin typeface="MULISH REGULAR ROMAN"/>
              </a:rPr>
              <a:t>th</a:t>
            </a:r>
            <a:r>
              <a:rPr lang="en-US" sz="1100" dirty="0">
                <a:latin typeface="MULISH REGULAR ROMAN"/>
              </a:rPr>
              <a:t> and 75</a:t>
            </a:r>
            <a:r>
              <a:rPr lang="en-US" sz="1100" baseline="30000" dirty="0">
                <a:latin typeface="MULISH REGULAR ROMAN"/>
              </a:rPr>
              <a:t>th</a:t>
            </a:r>
            <a:r>
              <a:rPr lang="en-US" sz="1100" dirty="0">
                <a:latin typeface="MULISH REGULAR ROMAN"/>
              </a:rPr>
              <a:t> Percentiles.  </a:t>
            </a:r>
          </a:p>
        </p:txBody>
      </p:sp>
      <p:sp>
        <p:nvSpPr>
          <p:cNvPr id="9" name="Slide Number Placeholder 8">
            <a:extLst>
              <a:ext uri="{FF2B5EF4-FFF2-40B4-BE49-F238E27FC236}">
                <a16:creationId xmlns:a16="http://schemas.microsoft.com/office/drawing/2014/main" id="{C58BBD9E-901F-8D77-A3B8-73BF64F90814}"/>
              </a:ext>
            </a:extLst>
          </p:cNvPr>
          <p:cNvSpPr>
            <a:spLocks noGrp="1"/>
          </p:cNvSpPr>
          <p:nvPr>
            <p:ph type="sldNum" sz="quarter" idx="12"/>
          </p:nvPr>
        </p:nvSpPr>
        <p:spPr/>
        <p:txBody>
          <a:bodyPr/>
          <a:lstStyle/>
          <a:p>
            <a:fld id="{5E212BD6-99D2-4430-8307-3DFF6CB1AF68}" type="slidenum">
              <a:rPr lang="en-US" smtClean="0"/>
              <a:t>20</a:t>
            </a:fld>
            <a:endParaRPr lang="en-US"/>
          </a:p>
        </p:txBody>
      </p:sp>
      <p:pic>
        <p:nvPicPr>
          <p:cNvPr id="4" name="Picture 3" descr="A graph with numbers and lines&#10;&#10;AI-generated content may be incorrect.">
            <a:extLst>
              <a:ext uri="{FF2B5EF4-FFF2-40B4-BE49-F238E27FC236}">
                <a16:creationId xmlns:a16="http://schemas.microsoft.com/office/drawing/2014/main" id="{BEBDCA83-24F7-2198-D78F-6C496C7B38C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20498" y="786952"/>
            <a:ext cx="5228402" cy="3137041"/>
          </a:xfrm>
          <a:prstGeom prst="rect">
            <a:avLst/>
          </a:prstGeom>
        </p:spPr>
      </p:pic>
    </p:spTree>
    <p:extLst>
      <p:ext uri="{BB962C8B-B14F-4D97-AF65-F5344CB8AC3E}">
        <p14:creationId xmlns:p14="http://schemas.microsoft.com/office/powerpoint/2010/main" val="6050187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2450848293"/>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Lackey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Bufkin</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Waetzig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Hungary</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Royal Canin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E.M.D. Sales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a:effectLst/>
                        </a:rPr>
                        <a:t>Bouarafa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Advocate Christ Medical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A.J.T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Blom Bank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Wages &amp; White Lion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Cunningham</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Dewberry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Seven County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Ames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Soto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CC/Devas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Martin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Zuch</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Rivers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Parrish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TikTok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Ames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Seven County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A.A.R.P v. Trump</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Blom Bank</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A.J.T.</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A.J.T.</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Parrish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Martin</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Andrew</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DOE v. CA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a:solidFill>
                            <a:schemeClr val="tx1"/>
                          </a:solidFill>
                          <a:effectLst/>
                          <a:latin typeface="MULISH REGULAR ROMAN" pitchFamily="2" charset="77"/>
                        </a:rPr>
                        <a:t>A.A.R.P v. Trump</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Parrish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Zuch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Advocate Christ Medical</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1"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
        <p:nvSpPr>
          <p:cNvPr id="4" name="Slide Number Placeholder 3">
            <a:extLst>
              <a:ext uri="{FF2B5EF4-FFF2-40B4-BE49-F238E27FC236}">
                <a16:creationId xmlns:a16="http://schemas.microsoft.com/office/drawing/2014/main" id="{DD6EFB87-8186-B3D8-B837-DD402793E267}"/>
              </a:ext>
            </a:extLst>
          </p:cNvPr>
          <p:cNvSpPr>
            <a:spLocks noGrp="1"/>
          </p:cNvSpPr>
          <p:nvPr>
            <p:ph type="sldNum" sz="quarter" idx="12"/>
          </p:nvPr>
        </p:nvSpPr>
        <p:spPr/>
        <p:txBody>
          <a:bodyPr/>
          <a:lstStyle/>
          <a:p>
            <a:fld id="{5E212BD6-99D2-4430-8307-3DFF6CB1AF68}"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DCAFF-35EF-A31C-3A79-383876C24CC9}"/>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429B786-8089-1690-EEDC-B162E02C5351}"/>
              </a:ext>
            </a:extLst>
          </p:cNvPr>
          <p:cNvGraphicFramePr>
            <a:graphicFrameLocks noGrp="1"/>
          </p:cNvGraphicFramePr>
          <p:nvPr>
            <p:extLst>
              <p:ext uri="{D42A27DB-BD31-4B8C-83A1-F6EECF244321}">
                <p14:modId xmlns:p14="http://schemas.microsoft.com/office/powerpoint/2010/main" val="1295058501"/>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endParaRPr lang="en-US" sz="900" b="0" i="0" u="none" strike="noStrike">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1"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9F183FF2-1AE8-6854-7729-AE3AD1BCDB4C}"/>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4" name="Slide Number Placeholder 3">
            <a:extLst>
              <a:ext uri="{FF2B5EF4-FFF2-40B4-BE49-F238E27FC236}">
                <a16:creationId xmlns:a16="http://schemas.microsoft.com/office/drawing/2014/main" id="{C7F68B7E-19AD-F0EC-1052-89ABB6D37898}"/>
              </a:ext>
            </a:extLst>
          </p:cNvPr>
          <p:cNvSpPr>
            <a:spLocks noGrp="1"/>
          </p:cNvSpPr>
          <p:nvPr>
            <p:ph type="sldNum" sz="quarter" idx="12"/>
          </p:nvPr>
        </p:nvSpPr>
        <p:spPr/>
        <p:txBody>
          <a:bodyPr/>
          <a:lstStyle/>
          <a:p>
            <a:fld id="{5E212BD6-99D2-4430-8307-3DFF6CB1AF68}" type="slidenum">
              <a:rPr lang="en-US" smtClean="0"/>
              <a:t>22</a:t>
            </a:fld>
            <a:endParaRPr lang="en-US"/>
          </a:p>
        </p:txBody>
      </p:sp>
    </p:spTree>
    <p:extLst>
      <p:ext uri="{BB962C8B-B14F-4D97-AF65-F5344CB8AC3E}">
        <p14:creationId xmlns:p14="http://schemas.microsoft.com/office/powerpoint/2010/main" val="4446128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B86C6B9-BD05-508C-FE45-BCD85A385E22}"/>
              </a:ext>
            </a:extLst>
          </p:cNvPr>
          <p:cNvSpPr>
            <a:spLocks noGrp="1" noRot="1" noMove="1" noResize="1" noEditPoints="1" noAdjustHandles="1" noChangeArrowheads="1" noChangeShapeType="1"/>
          </p:cNvSpPr>
          <p:nvPr/>
        </p:nvSpPr>
        <p:spPr>
          <a:xfrm>
            <a:off x="978132" y="1027978"/>
            <a:ext cx="9604086" cy="4802043"/>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sp>
        <p:nvSpPr>
          <p:cNvPr id="6" name="Slide Number Placeholder 5">
            <a:extLst>
              <a:ext uri="{FF2B5EF4-FFF2-40B4-BE49-F238E27FC236}">
                <a16:creationId xmlns:a16="http://schemas.microsoft.com/office/drawing/2014/main" id="{647DD8CC-8561-5C93-CAFB-07E360467679}"/>
              </a:ext>
            </a:extLst>
          </p:cNvPr>
          <p:cNvSpPr>
            <a:spLocks noGrp="1"/>
          </p:cNvSpPr>
          <p:nvPr>
            <p:ph type="sldNum" sz="quarter" idx="12"/>
          </p:nvPr>
        </p:nvSpPr>
        <p:spPr/>
        <p:txBody>
          <a:bodyPr/>
          <a:lstStyle/>
          <a:p>
            <a:fld id="{5E212BD6-99D2-4430-8307-3DFF6CB1AF68}" type="slidenum">
              <a:rPr lang="en-US" smtClean="0"/>
              <a:t>23</a:t>
            </a:fld>
            <a:endParaRPr lang="en-US"/>
          </a:p>
        </p:txBody>
      </p:sp>
      <p:pic>
        <p:nvPicPr>
          <p:cNvPr id="10" name="Picture 9" descr="A graph with different colored squares&#10;&#10;AI-generated content may be incorrect.">
            <a:extLst>
              <a:ext uri="{FF2B5EF4-FFF2-40B4-BE49-F238E27FC236}">
                <a16:creationId xmlns:a16="http://schemas.microsoft.com/office/drawing/2014/main" id="{DA93CC98-8F95-F65C-9FAA-ED05E32AEE3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8132" y="1027978"/>
            <a:ext cx="9604086" cy="4802043"/>
          </a:xfrm>
          <a:prstGeom prst="rect">
            <a:avLst/>
          </a:prstGeom>
        </p:spPr>
      </p:pic>
    </p:spTree>
    <p:extLst>
      <p:ext uri="{BB962C8B-B14F-4D97-AF65-F5344CB8AC3E}">
        <p14:creationId xmlns:p14="http://schemas.microsoft.com/office/powerpoint/2010/main" val="41628591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845C80D-8C0C-274C-7C9C-C0B644388436}"/>
              </a:ext>
            </a:extLst>
          </p:cNvPr>
          <p:cNvSpPr>
            <a:spLocks/>
          </p:cNvSpPr>
          <p:nvPr/>
        </p:nvSpPr>
        <p:spPr>
          <a:xfrm>
            <a:off x="5384800" y="230909"/>
            <a:ext cx="6046595" cy="3540280"/>
          </a:xfrm>
          <a:prstGeom prst="rect">
            <a:avLst/>
          </a:prstGeom>
          <a:solidFill>
            <a:schemeClr val="accent1">
              <a:alpha val="18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extLst>
              <p:ext uri="{D42A27DB-BD31-4B8C-83A1-F6EECF244321}">
                <p14:modId xmlns:p14="http://schemas.microsoft.com/office/powerpoint/2010/main" val="3166730038"/>
              </p:ext>
            </p:extLst>
          </p:nvPr>
        </p:nvGraphicFramePr>
        <p:xfrm>
          <a:off x="288396" y="3902035"/>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2</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Laboratory Corp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06/05/2025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Hamm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11/04/2024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Equally Divided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14,532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14,299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Sotomayor</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9,621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8,036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C055A2D1-3EB2-32ED-D5C2-F143FE54C265}"/>
              </a:ext>
            </a:extLst>
          </p:cNvPr>
          <p:cNvGraphicFramePr>
            <a:graphicFrameLocks noGrp="1"/>
          </p:cNvGraphicFramePr>
          <p:nvPr>
            <p:extLst>
              <p:ext uri="{D42A27DB-BD31-4B8C-83A1-F6EECF244321}">
                <p14:modId xmlns:p14="http://schemas.microsoft.com/office/powerpoint/2010/main" val="1811271778"/>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3595.67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4761.71</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3907.4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3194.43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3476</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3584.45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2441.4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3677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2844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6" name="TextBox 5">
            <a:extLst>
              <a:ext uri="{FF2B5EF4-FFF2-40B4-BE49-F238E27FC236}">
                <a16:creationId xmlns:a16="http://schemas.microsoft.com/office/drawing/2014/main" id="{32F922FD-F592-A078-E545-83CAC25E94C3}"/>
              </a:ext>
            </a:extLst>
          </p:cNvPr>
          <p:cNvSpPr txBox="1"/>
          <p:nvPr/>
        </p:nvSpPr>
        <p:spPr>
          <a:xfrm>
            <a:off x="3459192" y="1123062"/>
            <a:ext cx="1846054" cy="292388"/>
          </a:xfrm>
          <a:prstGeom prst="rect">
            <a:avLst/>
          </a:prstGeom>
          <a:noFill/>
        </p:spPr>
        <p:txBody>
          <a:bodyPr wrap="square" rtlCol="0">
            <a:spAutoFit/>
          </a:bodyPr>
          <a:lstStyle/>
          <a:p>
            <a:r>
              <a:rPr lang="en-US" sz="1300" b="1" dirty="0">
                <a:latin typeface="MULISH BOLD ROMAN" pitchFamily="2" charset="77"/>
              </a:rPr>
              <a:t>Average Length by Term</a:t>
            </a:r>
          </a:p>
        </p:txBody>
      </p:sp>
      <p:sp>
        <p:nvSpPr>
          <p:cNvPr id="11" name="TextBox 10">
            <a:extLst>
              <a:ext uri="{FF2B5EF4-FFF2-40B4-BE49-F238E27FC236}">
                <a16:creationId xmlns:a16="http://schemas.microsoft.com/office/drawing/2014/main" id="{3AEF5CA2-F1A9-891D-4280-9F7C20513281}"/>
              </a:ext>
            </a:extLst>
          </p:cNvPr>
          <p:cNvSpPr txBox="1"/>
          <p:nvPr/>
        </p:nvSpPr>
        <p:spPr>
          <a:xfrm>
            <a:off x="3536830" y="1415450"/>
            <a:ext cx="1690777" cy="1277273"/>
          </a:xfrm>
          <a:prstGeom prst="rect">
            <a:avLst/>
          </a:prstGeom>
          <a:noFill/>
          <a:ln>
            <a:solidFill>
              <a:schemeClr val="tx1"/>
            </a:solidFill>
          </a:ln>
        </p:spPr>
        <p:txBody>
          <a:bodyPr wrap="square" rtlCol="0">
            <a:spAutoFit/>
          </a:bodyPr>
          <a:lstStyle/>
          <a:p>
            <a:r>
              <a:rPr lang="en-US" sz="1100" dirty="0">
                <a:latin typeface="MULISH REGULAR ROMAN"/>
              </a:rPr>
              <a:t>Figure shows the average length (in words) of opinions issued by the Court by type between the 2016 and 2024 terms. Bars represent 25</a:t>
            </a:r>
            <a:r>
              <a:rPr lang="en-US" sz="1100" baseline="30000" dirty="0">
                <a:latin typeface="MULISH REGULAR ROMAN"/>
              </a:rPr>
              <a:t>th</a:t>
            </a:r>
            <a:r>
              <a:rPr lang="en-US" sz="1100" dirty="0">
                <a:latin typeface="MULISH REGULAR ROMAN"/>
              </a:rPr>
              <a:t> and 75</a:t>
            </a:r>
            <a:r>
              <a:rPr lang="en-US" sz="1100" baseline="30000" dirty="0">
                <a:latin typeface="MULISH REGULAR ROMAN"/>
              </a:rPr>
              <a:t>th</a:t>
            </a:r>
            <a:r>
              <a:rPr lang="en-US" sz="1100" dirty="0">
                <a:latin typeface="MULISH REGULAR ROMAN"/>
              </a:rPr>
              <a:t> Percentiles.  </a:t>
            </a:r>
          </a:p>
        </p:txBody>
      </p:sp>
      <p:sp>
        <p:nvSpPr>
          <p:cNvPr id="7" name="Slide Number Placeholder 6">
            <a:extLst>
              <a:ext uri="{FF2B5EF4-FFF2-40B4-BE49-F238E27FC236}">
                <a16:creationId xmlns:a16="http://schemas.microsoft.com/office/drawing/2014/main" id="{F196D688-3261-49DC-C33B-4E598CE5D507}"/>
              </a:ext>
            </a:extLst>
          </p:cNvPr>
          <p:cNvSpPr>
            <a:spLocks noGrp="1"/>
          </p:cNvSpPr>
          <p:nvPr>
            <p:ph type="sldNum" sz="quarter" idx="12"/>
          </p:nvPr>
        </p:nvSpPr>
        <p:spPr/>
        <p:txBody>
          <a:bodyPr/>
          <a:lstStyle/>
          <a:p>
            <a:fld id="{5E212BD6-99D2-4430-8307-3DFF6CB1AF68}" type="slidenum">
              <a:rPr lang="en-US" smtClean="0"/>
              <a:t>24</a:t>
            </a:fld>
            <a:endParaRPr lang="en-US"/>
          </a:p>
        </p:txBody>
      </p:sp>
      <p:pic>
        <p:nvPicPr>
          <p:cNvPr id="4" name="Picture 3" descr="A graph of different types of graphs&#10;&#10;AI-generated content may be incorrect.">
            <a:extLst>
              <a:ext uri="{FF2B5EF4-FFF2-40B4-BE49-F238E27FC236}">
                <a16:creationId xmlns:a16="http://schemas.microsoft.com/office/drawing/2014/main" id="{0EEEFCC6-AC6A-FC30-3E99-612189B79FF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82884" y="212760"/>
            <a:ext cx="6046595" cy="3580224"/>
          </a:xfrm>
          <a:prstGeom prst="rect">
            <a:avLst/>
          </a:prstGeom>
        </p:spPr>
      </p:pic>
    </p:spTree>
    <p:extLst>
      <p:ext uri="{BB962C8B-B14F-4D97-AF65-F5344CB8AC3E}">
        <p14:creationId xmlns:p14="http://schemas.microsoft.com/office/powerpoint/2010/main" val="5787724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364599825"/>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Slide Number Placeholder 15">
            <a:extLst>
              <a:ext uri="{FF2B5EF4-FFF2-40B4-BE49-F238E27FC236}">
                <a16:creationId xmlns:a16="http://schemas.microsoft.com/office/drawing/2014/main" id="{20096CF1-8D9E-DC69-287E-FC736C64B453}"/>
              </a:ext>
            </a:extLst>
          </p:cNvPr>
          <p:cNvSpPr>
            <a:spLocks noGrp="1"/>
          </p:cNvSpPr>
          <p:nvPr>
            <p:ph type="sldNum" sz="quarter" idx="12"/>
          </p:nvPr>
        </p:nvSpPr>
        <p:spPr/>
        <p:txBody>
          <a:bodyPr/>
          <a:lstStyle/>
          <a:p>
            <a:fld id="{5E212BD6-99D2-4430-8307-3DFF6CB1AF68}" type="slidenum">
              <a:rPr lang="en-US" smtClean="0"/>
              <a:t>25</a:t>
            </a:fld>
            <a:endParaRPr lang="en-US"/>
          </a:p>
        </p:txBody>
      </p:sp>
    </p:spTree>
    <p:extLst>
      <p:ext uri="{BB962C8B-B14F-4D97-AF65-F5344CB8AC3E}">
        <p14:creationId xmlns:p14="http://schemas.microsoft.com/office/powerpoint/2010/main" val="6198849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1952506198"/>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Monsalvo Valazquez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Barnes</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05/15/2025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Kagan</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261610"/>
          </a:xfrm>
          <a:prstGeom prst="rect">
            <a:avLst/>
          </a:prstGeom>
          <a:noFill/>
        </p:spPr>
        <p:txBody>
          <a:bodyPr wrap="square" rtlCol="0">
            <a:spAutoFit/>
          </a:bodyPr>
          <a:lstStyle/>
          <a:p>
            <a:r>
              <a:rPr lang="en-US" sz="1100" dirty="0">
                <a:latin typeface="MULISH BLACK ROMAN"/>
              </a:rPr>
              <a:t>* Justice Barrett joined the dissent in Trump v. J.G.G. but only with respect to Parts II and III-B.</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Slide Number Placeholder 16">
            <a:extLst>
              <a:ext uri="{FF2B5EF4-FFF2-40B4-BE49-F238E27FC236}">
                <a16:creationId xmlns:a16="http://schemas.microsoft.com/office/drawing/2014/main" id="{B4B8DC4D-98B1-33CA-CB9D-B50DC5EBADD8}"/>
              </a:ext>
            </a:extLst>
          </p:cNvPr>
          <p:cNvSpPr>
            <a:spLocks noGrp="1"/>
          </p:cNvSpPr>
          <p:nvPr>
            <p:ph type="sldNum" sz="quarter" idx="12"/>
          </p:nvPr>
        </p:nvSpPr>
        <p:spPr/>
        <p:txBody>
          <a:bodyPr/>
          <a:lstStyle/>
          <a:p>
            <a:fld id="{5E212BD6-99D2-4430-8307-3DFF6CB1AF68}" type="slidenum">
              <a:rPr lang="en-US" smtClean="0"/>
              <a:t>26</a:t>
            </a:fld>
            <a:endParaRPr lang="en-US"/>
          </a:p>
        </p:txBody>
      </p:sp>
    </p:spTree>
    <p:extLst>
      <p:ext uri="{BB962C8B-B14F-4D97-AF65-F5344CB8AC3E}">
        <p14:creationId xmlns:p14="http://schemas.microsoft.com/office/powerpoint/2010/main" val="33742460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4231056912"/>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A.A.R.P v. Trump</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05/16/2025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(7-2)</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Kousisis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REGULAR ROMAN" pitchFamily="2" charset="77"/>
                        </a:rPr>
                        <a:t>Drummond*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Seven Counties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Laboratory Corp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DIG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Ames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Smith &amp; Wesson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Kagan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Catholic Charities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CC/Devas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Alito</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Blom Bank</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A.J.T.</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Soto</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REGULAR ROMAN" pitchFamily="2" charset="77"/>
                        </a:rPr>
                        <a:t>Parrish</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REGULAR ROMAN" pitchFamily="2" charset="77"/>
                        </a:rPr>
                        <a:t>Martin</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REGULAR ROMAN" pitchFamily="2" charset="77"/>
                        </a:rPr>
                        <a:t>Zuch</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13E750A-E284-DD1D-553C-42278B91F101}"/>
              </a:ext>
            </a:extLst>
          </p:cNvPr>
          <p:cNvSpPr txBox="1"/>
          <p:nvPr/>
        </p:nvSpPr>
        <p:spPr>
          <a:xfrm>
            <a:off x="339318" y="6400412"/>
            <a:ext cx="10347155" cy="430887"/>
          </a:xfrm>
          <a:prstGeom prst="rect">
            <a:avLst/>
          </a:prstGeom>
          <a:noFill/>
          <a:ln>
            <a:solidFill>
              <a:schemeClr val="tx1"/>
            </a:solidFill>
          </a:ln>
        </p:spPr>
        <p:txBody>
          <a:bodyPr wrap="square" rtlCol="0">
            <a:spAutoFit/>
          </a:bodyPr>
          <a:lstStyle/>
          <a:p>
            <a:r>
              <a:rPr lang="en-US" sz="1100" i="1"/>
              <a:t>* Oklahoma </a:t>
            </a:r>
            <a:r>
              <a:rPr lang="en-US" sz="1100" i="1" dirty="0"/>
              <a:t>Charter Schools v. Drummond </a:t>
            </a:r>
            <a:r>
              <a:rPr lang="en-US" sz="1100" dirty="0"/>
              <a:t>was decided </a:t>
            </a:r>
            <a:r>
              <a:rPr lang="en-US" sz="1100" i="1" dirty="0"/>
              <a:t>Per Curiam</a:t>
            </a:r>
            <a:r>
              <a:rPr lang="en-US" sz="1100" dirty="0"/>
              <a:t> by an equally divided Court (Justice Barrett did not participate). However, the opinion did not indicate who voted to Affirm (Reverse).  </a:t>
            </a:r>
            <a:endParaRPr lang="en-US" sz="1100" i="1" dirty="0">
              <a:latin typeface="MULISH REGULAR ROMAN"/>
            </a:endParaRPr>
          </a:p>
        </p:txBody>
      </p:sp>
      <p:sp>
        <p:nvSpPr>
          <p:cNvPr id="17" name="Rectangle 16">
            <a:extLst>
              <a:ext uri="{FF2B5EF4-FFF2-40B4-BE49-F238E27FC236}">
                <a16:creationId xmlns:a16="http://schemas.microsoft.com/office/drawing/2014/main" id="{73CDCD33-6187-19DE-FEC9-F59513C58D6C}"/>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B83E0D5E-4684-26EF-F81D-C87C42C5B57E}"/>
              </a:ext>
            </a:extLst>
          </p:cNvPr>
          <p:cNvSpPr>
            <a:spLocks noGrp="1"/>
          </p:cNvSpPr>
          <p:nvPr>
            <p:ph type="sldNum" sz="quarter" idx="12"/>
          </p:nvPr>
        </p:nvSpPr>
        <p:spPr/>
        <p:txBody>
          <a:bodyPr/>
          <a:lstStyle/>
          <a:p>
            <a:fld id="{5E212BD6-99D2-4430-8307-3DFF6CB1AF68}" type="slidenum">
              <a:rPr lang="en-US" smtClean="0"/>
              <a:t>27</a:t>
            </a:fld>
            <a:endParaRPr lang="en-US"/>
          </a:p>
        </p:txBody>
      </p:sp>
    </p:spTree>
    <p:extLst>
      <p:ext uri="{BB962C8B-B14F-4D97-AF65-F5344CB8AC3E}">
        <p14:creationId xmlns:p14="http://schemas.microsoft.com/office/powerpoint/2010/main" val="16101980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1370140817"/>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Rivers</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00" dirty="0">
                          <a:latin typeface="MULISH REGULAR ROMAN" pitchFamily="2" charset="77"/>
                        </a:rPr>
                        <a:t>06/12/2025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(8-0)</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CC9060A2-FF71-052D-92B5-AED2DFB82CAE}"/>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9F8D870B-93E7-7BBE-5BA6-33F08FC0D592}"/>
              </a:ext>
            </a:extLst>
          </p:cNvPr>
          <p:cNvSpPr>
            <a:spLocks noGrp="1"/>
          </p:cNvSpPr>
          <p:nvPr>
            <p:ph type="sldNum" sz="quarter" idx="12"/>
          </p:nvPr>
        </p:nvSpPr>
        <p:spPr/>
        <p:txBody>
          <a:bodyPr/>
          <a:lstStyle/>
          <a:p>
            <a:fld id="{5E212BD6-99D2-4430-8307-3DFF6CB1AF68}" type="slidenum">
              <a:rPr lang="en-US" smtClean="0"/>
              <a:t>28</a:t>
            </a:fld>
            <a:endParaRPr lang="en-US"/>
          </a:p>
        </p:txBody>
      </p:sp>
    </p:spTree>
    <p:extLst>
      <p:ext uri="{BB962C8B-B14F-4D97-AF65-F5344CB8AC3E}">
        <p14:creationId xmlns:p14="http://schemas.microsoft.com/office/powerpoint/2010/main" val="18556569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4009667581"/>
              </p:ext>
            </p:extLst>
          </p:nvPr>
        </p:nvGraphicFramePr>
        <p:xfrm>
          <a:off x="304798" y="765227"/>
          <a:ext cx="11492145" cy="6056418"/>
        </p:xfrm>
        <a:graphic>
          <a:graphicData uri="http://schemas.openxmlformats.org/drawingml/2006/table">
            <a:tbl>
              <a:tblPr firstRow="1" bandRow="1">
                <a:tableStyleId>{C083E6E3-FA7D-4D7B-A595-EF9225AFEA82}</a:tableStyleId>
              </a:tblPr>
              <a:tblGrid>
                <a:gridCol w="992417">
                  <a:extLst>
                    <a:ext uri="{9D8B030D-6E8A-4147-A177-3AD203B41FA5}">
                      <a16:colId xmlns:a16="http://schemas.microsoft.com/office/drawing/2014/main" val="20000"/>
                    </a:ext>
                  </a:extLst>
                </a:gridCol>
                <a:gridCol w="650219">
                  <a:extLst>
                    <a:ext uri="{9D8B030D-6E8A-4147-A177-3AD203B41FA5}">
                      <a16:colId xmlns:a16="http://schemas.microsoft.com/office/drawing/2014/main" val="2854710428"/>
                    </a:ext>
                  </a:extLst>
                </a:gridCol>
                <a:gridCol w="349495">
                  <a:extLst>
                    <a:ext uri="{9D8B030D-6E8A-4147-A177-3AD203B41FA5}">
                      <a16:colId xmlns:a16="http://schemas.microsoft.com/office/drawing/2014/main" val="20002"/>
                    </a:ext>
                  </a:extLst>
                </a:gridCol>
                <a:gridCol w="562268">
                  <a:extLst>
                    <a:ext uri="{9D8B030D-6E8A-4147-A177-3AD203B41FA5}">
                      <a16:colId xmlns:a16="http://schemas.microsoft.com/office/drawing/2014/main" val="20003"/>
                    </a:ext>
                  </a:extLst>
                </a:gridCol>
                <a:gridCol w="241573">
                  <a:extLst>
                    <a:ext uri="{9D8B030D-6E8A-4147-A177-3AD203B41FA5}">
                      <a16:colId xmlns:a16="http://schemas.microsoft.com/office/drawing/2014/main" val="20004"/>
                    </a:ext>
                  </a:extLst>
                </a:gridCol>
                <a:gridCol w="611619">
                  <a:extLst>
                    <a:ext uri="{9D8B030D-6E8A-4147-A177-3AD203B41FA5}">
                      <a16:colId xmlns:a16="http://schemas.microsoft.com/office/drawing/2014/main" val="20005"/>
                    </a:ext>
                  </a:extLst>
                </a:gridCol>
                <a:gridCol w="1262068">
                  <a:extLst>
                    <a:ext uri="{9D8B030D-6E8A-4147-A177-3AD203B41FA5}">
                      <a16:colId xmlns:a16="http://schemas.microsoft.com/office/drawing/2014/main" val="20009"/>
                    </a:ext>
                  </a:extLst>
                </a:gridCol>
                <a:gridCol w="625213">
                  <a:extLst>
                    <a:ext uri="{9D8B030D-6E8A-4147-A177-3AD203B41FA5}">
                      <a16:colId xmlns:a16="http://schemas.microsoft.com/office/drawing/2014/main" val="2523461480"/>
                    </a:ext>
                  </a:extLst>
                </a:gridCol>
                <a:gridCol w="319914">
                  <a:extLst>
                    <a:ext uri="{9D8B030D-6E8A-4147-A177-3AD203B41FA5}">
                      <a16:colId xmlns:a16="http://schemas.microsoft.com/office/drawing/2014/main" val="20011"/>
                    </a:ext>
                  </a:extLst>
                </a:gridCol>
                <a:gridCol w="541721">
                  <a:extLst>
                    <a:ext uri="{9D8B030D-6E8A-4147-A177-3AD203B41FA5}">
                      <a16:colId xmlns:a16="http://schemas.microsoft.com/office/drawing/2014/main" val="20012"/>
                    </a:ext>
                  </a:extLst>
                </a:gridCol>
                <a:gridCol w="401918">
                  <a:extLst>
                    <a:ext uri="{9D8B030D-6E8A-4147-A177-3AD203B41FA5}">
                      <a16:colId xmlns:a16="http://schemas.microsoft.com/office/drawing/2014/main" val="20013"/>
                    </a:ext>
                  </a:extLst>
                </a:gridCol>
                <a:gridCol w="646567">
                  <a:extLst>
                    <a:ext uri="{9D8B030D-6E8A-4147-A177-3AD203B41FA5}">
                      <a16:colId xmlns:a16="http://schemas.microsoft.com/office/drawing/2014/main" val="20014"/>
                    </a:ext>
                  </a:extLst>
                </a:gridCol>
                <a:gridCol w="1411887">
                  <a:extLst>
                    <a:ext uri="{9D8B030D-6E8A-4147-A177-3AD203B41FA5}">
                      <a16:colId xmlns:a16="http://schemas.microsoft.com/office/drawing/2014/main" val="20018"/>
                    </a:ext>
                  </a:extLst>
                </a:gridCol>
                <a:gridCol w="772470">
                  <a:extLst>
                    <a:ext uri="{9D8B030D-6E8A-4147-A177-3AD203B41FA5}">
                      <a16:colId xmlns:a16="http://schemas.microsoft.com/office/drawing/2014/main" val="1361156796"/>
                    </a:ext>
                  </a:extLst>
                </a:gridCol>
                <a:gridCol w="276019">
                  <a:extLst>
                    <a:ext uri="{9D8B030D-6E8A-4147-A177-3AD203B41FA5}">
                      <a16:colId xmlns:a16="http://schemas.microsoft.com/office/drawing/2014/main" val="20021"/>
                    </a:ext>
                  </a:extLst>
                </a:gridCol>
                <a:gridCol w="368655">
                  <a:extLst>
                    <a:ext uri="{9D8B030D-6E8A-4147-A177-3AD203B41FA5}">
                      <a16:colId xmlns:a16="http://schemas.microsoft.com/office/drawing/2014/main" val="1036429855"/>
                    </a:ext>
                  </a:extLst>
                </a:gridCol>
                <a:gridCol w="567931">
                  <a:extLst>
                    <a:ext uri="{9D8B030D-6E8A-4147-A177-3AD203B41FA5}">
                      <a16:colId xmlns:a16="http://schemas.microsoft.com/office/drawing/2014/main" val="20022"/>
                    </a:ext>
                  </a:extLst>
                </a:gridCol>
                <a:gridCol w="375211">
                  <a:extLst>
                    <a:ext uri="{9D8B030D-6E8A-4147-A177-3AD203B41FA5}">
                      <a16:colId xmlns:a16="http://schemas.microsoft.com/office/drawing/2014/main" val="20023"/>
                    </a:ext>
                  </a:extLst>
                </a:gridCol>
                <a:gridCol w="514980">
                  <a:extLst>
                    <a:ext uri="{9D8B030D-6E8A-4147-A177-3AD203B41FA5}">
                      <a16:colId xmlns:a16="http://schemas.microsoft.com/office/drawing/2014/main" val="20024"/>
                    </a:ext>
                  </a:extLst>
                </a:gridCol>
              </a:tblGrid>
              <a:tr h="244314">
                <a:tc gridSpan="6">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62876">
                <a:tc>
                  <a:txBody>
                    <a:bodyPr/>
                    <a:lstStyle/>
                    <a:p>
                      <a:pPr algn="l" fontAlgn="b"/>
                      <a:r>
                        <a:rPr lang="en-US" sz="900" b="0" i="1" u="none" strike="noStrike" dirty="0">
                          <a:solidFill>
                            <a:srgbClr val="000000"/>
                          </a:solidFill>
                          <a:effectLst/>
                          <a:latin typeface="MULISH REGULAR ROMAN"/>
                        </a:rPr>
                        <a:t> Willaims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62876">
                <a:tc>
                  <a:txBody>
                    <a:bodyPr/>
                    <a:lstStyle/>
                    <a:p>
                      <a:pPr algn="l" fontAlgn="b"/>
                      <a:r>
                        <a:rPr lang="en-US" sz="900" b="0" i="1" u="none" strike="noStrike" dirty="0">
                          <a:solidFill>
                            <a:srgbClr val="000000"/>
                          </a:solidFill>
                          <a:effectLst/>
                          <a:latin typeface="MULISH REGULAR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62876">
                <a:tc>
                  <a:txBody>
                    <a:bodyPr/>
                    <a:lstStyle/>
                    <a:p>
                      <a:pPr algn="l" fontAlgn="b"/>
                      <a:r>
                        <a:rPr lang="en-US" sz="900" b="0" i="1" u="none" strike="noStrike" dirty="0">
                          <a:solidFill>
                            <a:srgbClr val="000000"/>
                          </a:solidFill>
                          <a:effectLst/>
                          <a:latin typeface="MULISH REGULAR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62876">
                <a:tc>
                  <a:txBody>
                    <a:bodyPr/>
                    <a:lstStyle/>
                    <a:p>
                      <a:pPr algn="l" fontAlgn="b"/>
                      <a:r>
                        <a:rPr lang="en-US" sz="900" b="0" i="1" u="none" strike="noStrike" dirty="0">
                          <a:solidFill>
                            <a:srgbClr val="000000"/>
                          </a:solidFill>
                          <a:effectLst/>
                          <a:latin typeface="MULISH REGULAR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62876">
                <a:tc>
                  <a:txBody>
                    <a:bodyPr/>
                    <a:lstStyle/>
                    <a:p>
                      <a:pPr algn="l" fontAlgn="b"/>
                      <a:r>
                        <a:rPr lang="en-US" sz="900" b="0" i="1" u="none" strike="noStrike" dirty="0">
                          <a:solidFill>
                            <a:srgbClr val="000000"/>
                          </a:solidFill>
                          <a:effectLst/>
                          <a:latin typeface="MULISH REGULAR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6-2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Valazquez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rPr>
                        <a:t>Kouisisis</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164d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62876">
                <a:tc>
                  <a:txBody>
                    <a:bodyPr/>
                    <a:lstStyle/>
                    <a:p>
                      <a:pPr algn="l" fontAlgn="b"/>
                      <a:r>
                        <a:rPr lang="en-US" sz="900" b="0" i="1" u="none" strike="noStrike" dirty="0">
                          <a:solidFill>
                            <a:srgbClr val="000000"/>
                          </a:solidFill>
                          <a:effectLst/>
                          <a:latin typeface="MULISH REGULAR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62876">
                <a:tc>
                  <a:txBody>
                    <a:bodyPr/>
                    <a:lstStyle/>
                    <a:p>
                      <a:pPr algn="l" fontAlgn="b"/>
                      <a:r>
                        <a:rPr lang="en-US" sz="900" b="0" i="1" u="none" strike="noStrike" dirty="0">
                          <a:solidFill>
                            <a:srgbClr val="000000"/>
                          </a:solidFill>
                          <a:effectLst/>
                          <a:latin typeface="MULISH REGULAR ROMAN"/>
                        </a:rPr>
                        <a:t> </a:t>
                      </a:r>
                      <a:r>
                        <a:rPr lang="en-US" sz="900" b="0" i="1" u="none" strike="noStrike" dirty="0" err="1">
                          <a:solidFill>
                            <a:srgbClr val="000000"/>
                          </a:solidFill>
                          <a:effectLst/>
                          <a:latin typeface="MULISH REGULAR ROMAN"/>
                        </a:rPr>
                        <a:t>Bouarafa</a:t>
                      </a:r>
                      <a:endParaRPr lang="en-US" sz="900" b="0" i="1" u="none" strike="noStrike" dirty="0">
                        <a:solidFill>
                          <a:srgbClr val="000000"/>
                        </a:solidFill>
                        <a:effectLst/>
                        <a:latin typeface="MULISH REGULAR ROMAN"/>
                      </a:endParaRP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171d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62876">
                <a:tc>
                  <a:txBody>
                    <a:bodyPr/>
                    <a:lstStyle/>
                    <a:p>
                      <a:pPr algn="l" fontAlgn="b"/>
                      <a:r>
                        <a:rPr lang="en-US" sz="900" b="0" i="1" u="none" strike="noStrike" dirty="0">
                          <a:solidFill>
                            <a:srgbClr val="000000"/>
                          </a:solidFill>
                          <a:effectLst/>
                          <a:latin typeface="MULISH REGULAR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CAFC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62876">
                <a:tc>
                  <a:txBody>
                    <a:bodyPr/>
                    <a:lstStyle/>
                    <a:p>
                      <a:pPr algn="l" fontAlgn="b"/>
                      <a:r>
                        <a:rPr lang="en-US" sz="900" b="0" i="1" u="none" strike="noStrike" dirty="0">
                          <a:solidFill>
                            <a:srgbClr val="000000"/>
                          </a:solidFill>
                          <a:effectLst/>
                          <a:latin typeface="MULISH REGULAR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62876">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44314">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lnT>
                      <a:noFill/>
                    </a:lnT>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Guitierrez</a:t>
                      </a:r>
                    </a:p>
                  </a:txBody>
                  <a:tcPr marL="45720" marR="0" marT="0" marB="0" anchor="ctr"/>
                </a:tc>
                <a:tc>
                  <a:txBody>
                    <a:bodyPr/>
                    <a:lstStyle/>
                    <a:p>
                      <a:pPr lvl="0" algn="l">
                        <a:lnSpc>
                          <a:spcPct val="100000"/>
                        </a:lnSpc>
                        <a:spcBef>
                          <a:spcPts val="0"/>
                        </a:spcBef>
                        <a:spcAft>
                          <a:spcPts val="0"/>
                        </a:spcAft>
                        <a:buNone/>
                      </a:pPr>
                      <a:endParaRPr lang="en-US" sz="900" b="0" i="0" u="none" strike="noStrike" noProof="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Jackson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100d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67d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94d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Jackson</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74d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A</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62876">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44314">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Hamm</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62876">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53d</a:t>
                      </a:r>
                    </a:p>
                  </a:txBody>
                  <a:tcPr marL="45720" marR="0" marT="0" marB="0" anchor="ctr"/>
                </a:tc>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Andrew</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CA10</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a:t>
                      </a:r>
                      <a:endParaRPr lang="en-US" dirty="0"/>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DOE v. CA</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DCMA</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algn="l"/>
                      <a:r>
                        <a:rPr lang="en-US" sz="900" b="1" i="0" dirty="0">
                          <a:latin typeface="MULISH BOLD ROMAN" pitchFamily="2" charset="77"/>
                        </a:rPr>
                        <a:t>Total opinions released</a:t>
                      </a:r>
                    </a:p>
                  </a:txBody>
                  <a:tcPr marL="45720" marR="0" marT="0" marB="0"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Zuch</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52d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Trump v. J.G.G.</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DCDC</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no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900" b="1" i="0" kern="120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endParaRPr lang="en-US" sz="900" b="1" i="0" dirty="0">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A.A.R.P v. Trump</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CA5</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T w="12700" cap="flat" cmpd="sng" algn="ctr">
                      <a:solidFill>
                        <a:schemeClr val="tx1"/>
                      </a:solidFill>
                      <a:prstDash val="solid"/>
                      <a:round/>
                      <a:headEnd type="none" w="med" len="med"/>
                      <a:tailEnd type="none" w="med" len="med"/>
                    </a:lnT>
                  </a:tcPr>
                </a:tc>
                <a:tc gridSpan="4">
                  <a:txBody>
                    <a:bodyPr/>
                    <a:lstStyle/>
                    <a:p>
                      <a:pPr algn="l"/>
                      <a:r>
                        <a:rPr lang="en-US" sz="900" dirty="0">
                          <a:effectLst/>
                          <a:latin typeface="MULISH REGULAR ROMAN" pitchFamily="2" charset="77"/>
                        </a:rPr>
                        <a:t>#</a:t>
                      </a:r>
                      <a:endParaRPr lang="en-US" dirty="0"/>
                    </a:p>
                  </a:txBody>
                  <a:tcPr marL="45720" marR="0" marT="0" marB="0" anchor="ct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273880576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2"/>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45d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T>
                      <a:noFill/>
                    </a:lnT>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3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PC</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38d</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DIG</a:t>
                      </a: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pitchFamily="2" charset="77"/>
                        </a:rPr>
                        <a:t>PC</a:t>
                      </a: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22d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endParaRPr lang="en-US" dirty="0"/>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Judgement,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
        <p:nvSpPr>
          <p:cNvPr id="5" name="Slide Number Placeholder 4">
            <a:extLst>
              <a:ext uri="{FF2B5EF4-FFF2-40B4-BE49-F238E27FC236}">
                <a16:creationId xmlns:a16="http://schemas.microsoft.com/office/drawing/2014/main" id="{3B9ADC86-F6CF-1245-415F-213F8787392C}"/>
              </a:ext>
            </a:extLst>
          </p:cNvPr>
          <p:cNvSpPr>
            <a:spLocks noGrp="1"/>
          </p:cNvSpPr>
          <p:nvPr>
            <p:ph type="sldNum" sz="quarter" idx="12"/>
          </p:nvPr>
        </p:nvSpPr>
        <p:spPr/>
        <p:txBody>
          <a:bodyPr/>
          <a:lstStyle/>
          <a:p>
            <a:fld id="{5E212BD6-99D2-4430-8307-3DFF6CB1AF68}" type="slidenum">
              <a:rPr lang="en-US" smtClean="0"/>
              <a:t>29</a:t>
            </a:fld>
            <a:endParaRPr lang="en-US" dirty="0"/>
          </a:p>
        </p:txBody>
      </p:sp>
    </p:spTree>
    <p:extLst>
      <p:ext uri="{BB962C8B-B14F-4D97-AF65-F5344CB8AC3E}">
        <p14:creationId xmlns:p14="http://schemas.microsoft.com/office/powerpoint/2010/main" val="2508063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26490</TotalTime>
  <Words>4255</Words>
  <Application>Microsoft Office PowerPoint</Application>
  <PresentationFormat>Widescreen</PresentationFormat>
  <Paragraphs>1560</Paragraphs>
  <Slides>29</Slides>
  <Notes>14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29</vt:i4>
      </vt:variant>
    </vt:vector>
  </HeadingPairs>
  <TitlesOfParts>
    <vt:vector size="40" baseType="lpstr">
      <vt:lpstr>Aptos</vt:lpstr>
      <vt:lpstr>Arial</vt:lpstr>
      <vt:lpstr>Calibri</vt:lpstr>
      <vt:lpstr>Calibri Light</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 2025  UPDATED June 16,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317</cp:revision>
  <cp:lastPrinted>2019-06-28T21:02:00Z</cp:lastPrinted>
  <dcterms:created xsi:type="dcterms:W3CDTF">2019-02-07T19:44:00Z</dcterms:created>
  <dcterms:modified xsi:type="dcterms:W3CDTF">2025-06-16T13:50:09Z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