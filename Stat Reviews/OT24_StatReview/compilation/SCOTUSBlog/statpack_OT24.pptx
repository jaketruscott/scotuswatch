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1"/>
  </p:notesMasterIdLst>
  <p:sldIdLst>
    <p:sldId id="392" r:id="rId2"/>
    <p:sldId id="269" r:id="rId3"/>
    <p:sldId id="393" r:id="rId4"/>
    <p:sldId id="402" r:id="rId5"/>
    <p:sldId id="381" r:id="rId6"/>
    <p:sldId id="345" r:id="rId7"/>
    <p:sldId id="411" r:id="rId8"/>
    <p:sldId id="390" r:id="rId9"/>
    <p:sldId id="391" r:id="rId10"/>
    <p:sldId id="299" r:id="rId11"/>
    <p:sldId id="343" r:id="rId12"/>
    <p:sldId id="412" r:id="rId13"/>
    <p:sldId id="395" r:id="rId14"/>
    <p:sldId id="407" r:id="rId15"/>
    <p:sldId id="396" r:id="rId16"/>
    <p:sldId id="383" r:id="rId17"/>
    <p:sldId id="340" r:id="rId18"/>
    <p:sldId id="406" r:id="rId19"/>
    <p:sldId id="404" r:id="rId20"/>
    <p:sldId id="405" r:id="rId21"/>
    <p:sldId id="410" r:id="rId22"/>
    <p:sldId id="409" r:id="rId23"/>
    <p:sldId id="350" r:id="rId24"/>
    <p:sldId id="413" r:id="rId25"/>
    <p:sldId id="324" r:id="rId26"/>
    <p:sldId id="398" r:id="rId27"/>
    <p:sldId id="399" r:id="rId28"/>
    <p:sldId id="400" r:id="rId29"/>
    <p:sldId id="401" r:id="rId30"/>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402"/>
            <p14:sldId id="381"/>
            <p14:sldId id="345"/>
            <p14:sldId id="411"/>
            <p14:sldId id="390"/>
            <p14:sldId id="391"/>
            <p14:sldId id="299"/>
            <p14:sldId id="343"/>
            <p14:sldId id="412"/>
            <p14:sldId id="395"/>
            <p14:sldId id="407"/>
            <p14:sldId id="396"/>
            <p14:sldId id="383"/>
            <p14:sldId id="340"/>
            <p14:sldId id="406"/>
            <p14:sldId id="404"/>
            <p14:sldId id="405"/>
            <p14:sldId id="410"/>
            <p14:sldId id="409"/>
            <p14:sldId id="350"/>
            <p14:sldId id="413"/>
            <p14:sldId id="324"/>
            <p14:sldId id="398"/>
            <p14:sldId id="399"/>
            <p14:sldId id="400"/>
            <p14:sldId id="401"/>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4"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B9BD5"/>
    <a:srgbClr val="4E478A"/>
    <a:srgbClr val="0F9147"/>
    <a:srgbClr val="FDD532"/>
    <a:srgbClr val="4F4789"/>
    <a:srgbClr val="0469A9"/>
    <a:srgbClr val="4FEDED"/>
    <a:srgbClr val="A90404"/>
    <a:srgbClr val="D2DEEF"/>
    <a:srgbClr val="66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1"/>
    <p:restoredTop sz="95170"/>
  </p:normalViewPr>
  <p:slideViewPr>
    <p:cSldViewPr snapToGrid="0">
      <p:cViewPr varScale="1">
        <p:scale>
          <a:sx n="111" d="100"/>
          <a:sy n="111" d="100"/>
        </p:scale>
        <p:origin x="558" y="78"/>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commentAuthors" Target="commentAuthors.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5/19/2025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11</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13</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14</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15</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5E1B-EC2E-15F7-D0C5-521782784A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4C9298-400C-EB0E-07F9-DFADCF20B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A2E9C-A622-8E88-EC27-F54978D489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83E0E0-2341-3B2A-A4EE-9AA9E493B6F0}"/>
              </a:ext>
            </a:extLst>
          </p:cNvPr>
          <p:cNvSpPr>
            <a:spLocks noGrp="1"/>
          </p:cNvSpPr>
          <p:nvPr>
            <p:ph type="sldNum" sz="quarter" idx="5"/>
          </p:nvPr>
        </p:nvSpPr>
        <p:spPr/>
        <p:txBody>
          <a:bodyPr/>
          <a:lstStyle/>
          <a:p>
            <a:fld id="{B834DF19-3E08-411A-A452-BC015BCC027A}" type="slidenum">
              <a:rPr lang="en-US" smtClean="0"/>
              <a:t>22</a:t>
            </a:fld>
            <a:endParaRPr lang="en-US"/>
          </a:p>
        </p:txBody>
      </p:sp>
    </p:spTree>
    <p:extLst>
      <p:ext uri="{BB962C8B-B14F-4D97-AF65-F5344CB8AC3E}">
        <p14:creationId xmlns:p14="http://schemas.microsoft.com/office/powerpoint/2010/main" val="19362297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27</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28</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29</a:t>
            </a:fld>
            <a:endParaRPr lang="en-US"/>
          </a:p>
        </p:txBody>
      </p:sp>
    </p:spTree>
    <p:extLst>
      <p:ext uri="{BB962C8B-B14F-4D97-AF65-F5344CB8AC3E}">
        <p14:creationId xmlns:p14="http://schemas.microsoft.com/office/powerpoint/2010/main" val="2270274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404DE1D-F371-4D93-A051-8E4291309856}" type="datetime1">
              <a:rPr lang="en-US" smtClean="0"/>
              <a:t>5/19/2025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FA28C88-2091-411C-8E6D-D707E5A32593}" type="datetime1">
              <a:rPr lang="en-US" smtClean="0"/>
              <a:t>5/19/2025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B7A5D965-537E-4674-9D26-E591095F6E01}" type="datetime1">
              <a:rPr lang="en-US" smtClean="0"/>
              <a:t>5/19/2025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C467566-C371-408E-8F2D-3E574A0545A1}" type="datetime1">
              <a:rPr lang="en-US" smtClean="0"/>
              <a:t>5/19/2025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8776E93-5451-45E2-A790-01EC21311EF1}" type="datetime1">
              <a:rPr lang="en-US" smtClean="0"/>
              <a:t>5/19/2025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75DF2C9-1C8F-4DE1-840C-5402BB8470C8}" type="datetime1">
              <a:rPr lang="en-US" smtClean="0"/>
              <a:t>5/19/2025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4F80A29-A7D5-4AA0-8AFB-29039B5FC3F7}" type="datetime1">
              <a:rPr lang="en-US" smtClean="0"/>
              <a:t>5/19/2025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84DB8124-C576-407D-8F26-9D88A07D9C27}" type="datetime1">
              <a:rPr lang="en-US" smtClean="0"/>
              <a:t>5/19/2025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6A15BE4-95D6-4BC1-B7B6-793738243B8D}" type="datetime1">
              <a:rPr lang="en-US" smtClean="0"/>
              <a:t>5/19/2025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DCD188-A32A-44D9-8497-916B4940CED7}" type="datetime1">
              <a:rPr lang="en-US" smtClean="0"/>
              <a:t>5/19/2025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242DAC5-BD41-4F85-B02E-3945FFF7E277}" type="datetime1">
              <a:rPr lang="en-US" smtClean="0"/>
              <a:t>5/19/2025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FA29DED-D69B-4EB7-BF85-2AE58F0DDAF2}" type="datetime1">
              <a:rPr lang="en-US" smtClean="0"/>
              <a:t>5/19/2025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mqscores.wustl.edu/"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mqscores.wustl.edu/"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2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1"/>
            <a:ext cx="4971156" cy="2716320"/>
          </a:xfrm>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800" b="1" dirty="0">
                <a:highlight>
                  <a:srgbClr val="00FFFF"/>
                </a:highlight>
                <a:latin typeface="MULISH SEMIBOLD ROMAN" pitchFamily="2" charset="77"/>
              </a:rPr>
              <a:t>June .., 2025</a:t>
            </a:r>
            <a:br>
              <a:rPr lang="en-US" sz="2800" b="1" dirty="0">
                <a:latin typeface="MULISH EXTRABOLD ROMAN" pitchFamily="2" charset="77"/>
              </a:rPr>
            </a:br>
            <a:br>
              <a:rPr lang="en-US" sz="2800" b="1" dirty="0">
                <a:latin typeface="MULISH EXTRABOLD ROMAN" pitchFamily="2" charset="77"/>
              </a:rPr>
            </a:br>
            <a:r>
              <a:rPr lang="en-US" sz="2800" b="1" dirty="0">
                <a:highlight>
                  <a:srgbClr val="FF0000"/>
                </a:highlight>
                <a:latin typeface="MULISH EXTRABOLD ROMAN" pitchFamily="2" charset="77"/>
              </a:rPr>
              <a:t>UPDATED MAY 19, 2025</a:t>
            </a: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feedback@scotusblog.com</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797402"/>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t>2</a:t>
            </a:fld>
            <a:endParaRPr lang="en-US" sz="800" dirty="0"/>
          </a:p>
        </p:txBody>
      </p:sp>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13" name="Table 13">
            <a:extLst>
              <a:ext uri="{FF2B5EF4-FFF2-40B4-BE49-F238E27FC236}">
                <a16:creationId xmlns:a16="http://schemas.microsoft.com/office/drawing/2014/main" id="{2816B8B4-2B75-4A4E-82B3-628AEF4C139E}"/>
              </a:ext>
            </a:extLst>
          </p:cNvPr>
          <p:cNvGraphicFramePr>
            <a:graphicFrameLocks noGrp="1"/>
          </p:cNvGraphicFramePr>
          <p:nvPr>
            <p:extLst>
              <p:ext uri="{D42A27DB-BD31-4B8C-83A1-F6EECF244321}">
                <p14:modId xmlns:p14="http://schemas.microsoft.com/office/powerpoint/2010/main" val="1703814600"/>
              </p:ext>
            </p:extLst>
          </p:nvPr>
        </p:nvGraphicFramePr>
        <p:xfrm>
          <a:off x="347690" y="1106041"/>
          <a:ext cx="11431022" cy="5069556"/>
        </p:xfrm>
        <a:graphic>
          <a:graphicData uri="http://schemas.openxmlformats.org/drawingml/2006/table">
            <a:tbl>
              <a:tblPr firstRow="1" bandRow="1">
                <a:tableStyleId>{2D5ABB26-0587-4C30-8999-92F81FD0307C}</a:tableStyleId>
              </a:tblPr>
              <a:tblGrid>
                <a:gridCol w="10648075">
                  <a:extLst>
                    <a:ext uri="{9D8B030D-6E8A-4147-A177-3AD203B41FA5}">
                      <a16:colId xmlns:a16="http://schemas.microsoft.com/office/drawing/2014/main" val="1260107550"/>
                    </a:ext>
                  </a:extLst>
                </a:gridCol>
                <a:gridCol w="782947">
                  <a:extLst>
                    <a:ext uri="{9D8B030D-6E8A-4147-A177-3AD203B41FA5}">
                      <a16:colId xmlns:a16="http://schemas.microsoft.com/office/drawing/2014/main" val="2073143177"/>
                    </a:ext>
                  </a:extLst>
                </a:gridCol>
              </a:tblGrid>
              <a:tr h="338866">
                <a:tc>
                  <a:txBody>
                    <a:bodyPr/>
                    <a:lstStyle/>
                    <a:p>
                      <a:pPr>
                        <a:lnSpc>
                          <a:spcPts val="1940"/>
                        </a:lnSpc>
                      </a:pPr>
                      <a:r>
                        <a:rPr lang="en-US" sz="1400" dirty="0">
                          <a:latin typeface="MULISH REGULAR ROMAN" pitchFamily="2" charset="77"/>
                        </a:rPr>
                        <a:t>Introduction . .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3</a:t>
                      </a:r>
                    </a:p>
                  </a:txBody>
                  <a:tcPr marT="0" marB="0"/>
                </a:tc>
                <a:extLst>
                  <a:ext uri="{0D108BD9-81ED-4DB2-BD59-A6C34878D82A}">
                    <a16:rowId xmlns:a16="http://schemas.microsoft.com/office/drawing/2014/main" val="563563825"/>
                  </a:ext>
                </a:extLst>
              </a:tr>
              <a:tr h="338866">
                <a:tc>
                  <a:txBody>
                    <a:bodyPr/>
                    <a:lstStyle/>
                    <a:p>
                      <a:r>
                        <a:rPr lang="en-US" sz="1400" dirty="0">
                          <a:latin typeface="MULISH REGULAR ROMAN" pitchFamily="2" charset="77"/>
                        </a:rPr>
                        <a:t>Term Index  . .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4</a:t>
                      </a:r>
                    </a:p>
                  </a:txBody>
                  <a:tcPr marT="0" marB="0"/>
                </a:tc>
                <a:extLst>
                  <a:ext uri="{0D108BD9-81ED-4DB2-BD59-A6C34878D82A}">
                    <a16:rowId xmlns:a16="http://schemas.microsoft.com/office/drawing/2014/main" val="174027382"/>
                  </a:ext>
                </a:extLst>
              </a:tr>
              <a:tr h="338866">
                <a:tc>
                  <a:txBody>
                    <a:bodyPr/>
                    <a:lstStyle/>
                    <a:p>
                      <a:r>
                        <a:rPr lang="en-US" sz="1400" dirty="0">
                          <a:latin typeface="MULISH REGULAR ROMAN" pitchFamily="2" charset="77"/>
                        </a:rPr>
                        <a:t>Circuit Scorecard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5</a:t>
                      </a:r>
                    </a:p>
                  </a:txBody>
                  <a:tcPr marT="0" marB="0"/>
                </a:tc>
                <a:extLst>
                  <a:ext uri="{0D108BD9-81ED-4DB2-BD59-A6C34878D82A}">
                    <a16:rowId xmlns:a16="http://schemas.microsoft.com/office/drawing/2014/main" val="3645463055"/>
                  </a:ext>
                </a:extLst>
              </a:tr>
              <a:tr h="338866">
                <a:tc>
                  <a:txBody>
                    <a:bodyPr/>
                    <a:lstStyle/>
                    <a:p>
                      <a:r>
                        <a:rPr lang="en-US" sz="1400" dirty="0">
                          <a:latin typeface="MULISH REGULAR ROMAN" pitchFamily="2" charset="77"/>
                        </a:rPr>
                        <a:t>Makeup of the Merits Docket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6-7</a:t>
                      </a:r>
                    </a:p>
                  </a:txBody>
                  <a:tcPr marT="0" marB="0"/>
                </a:tc>
                <a:extLst>
                  <a:ext uri="{0D108BD9-81ED-4DB2-BD59-A6C34878D82A}">
                    <a16:rowId xmlns:a16="http://schemas.microsoft.com/office/drawing/2014/main" val="4075254628"/>
                  </a:ext>
                </a:extLst>
              </a:tr>
              <a:tr h="338866">
                <a:tc>
                  <a:txBody>
                    <a:bodyPr/>
                    <a:lstStyle/>
                    <a:p>
                      <a:r>
                        <a:rPr lang="en-US" sz="1400" dirty="0">
                          <a:latin typeface="MULISH REGULAR ROMAN" pitchFamily="2" charset="77"/>
                        </a:rPr>
                        <a:t>Days Between Argument and Opinion  . . . . . . . . . . . . . . . . . . . . . . . . . . . . . . . . . . . . . . . . . . . . . . . . . . . . . . . . . . . . . . . . . . . . . . . . . . . . . . . . . . . . . . . . . . . </a:t>
                      </a:r>
                    </a:p>
                  </a:txBody>
                  <a:tcPr marT="0" marB="0"/>
                </a:tc>
                <a:tc>
                  <a:txBody>
                    <a:bodyPr/>
                    <a:lstStyle/>
                    <a:p>
                      <a:pPr algn="r"/>
                      <a:r>
                        <a:rPr lang="en-US" sz="1400" dirty="0">
                          <a:latin typeface="MULISH REGULAR ROMAN" pitchFamily="2" charset="77"/>
                        </a:rPr>
                        <a:t>8</a:t>
                      </a:r>
                    </a:p>
                  </a:txBody>
                  <a:tcPr marT="0" marB="0"/>
                </a:tc>
                <a:extLst>
                  <a:ext uri="{0D108BD9-81ED-4DB2-BD59-A6C34878D82A}">
                    <a16:rowId xmlns:a16="http://schemas.microsoft.com/office/drawing/2014/main" val="2785059909"/>
                  </a:ext>
                </a:extLst>
              </a:tr>
              <a:tr h="3388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MULISH REGULAR ROMAN" pitchFamily="2" charset="77"/>
                        </a:rPr>
                        <a:t>Total Opinions Over Time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9</a:t>
                      </a:r>
                    </a:p>
                  </a:txBody>
                  <a:tcPr marT="0" marB="0"/>
                </a:tc>
                <a:extLst>
                  <a:ext uri="{0D108BD9-81ED-4DB2-BD59-A6C34878D82A}">
                    <a16:rowId xmlns:a16="http://schemas.microsoft.com/office/drawing/2014/main" val="3171149815"/>
                  </a:ext>
                </a:extLst>
              </a:tr>
              <a:tr h="338866">
                <a:tc>
                  <a:txBody>
                    <a:bodyPr/>
                    <a:lstStyle/>
                    <a:p>
                      <a:r>
                        <a:rPr lang="en-US" sz="1400" dirty="0">
                          <a:latin typeface="MULISH REGULAR ROMAN" pitchFamily="2" charset="77"/>
                        </a:rPr>
                        <a:t>Opinions Authored by Each Justice  . . . . . . . . . . . . . . . . . . . . . . . . . . . . . . . . . . . . . . . . . . . . . . . . . . . . . . . . . . . . . . . . . . . . . . . . . . . . . . . . . . . . . . . . . . . . . . </a:t>
                      </a:r>
                    </a:p>
                  </a:txBody>
                  <a:tcPr marT="0" marB="0"/>
                </a:tc>
                <a:tc>
                  <a:txBody>
                    <a:bodyPr/>
                    <a:lstStyle/>
                    <a:p>
                      <a:pPr algn="r"/>
                      <a:r>
                        <a:rPr lang="en-US" sz="1400" dirty="0">
                          <a:latin typeface="MULISH REGULAR ROMAN" pitchFamily="2" charset="77"/>
                        </a:rPr>
                        <a:t>10-11</a:t>
                      </a:r>
                    </a:p>
                  </a:txBody>
                  <a:tcPr marT="0" marB="0"/>
                </a:tc>
                <a:extLst>
                  <a:ext uri="{0D108BD9-81ED-4DB2-BD59-A6C34878D82A}">
                    <a16:rowId xmlns:a16="http://schemas.microsoft.com/office/drawing/2014/main" val="1778411587"/>
                  </a:ext>
                </a:extLst>
              </a:tr>
              <a:tr h="338866">
                <a:tc>
                  <a:txBody>
                    <a:bodyPr/>
                    <a:lstStyle/>
                    <a:p>
                      <a:r>
                        <a:rPr lang="en-US" sz="1400" dirty="0">
                          <a:latin typeface="MULISH REGULAR ROMAN" pitchFamily="2" charset="77"/>
                        </a:rPr>
                        <a:t>Opinion Lengths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12</a:t>
                      </a:r>
                    </a:p>
                  </a:txBody>
                  <a:tcPr marT="0" marB="0"/>
                </a:tc>
                <a:extLst>
                  <a:ext uri="{0D108BD9-81ED-4DB2-BD59-A6C34878D82A}">
                    <a16:rowId xmlns:a16="http://schemas.microsoft.com/office/drawing/2014/main" val="2976990729"/>
                  </a:ext>
                </a:extLst>
              </a:tr>
              <a:tr h="338866">
                <a:tc>
                  <a:txBody>
                    <a:bodyPr/>
                    <a:lstStyle/>
                    <a:p>
                      <a:r>
                        <a:rPr lang="en-US" sz="1400" dirty="0">
                          <a:latin typeface="MULISH REGULAR ROMAN" pitchFamily="2" charset="77"/>
                        </a:rPr>
                        <a:t>Frequency in the Majority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13-15</a:t>
                      </a:r>
                    </a:p>
                  </a:txBody>
                  <a:tcPr marT="0" marB="0"/>
                </a:tc>
                <a:extLst>
                  <a:ext uri="{0D108BD9-81ED-4DB2-BD59-A6C34878D82A}">
                    <a16:rowId xmlns:a16="http://schemas.microsoft.com/office/drawing/2014/main" val="2363128489"/>
                  </a:ext>
                </a:extLst>
              </a:tr>
              <a:tr h="325432">
                <a:tc>
                  <a:txBody>
                    <a:bodyPr/>
                    <a:lstStyle/>
                    <a:p>
                      <a:r>
                        <a:rPr lang="en-US" sz="1400" dirty="0">
                          <a:latin typeface="MULISH REGULAR ROMAN" pitchFamily="2" charset="77"/>
                        </a:rPr>
                        <a:t>Strength of the Majority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16</a:t>
                      </a:r>
                    </a:p>
                  </a:txBody>
                  <a:tcPr marT="0" marB="0"/>
                </a:tc>
                <a:extLst>
                  <a:ext uri="{0D108BD9-81ED-4DB2-BD59-A6C34878D82A}">
                    <a16:rowId xmlns:a16="http://schemas.microsoft.com/office/drawing/2014/main" val="3533005523"/>
                  </a:ext>
                </a:extLst>
              </a:tr>
              <a:tr h="338866">
                <a:tc>
                  <a:txBody>
                    <a:bodyPr/>
                    <a:lstStyle/>
                    <a:p>
                      <a:r>
                        <a:rPr lang="en-US" sz="1400" dirty="0">
                          <a:latin typeface="MULISH REGULAR ROMAN" pitchFamily="2" charset="77"/>
                        </a:rPr>
                        <a:t>Merits Cases by Vote Split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17-18</a:t>
                      </a:r>
                    </a:p>
                  </a:txBody>
                  <a:tcPr marT="0" marB="0"/>
                </a:tc>
                <a:extLst>
                  <a:ext uri="{0D108BD9-81ED-4DB2-BD59-A6C34878D82A}">
                    <a16:rowId xmlns:a16="http://schemas.microsoft.com/office/drawing/2014/main" val="2304371767"/>
                  </a:ext>
                </a:extLst>
              </a:tr>
              <a:tr h="338866">
                <a:tc>
                  <a:txBody>
                    <a:bodyPr/>
                    <a:lstStyle/>
                    <a:p>
                      <a:r>
                        <a:rPr lang="en-US" sz="1400" dirty="0">
                          <a:latin typeface="MULISH REGULAR ROMAN" pitchFamily="2" charset="77"/>
                        </a:rPr>
                        <a:t>Unanimity  . . .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19-20</a:t>
                      </a:r>
                    </a:p>
                  </a:txBody>
                  <a:tcPr marT="0" marB="0"/>
                </a:tc>
                <a:extLst>
                  <a:ext uri="{0D108BD9-81ED-4DB2-BD59-A6C34878D82A}">
                    <a16:rowId xmlns:a16="http://schemas.microsoft.com/office/drawing/2014/main" val="213502349"/>
                  </a:ext>
                </a:extLst>
              </a:tr>
              <a:tr h="3388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latin typeface="MULISH REGULAR ROMAN" pitchFamily="2" charset="77"/>
                        </a:rPr>
                        <a:t>Judicial Review . . .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21</a:t>
                      </a:r>
                    </a:p>
                  </a:txBody>
                  <a:tcPr marT="0" marB="0"/>
                </a:tc>
                <a:extLst>
                  <a:ext uri="{0D108BD9-81ED-4DB2-BD59-A6C34878D82A}">
                    <a16:rowId xmlns:a16="http://schemas.microsoft.com/office/drawing/2014/main" val="2340122278"/>
                  </a:ext>
                </a:extLst>
              </a:tr>
              <a:tr h="338866">
                <a:tc>
                  <a:txBody>
                    <a:bodyPr/>
                    <a:lstStyle/>
                    <a:p>
                      <a:r>
                        <a:rPr lang="en-US" sz="1400" dirty="0">
                          <a:latin typeface="MULISH REGULAR ROMAN" pitchFamily="2" charset="77"/>
                        </a:rPr>
                        <a:t>Justice Agreement &amp; Coalitions  . . . . . . . . . . . . . . . . . . . . . . . . . . . . . . . . . . . . . . . . . . . . . . . . . . . . . . . . . . . . . . . . . . . . . . . . . . . . . . . . . . . . . . . . . . . . . . . . . </a:t>
                      </a:r>
                    </a:p>
                  </a:txBody>
                  <a:tcPr marT="0" marB="0"/>
                </a:tc>
                <a:tc>
                  <a:txBody>
                    <a:bodyPr/>
                    <a:lstStyle/>
                    <a:p>
                      <a:pPr algn="r"/>
                      <a:r>
                        <a:rPr lang="en-US" sz="1400" dirty="0">
                          <a:latin typeface="MULISH REGULAR ROMAN" pitchFamily="2" charset="77"/>
                        </a:rPr>
                        <a:t>22-24</a:t>
                      </a:r>
                    </a:p>
                  </a:txBody>
                  <a:tcPr marT="0" marB="0"/>
                </a:tc>
                <a:extLst>
                  <a:ext uri="{0D108BD9-81ED-4DB2-BD59-A6C34878D82A}">
                    <a16:rowId xmlns:a16="http://schemas.microsoft.com/office/drawing/2014/main" val="4213982856"/>
                  </a:ext>
                </a:extLst>
              </a:tr>
              <a:tr h="338866">
                <a:tc>
                  <a:txBody>
                    <a:bodyPr/>
                    <a:lstStyle/>
                    <a:p>
                      <a:r>
                        <a:rPr lang="en-US" sz="1400" dirty="0">
                          <a:latin typeface="MULISH REGULAR ROMAN" pitchFamily="2" charset="77"/>
                        </a:rPr>
                        <a:t>Voting Alignments . . . . . . . . . . . . . . . . . . . . . . . . . . . . . . . . . . . . . . . . . . . . . . . . . . . . . . . . . . . . . . . . . . . . . . . . . . . . . . . . . . . . . . . . . . . . . . . . . . . . . . . . . . . . </a:t>
                      </a:r>
                    </a:p>
                  </a:txBody>
                  <a:tcPr marT="0" marB="0"/>
                </a:tc>
                <a:tc>
                  <a:txBody>
                    <a:bodyPr/>
                    <a:lstStyle/>
                    <a:p>
                      <a:pPr algn="r"/>
                      <a:r>
                        <a:rPr lang="en-US" sz="1400" dirty="0">
                          <a:latin typeface="MULISH REGULAR ROMAN" pitchFamily="2" charset="77"/>
                        </a:rPr>
                        <a:t>25-28</a:t>
                      </a:r>
                    </a:p>
                  </a:txBody>
                  <a:tcPr marT="0" marB="0"/>
                </a:tc>
                <a:extLst>
                  <a:ext uri="{0D108BD9-81ED-4DB2-BD59-A6C34878D82A}">
                    <a16:rowId xmlns:a16="http://schemas.microsoft.com/office/drawing/2014/main" val="3061411432"/>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7" name="Slide Number Placeholder 3">
            <a:extLst>
              <a:ext uri="{FF2B5EF4-FFF2-40B4-BE49-F238E27FC236}">
                <a16:creationId xmlns:a16="http://schemas.microsoft.com/office/drawing/2014/main" id="{2A45BD41-D12E-F345-8BE8-A89CDA828240}"/>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t>3</a:t>
            </a:fld>
            <a:endParaRPr lang="en-US" sz="800" dirty="0"/>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1599738958"/>
              </p:ext>
            </p:extLst>
          </p:nvPr>
        </p:nvGraphicFramePr>
        <p:xfrm>
          <a:off x="395056" y="857559"/>
          <a:ext cx="11401887" cy="5944974"/>
        </p:xfrm>
        <a:graphic>
          <a:graphicData uri="http://schemas.openxmlformats.org/drawingml/2006/table">
            <a:tbl>
              <a:tblPr firstRow="1" bandRow="1">
                <a:tableStyleId>{C083E6E3-FA7D-4D7B-A595-EF9225AFEA82}</a:tableStyleId>
              </a:tblPr>
              <a:tblGrid>
                <a:gridCol w="984623">
                  <a:extLst>
                    <a:ext uri="{9D8B030D-6E8A-4147-A177-3AD203B41FA5}">
                      <a16:colId xmlns:a16="http://schemas.microsoft.com/office/drawing/2014/main" val="20000"/>
                    </a:ext>
                  </a:extLst>
                </a:gridCol>
                <a:gridCol w="142321">
                  <a:extLst>
                    <a:ext uri="{9D8B030D-6E8A-4147-A177-3AD203B41FA5}">
                      <a16:colId xmlns:a16="http://schemas.microsoft.com/office/drawing/2014/main" val="2854710428"/>
                    </a:ext>
                  </a:extLst>
                </a:gridCol>
                <a:gridCol w="502791">
                  <a:extLst>
                    <a:ext uri="{9D8B030D-6E8A-4147-A177-3AD203B41FA5}">
                      <a16:colId xmlns:a16="http://schemas.microsoft.com/office/drawing/2014/main" val="20001"/>
                    </a:ext>
                  </a:extLst>
                </a:gridCol>
                <a:gridCol w="346750">
                  <a:extLst>
                    <a:ext uri="{9D8B030D-6E8A-4147-A177-3AD203B41FA5}">
                      <a16:colId xmlns:a16="http://schemas.microsoft.com/office/drawing/2014/main" val="20002"/>
                    </a:ext>
                  </a:extLst>
                </a:gridCol>
                <a:gridCol w="557852">
                  <a:extLst>
                    <a:ext uri="{9D8B030D-6E8A-4147-A177-3AD203B41FA5}">
                      <a16:colId xmlns:a16="http://schemas.microsoft.com/office/drawing/2014/main" val="20003"/>
                    </a:ext>
                  </a:extLst>
                </a:gridCol>
                <a:gridCol w="239676">
                  <a:extLst>
                    <a:ext uri="{9D8B030D-6E8A-4147-A177-3AD203B41FA5}">
                      <a16:colId xmlns:a16="http://schemas.microsoft.com/office/drawing/2014/main" val="20004"/>
                    </a:ext>
                  </a:extLst>
                </a:gridCol>
                <a:gridCol w="606816">
                  <a:extLst>
                    <a:ext uri="{9D8B030D-6E8A-4147-A177-3AD203B41FA5}">
                      <a16:colId xmlns:a16="http://schemas.microsoft.com/office/drawing/2014/main" val="20005"/>
                    </a:ext>
                  </a:extLst>
                </a:gridCol>
                <a:gridCol w="1252156">
                  <a:extLst>
                    <a:ext uri="{9D8B030D-6E8A-4147-A177-3AD203B41FA5}">
                      <a16:colId xmlns:a16="http://schemas.microsoft.com/office/drawing/2014/main" val="20009"/>
                    </a:ext>
                  </a:extLst>
                </a:gridCol>
                <a:gridCol w="620303">
                  <a:extLst>
                    <a:ext uri="{9D8B030D-6E8A-4147-A177-3AD203B41FA5}">
                      <a16:colId xmlns:a16="http://schemas.microsoft.com/office/drawing/2014/main" val="2523461480"/>
                    </a:ext>
                  </a:extLst>
                </a:gridCol>
                <a:gridCol w="317401">
                  <a:extLst>
                    <a:ext uri="{9D8B030D-6E8A-4147-A177-3AD203B41FA5}">
                      <a16:colId xmlns:a16="http://schemas.microsoft.com/office/drawing/2014/main" val="20011"/>
                    </a:ext>
                  </a:extLst>
                </a:gridCol>
                <a:gridCol w="537466">
                  <a:extLst>
                    <a:ext uri="{9D8B030D-6E8A-4147-A177-3AD203B41FA5}">
                      <a16:colId xmlns:a16="http://schemas.microsoft.com/office/drawing/2014/main" val="20012"/>
                    </a:ext>
                  </a:extLst>
                </a:gridCol>
                <a:gridCol w="398761">
                  <a:extLst>
                    <a:ext uri="{9D8B030D-6E8A-4147-A177-3AD203B41FA5}">
                      <a16:colId xmlns:a16="http://schemas.microsoft.com/office/drawing/2014/main" val="20013"/>
                    </a:ext>
                  </a:extLst>
                </a:gridCol>
                <a:gridCol w="641489">
                  <a:extLst>
                    <a:ext uri="{9D8B030D-6E8A-4147-A177-3AD203B41FA5}">
                      <a16:colId xmlns:a16="http://schemas.microsoft.com/office/drawing/2014/main" val="20014"/>
                    </a:ext>
                  </a:extLst>
                </a:gridCol>
                <a:gridCol w="1400798">
                  <a:extLst>
                    <a:ext uri="{9D8B030D-6E8A-4147-A177-3AD203B41FA5}">
                      <a16:colId xmlns:a16="http://schemas.microsoft.com/office/drawing/2014/main" val="20018"/>
                    </a:ext>
                  </a:extLst>
                </a:gridCol>
                <a:gridCol w="766403">
                  <a:extLst>
                    <a:ext uri="{9D8B030D-6E8A-4147-A177-3AD203B41FA5}">
                      <a16:colId xmlns:a16="http://schemas.microsoft.com/office/drawing/2014/main" val="1361156796"/>
                    </a:ext>
                  </a:extLst>
                </a:gridCol>
                <a:gridCol w="273851">
                  <a:extLst>
                    <a:ext uri="{9D8B030D-6E8A-4147-A177-3AD203B41FA5}">
                      <a16:colId xmlns:a16="http://schemas.microsoft.com/office/drawing/2014/main" val="20021"/>
                    </a:ext>
                  </a:extLst>
                </a:gridCol>
                <a:gridCol w="365760">
                  <a:extLst>
                    <a:ext uri="{9D8B030D-6E8A-4147-A177-3AD203B41FA5}">
                      <a16:colId xmlns:a16="http://schemas.microsoft.com/office/drawing/2014/main" val="1036429855"/>
                    </a:ext>
                  </a:extLst>
                </a:gridCol>
                <a:gridCol w="563471">
                  <a:extLst>
                    <a:ext uri="{9D8B030D-6E8A-4147-A177-3AD203B41FA5}">
                      <a16:colId xmlns:a16="http://schemas.microsoft.com/office/drawing/2014/main" val="20022"/>
                    </a:ext>
                  </a:extLst>
                </a:gridCol>
                <a:gridCol w="372264">
                  <a:extLst>
                    <a:ext uri="{9D8B030D-6E8A-4147-A177-3AD203B41FA5}">
                      <a16:colId xmlns:a16="http://schemas.microsoft.com/office/drawing/2014/main" val="20023"/>
                    </a:ext>
                  </a:extLst>
                </a:gridCol>
                <a:gridCol w="510935">
                  <a:extLst>
                    <a:ext uri="{9D8B030D-6E8A-4147-A177-3AD203B41FA5}">
                      <a16:colId xmlns:a16="http://schemas.microsoft.com/office/drawing/2014/main" val="20024"/>
                    </a:ext>
                  </a:extLst>
                </a:gridCol>
              </a:tblGrid>
              <a:tr h="244314">
                <a:tc gridSpan="7">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62876">
                <a:tc>
                  <a:txBody>
                    <a:bodyPr/>
                    <a:lstStyle/>
                    <a:p>
                      <a:pPr algn="l" fontAlgn="b"/>
                      <a:r>
                        <a:rPr lang="en-US" sz="900" b="0" i="1" u="none" strike="noStrike" dirty="0">
                          <a:solidFill>
                            <a:srgbClr val="000000"/>
                          </a:solidFill>
                          <a:effectLst/>
                          <a:latin typeface="MULISH REGULAR ROMAN"/>
                        </a:rPr>
                        <a:t> Willaims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SCAL</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0" dirty="0">
                          <a:effectLst/>
                          <a:latin typeface="MULISH REGULAR ROMAN"/>
                        </a:rPr>
                        <a:t>Kagan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a:effectLst/>
                          <a:latin typeface="MULISH BLACK ROMAN"/>
                        </a:rPr>
                        <a:t>Alito</a:t>
                      </a:r>
                      <a:endParaRPr lang="en-US" sz="900" i="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62876">
                <a:tc>
                  <a:txBody>
                    <a:bodyPr/>
                    <a:lstStyle/>
                    <a:p>
                      <a:pPr algn="l" fontAlgn="b"/>
                      <a:r>
                        <a:rPr lang="en-US" sz="900" b="0" i="1" u="none" strike="noStrike" dirty="0">
                          <a:solidFill>
                            <a:srgbClr val="000000"/>
                          </a:solidFill>
                          <a:effectLst/>
                          <a:latin typeface="MULISH REGULAR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176d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Jackson</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62876">
                <a:tc>
                  <a:txBody>
                    <a:bodyPr/>
                    <a:lstStyle/>
                    <a:p>
                      <a:pPr algn="l" fontAlgn="b"/>
                      <a:r>
                        <a:rPr lang="en-US" sz="900" b="0" i="1" u="none" strike="noStrike" dirty="0">
                          <a:solidFill>
                            <a:srgbClr val="000000"/>
                          </a:solidFill>
                          <a:effectLst/>
                          <a:latin typeface="MULISH REGULAR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Sotomayor</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62876">
                <a:tc>
                  <a:txBody>
                    <a:bodyPr/>
                    <a:lstStyle/>
                    <a:p>
                      <a:pPr algn="l" fontAlgn="b"/>
                      <a:r>
                        <a:rPr lang="en-US" sz="900" b="0" i="1" u="none" strike="noStrike" dirty="0">
                          <a:solidFill>
                            <a:srgbClr val="000000"/>
                          </a:solidFill>
                          <a:effectLst/>
                          <a:latin typeface="MULISH REGULAR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62876">
                <a:tc>
                  <a:txBody>
                    <a:bodyPr/>
                    <a:lstStyle/>
                    <a:p>
                      <a:pPr algn="l" fontAlgn="b"/>
                      <a:r>
                        <a:rPr lang="en-US" sz="900" b="0" i="1" u="none" strike="noStrike" dirty="0">
                          <a:solidFill>
                            <a:srgbClr val="000000"/>
                          </a:solidFill>
                          <a:effectLst/>
                          <a:latin typeface="MULISH REGULAR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6-2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CCAOK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Valazquez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rPr>
                        <a:t>Kouisisis</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62876">
                <a:tc>
                  <a:txBody>
                    <a:bodyPr/>
                    <a:lstStyle/>
                    <a:p>
                      <a:pPr algn="l" fontAlgn="b"/>
                      <a:r>
                        <a:rPr lang="en-US" sz="900" b="0" i="1" u="none" strike="noStrike" dirty="0">
                          <a:solidFill>
                            <a:srgbClr val="000000"/>
                          </a:solidFill>
                          <a:effectLst/>
                          <a:latin typeface="MULISH REGULAR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143d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62876">
                <a:tc>
                  <a:txBody>
                    <a:bodyPr/>
                    <a:lstStyle/>
                    <a:p>
                      <a:pPr algn="l" fontAlgn="b"/>
                      <a:r>
                        <a:rPr lang="en-US" sz="900" b="0" i="1" u="none" strike="noStrike" dirty="0">
                          <a:solidFill>
                            <a:srgbClr val="000000"/>
                          </a:solidFill>
                          <a:effectLst/>
                          <a:latin typeface="MULISH REGULAR ROMAN"/>
                        </a:rPr>
                        <a:t> </a:t>
                      </a:r>
                      <a:r>
                        <a:rPr lang="en-US" sz="900" b="0" i="1" u="none" strike="noStrike" dirty="0" err="1">
                          <a:solidFill>
                            <a:srgbClr val="000000"/>
                          </a:solidFill>
                          <a:effectLst/>
                          <a:latin typeface="MULISH REGULAR ROMAN"/>
                        </a:rPr>
                        <a:t>Bouarafa</a:t>
                      </a:r>
                      <a:endParaRPr lang="en-US" sz="900" b="0" i="1" u="none" strike="noStrike" dirty="0">
                        <a:solidFill>
                          <a:srgbClr val="000000"/>
                        </a:solidFill>
                        <a:effectLst/>
                        <a:latin typeface="MULISH REGULAR ROMAN"/>
                      </a:endParaRP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CA11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62876">
                <a:tc>
                  <a:txBody>
                    <a:bodyPr/>
                    <a:lstStyle/>
                    <a:p>
                      <a:pPr algn="l" fontAlgn="b"/>
                      <a:r>
                        <a:rPr lang="en-US" sz="900" b="0" i="1" u="none" strike="noStrike" dirty="0">
                          <a:solidFill>
                            <a:srgbClr val="000000"/>
                          </a:solidFill>
                          <a:effectLst/>
                          <a:latin typeface="MULISH REGULAR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CAFC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62876">
                <a:tc>
                  <a:txBody>
                    <a:bodyPr/>
                    <a:lstStyle/>
                    <a:p>
                      <a:pPr algn="l" fontAlgn="b"/>
                      <a:r>
                        <a:rPr lang="en-US" sz="900" b="0" i="1" u="none" strike="noStrike" dirty="0">
                          <a:solidFill>
                            <a:srgbClr val="000000"/>
                          </a:solidFill>
                          <a:effectLst/>
                          <a:latin typeface="MULISH REGULAR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gridSpan="2">
                  <a:txBody>
                    <a:bodyPr/>
                    <a:lstStyle/>
                    <a:p>
                      <a:pPr algn="l" fontAlgn="b"/>
                      <a:r>
                        <a:rPr lang="en-US" sz="900" b="0" i="0" u="none" strike="noStrike" dirty="0">
                          <a:solidFill>
                            <a:srgbClr val="000000"/>
                          </a:solidFill>
                          <a:effectLst/>
                          <a:latin typeface="MULISH REGULAR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strike="sngStrike">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CA9</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62876">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gridSpan="2">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44314">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SMS</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Guitierrez</a:t>
                      </a:r>
                    </a:p>
                  </a:txBody>
                  <a:tcPr marL="45720" marR="0" marT="0" marB="0" anchor="ctr"/>
                </a:tc>
                <a:tc>
                  <a:txBody>
                    <a:bodyPr/>
                    <a:lstStyle/>
                    <a:p>
                      <a:pPr lvl="0" algn="l">
                        <a:lnSpc>
                          <a:spcPct val="100000"/>
                        </a:lnSpc>
                        <a:spcBef>
                          <a:spcPts val="0"/>
                        </a:spcBef>
                        <a:spcAft>
                          <a:spcPts val="0"/>
                        </a:spcAft>
                        <a:buNone/>
                      </a:pPr>
                      <a:endParaRPr lang="en-US" sz="900" b="0" i="0" u="none" strike="noStrike" noProof="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BMK</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EK</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NMG</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SAA</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RBG</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gridSpan="2">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hMerge="1">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62876">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gridSpan="2">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62876">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gridSpan="2">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44314">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Hamm</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62876">
                <a:tc gridSpan="2">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hMerge="1">
                  <a:txBody>
                    <a:bodyPr/>
                    <a:lstStyle/>
                    <a:p>
                      <a:pPr marL="0" algn="l" rtl="0" eaLnBrk="1" fontAlgn="base" latinLnBrk="0" hangingPunct="1">
                        <a:spcBef>
                          <a:spcPts val="0"/>
                        </a:spcBef>
                        <a:spcAft>
                          <a:spcPts val="0"/>
                        </a:spcAft>
                      </a:pPr>
                      <a:endParaRPr lang="en-US" sz="900" i="1" strike="noStrike" baseline="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Andrew</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CA10</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Per Curiam</a:t>
                      </a: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DOE v. CA</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DCMA</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Shadow Docket</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algn="l" rtl="0" eaLnBrk="1" fontAlgn="base" latinLnBrk="0" hangingPunct="1">
                        <a:spcBef>
                          <a:spcPts val="0"/>
                        </a:spcBef>
                        <a:spcAft>
                          <a:spcPts val="0"/>
                        </a:spcAft>
                      </a:pPr>
                      <a:r>
                        <a:rPr lang="en-US" sz="900" kern="1200" dirty="0">
                          <a:effectLst/>
                          <a:latin typeface="MULISH REGULAR ROMAN" pitchFamily="2" charset="77"/>
                        </a:rPr>
                        <a:t>#</a:t>
                      </a:r>
                    </a:p>
                  </a:txBody>
                  <a:tcPr marL="45720" marR="0" marT="0" marB="0" anchor="ctr">
                    <a:lnR>
                      <a:noFill/>
                    </a:lnR>
                    <a:lnB w="12700" cap="flat" cmpd="sng" algn="ctr">
                      <a:solidFill>
                        <a:schemeClr val="tx1"/>
                      </a:solidFill>
                      <a:prstDash val="solid"/>
                      <a:round/>
                      <a:headEnd type="none" w="med" len="med"/>
                      <a:tailEnd type="none" w="med" len="med"/>
                    </a:lnB>
                  </a:tcPr>
                </a:tc>
                <a:tc gridSpan="3">
                  <a:txBody>
                    <a:bodyPr/>
                    <a:lstStyle/>
                    <a:p>
                      <a:endParaRPr lang="en-US" sz="900" dirty="0">
                        <a:latin typeface="MULISH REGULAR ROMAN" pitchFamily="2" charset="77"/>
                      </a:endParaRPr>
                    </a:p>
                  </a:txBody>
                  <a:tcPr marL="45720" marR="0" marT="0" marB="0" anchor="ctr">
                    <a:lnL>
                      <a:noFill/>
                    </a:lnL>
                    <a:lnR>
                      <a:noFill/>
                    </a:lnR>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Cir</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Trump v. J.G.G.</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DCDC</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r>
                        <a:rPr lang="en-US" sz="900" b="1" i="0" dirty="0">
                          <a:latin typeface="MULISH BOLD ROMAN" pitchFamily="2" charset="77"/>
                        </a:rPr>
                        <a:t>Total opinions released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A.A.R.P v. Trump</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CA5</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hMerge="1">
                  <a:txBody>
                    <a:bodyPr/>
                    <a:lstStyle/>
                    <a:p>
                      <a:endParaRPr lang="en-US"/>
                    </a:p>
                  </a:txBody>
                  <a:tcPr/>
                </a:tc>
                <a:tc hMerge="1">
                  <a:txBody>
                    <a:bodyPr/>
                    <a:lstStyle/>
                    <a:p>
                      <a:endParaRPr lang="en-US"/>
                    </a:p>
                  </a:txBody>
                  <a:tcPr>
                    <a:lnT w="12700" cap="flat" cmpd="sng" algn="ctr">
                      <a:solidFill>
                        <a:schemeClr val="tx1"/>
                      </a:solidFill>
                      <a:prstDash val="solid"/>
                      <a:round/>
                      <a:headEnd type="none" w="med" len="med"/>
                      <a:tailEnd type="none" w="med" len="med"/>
                    </a:lnT>
                  </a:tcPr>
                </a:tc>
                <a:tc gridSpan="4">
                  <a:txBody>
                    <a:bodyPr/>
                    <a:lstStyle/>
                    <a:p>
                      <a:pPr algn="l"/>
                      <a:endParaRPr lang="en-US" sz="800" dirty="0">
                        <a:latin typeface="MULISH REGULAR ROMAN" pitchFamily="2" charset="77"/>
                      </a:endParaRPr>
                    </a:p>
                  </a:txBody>
                  <a:tcPr marL="45720" marR="0" marT="0" marB="0"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738805768"/>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L>
                      <a:noFill/>
                    </a:lnL>
                  </a:tcPr>
                </a:tc>
                <a:tc gridSpan="4">
                  <a:txBody>
                    <a:bodyPr/>
                    <a:lstStyle/>
                    <a:p>
                      <a:pPr algn="l"/>
                      <a:r>
                        <a:rPr lang="en-US" sz="900" dirty="0">
                          <a:effectLst/>
                          <a:latin typeface="MULISH REGULAR ROMAN" pitchFamily="2" charset="77"/>
                        </a:rPr>
                        <a:t>#</a:t>
                      </a:r>
                      <a:endParaRPr lang="en-US" dirty="0"/>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32"/>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hMerge="1">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T>
                      <a:noFill/>
                    </a:lnT>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4"/>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hMerge="1">
                  <a:txBody>
                    <a:bodyPr/>
                    <a:lstStyle/>
                    <a:p>
                      <a:pPr marL="0" algn="l" rtl="0" eaLnBrk="1" fontAlgn="base" latinLnBrk="0" hangingPunct="1">
                        <a:spcBef>
                          <a:spcPts val="0"/>
                        </a:spcBef>
                        <a:spcAft>
                          <a:spcPts val="0"/>
                        </a:spcAft>
                      </a:pPr>
                      <a:endParaRPr lang="en-US" sz="900" i="1" err="1">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hMerge="1">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162876">
                <a:tc gridSpan="2">
                  <a:txBody>
                    <a:bodyPr/>
                    <a:lstStyle/>
                    <a:p>
                      <a:pPr marL="0" algn="l" rtl="0" eaLnBrk="1" fontAlgn="base" latinLnBrk="0" hangingPunct="1">
                        <a:spcBef>
                          <a:spcPts val="0"/>
                        </a:spcBef>
                        <a:spcAft>
                          <a:spcPts val="0"/>
                        </a:spcAft>
                      </a:pPr>
                      <a:r>
                        <a:rPr lang="en-US" sz="900" i="1" dirty="0">
                          <a:effectLst/>
                          <a:latin typeface="MULISH REGULAR ROMAN" pitchFamily="2" charset="77"/>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3" name="Slide Number Placeholder 2">
            <a:extLst>
              <a:ext uri="{FF2B5EF4-FFF2-40B4-BE49-F238E27FC236}">
                <a16:creationId xmlns:a16="http://schemas.microsoft.com/office/drawing/2014/main" id="{E7F8BED9-8304-8F33-176F-3D1C79BF7F0E}"/>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4</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 Majority Opinion Author, Vote, Days Between Arguments and Opinion, Judgement,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 Per Curiam</a:t>
            </a:r>
          </a:p>
        </p:txBody>
      </p:sp>
    </p:spTree>
    <p:extLst>
      <p:ext uri="{BB962C8B-B14F-4D97-AF65-F5344CB8AC3E}">
        <p14:creationId xmlns:p14="http://schemas.microsoft.com/office/powerpoint/2010/main" val="2508063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3511683235"/>
              </p:ext>
            </p:extLst>
          </p:nvPr>
        </p:nvGraphicFramePr>
        <p:xfrm>
          <a:off x="344808" y="918414"/>
          <a:ext cx="11135992" cy="5107248"/>
        </p:xfrm>
        <a:graphic>
          <a:graphicData uri="http://schemas.openxmlformats.org/drawingml/2006/table">
            <a:tbl>
              <a:tblPr firstRow="1" bandRow="1">
                <a:tableStyleId>{C083E6E3-FA7D-4D7B-A595-EF9225AFEA82}</a:tableStyleId>
              </a:tblPr>
              <a:tblGrid>
                <a:gridCol w="1391999">
                  <a:extLst>
                    <a:ext uri="{9D8B030D-6E8A-4147-A177-3AD203B41FA5}">
                      <a16:colId xmlns:a16="http://schemas.microsoft.com/office/drawing/2014/main" val="20000"/>
                    </a:ext>
                  </a:extLst>
                </a:gridCol>
                <a:gridCol w="1391999">
                  <a:extLst>
                    <a:ext uri="{9D8B030D-6E8A-4147-A177-3AD203B41FA5}">
                      <a16:colId xmlns:a16="http://schemas.microsoft.com/office/drawing/2014/main" val="20001"/>
                    </a:ext>
                  </a:extLst>
                </a:gridCol>
                <a:gridCol w="1391999">
                  <a:extLst>
                    <a:ext uri="{9D8B030D-6E8A-4147-A177-3AD203B41FA5}">
                      <a16:colId xmlns:a16="http://schemas.microsoft.com/office/drawing/2014/main" val="20002"/>
                    </a:ext>
                  </a:extLst>
                </a:gridCol>
                <a:gridCol w="1391999">
                  <a:extLst>
                    <a:ext uri="{9D8B030D-6E8A-4147-A177-3AD203B41FA5}">
                      <a16:colId xmlns:a16="http://schemas.microsoft.com/office/drawing/2014/main" val="20003"/>
                    </a:ext>
                  </a:extLst>
                </a:gridCol>
                <a:gridCol w="1391999">
                  <a:extLst>
                    <a:ext uri="{9D8B030D-6E8A-4147-A177-3AD203B41FA5}">
                      <a16:colId xmlns:a16="http://schemas.microsoft.com/office/drawing/2014/main" val="20004"/>
                    </a:ext>
                  </a:extLst>
                </a:gridCol>
                <a:gridCol w="1391999">
                  <a:extLst>
                    <a:ext uri="{9D8B030D-6E8A-4147-A177-3AD203B41FA5}">
                      <a16:colId xmlns:a16="http://schemas.microsoft.com/office/drawing/2014/main" val="20005"/>
                    </a:ext>
                  </a:extLst>
                </a:gridCol>
                <a:gridCol w="1391999">
                  <a:extLst>
                    <a:ext uri="{9D8B030D-6E8A-4147-A177-3AD203B41FA5}">
                      <a16:colId xmlns:a16="http://schemas.microsoft.com/office/drawing/2014/main" val="20006"/>
                    </a:ext>
                  </a:extLst>
                </a:gridCol>
                <a:gridCol w="1391999">
                  <a:extLst>
                    <a:ext uri="{9D8B030D-6E8A-4147-A177-3AD203B41FA5}">
                      <a16:colId xmlns:a16="http://schemas.microsoft.com/office/drawing/2014/main" val="20007"/>
                    </a:ext>
                  </a:extLst>
                </a:gridCol>
              </a:tblGrid>
              <a:tr h="283736">
                <a:tc>
                  <a:txBody>
                    <a:bodyPr/>
                    <a:lstStyle/>
                    <a:p>
                      <a:pPr marL="0" algn="ctr" rtl="0" eaLnBrk="1" fontAlgn="auto" latinLnBrk="0" hangingPunct="1">
                        <a:spcBef>
                          <a:spcPts val="0"/>
                        </a:spcBef>
                        <a:spcAft>
                          <a:spcPts val="0"/>
                        </a:spcAft>
                      </a:pPr>
                      <a:r>
                        <a:rPr lang="en-US" sz="1100" b="1" kern="1200" dirty="0">
                          <a:latin typeface="MULISH REGULAR ROMAN"/>
                        </a:rPr>
                        <a:t>​Court below</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Decided​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Affirmed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1st Cir.​</a:t>
                      </a:r>
                      <a:endParaRPr lang="en-US" sz="1100" b="0" dirty="0">
                        <a:effectLst/>
                        <a:latin typeface="MULISH REGULAR ROMAN"/>
                      </a:endParaRPr>
                    </a:p>
                  </a:txBody>
                  <a:tcPr marL="0" marR="0" marT="0" marB="0" anchor="ctr">
                    <a:lnT w="12700" cmpd="sng">
                      <a:noFill/>
                    </a:lnT>
                  </a:tcPr>
                </a:tc>
                <a:tc>
                  <a:txBody>
                    <a:bodyPr/>
                    <a:lstStyle/>
                    <a:p>
                      <a:pPr algn="ctr" fontAlgn="ctr"/>
                      <a:r>
                        <a:rPr lang="en-US" sz="1100" b="0" i="0" u="none" strike="noStrike">
                          <a:solidFill>
                            <a:srgbClr val="000000"/>
                          </a:solidFill>
                          <a:effectLst/>
                          <a:latin typeface="MULISH REGULAR ROMAN"/>
                        </a:rPr>
                        <a:t>1</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1.50%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ctr"/>
                      <a:r>
                        <a:rPr lang="en-US" sz="1100" b="0" i="0" u="none" strike="noStrike">
                          <a:solidFill>
                            <a:srgbClr val="000000"/>
                          </a:solidFill>
                          <a:effectLst/>
                          <a:latin typeface="MULISH REGULAR ROMAN"/>
                        </a:rPr>
                        <a:t>0%</a:t>
                      </a:r>
                    </a:p>
                  </a:txBody>
                  <a:tcPr marL="9525" marR="9525" marT="9525" marB="0" anchor="ctr">
                    <a:lnT w="12700" cmpd="sng">
                      <a:noFill/>
                    </a:lnT>
                  </a:tcPr>
                </a:tc>
                <a:extLst>
                  <a:ext uri="{0D108BD9-81ED-4DB2-BD59-A6C34878D82A}">
                    <a16:rowId xmlns:a16="http://schemas.microsoft.com/office/drawing/2014/main" val="10002"/>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2nd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6</a:t>
                      </a:r>
                    </a:p>
                  </a:txBody>
                  <a:tcPr marL="9525" marR="9525" marT="9525" marB="0" anchor="ctr"/>
                </a:tc>
                <a:tc>
                  <a:txBody>
                    <a:bodyPr/>
                    <a:lstStyle/>
                    <a:p>
                      <a:pPr algn="ctr" fontAlgn="ctr"/>
                      <a:r>
                        <a:rPr lang="en-US" sz="1100" b="0" i="0" u="none" strike="noStrike">
                          <a:solidFill>
                            <a:srgbClr val="000000"/>
                          </a:solidFill>
                          <a:effectLst/>
                          <a:latin typeface="MULISH REGULAR ROMAN"/>
                        </a:rPr>
                        <a:t>9.10%</a:t>
                      </a:r>
                    </a:p>
                  </a:txBody>
                  <a:tcPr marL="9525" marR="9525" marT="9525"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3"/>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3rd Cir.</a:t>
                      </a:r>
                      <a:endParaRPr lang="en-US" sz="1100" b="0" dirty="0">
                        <a:effectLst/>
                        <a:latin typeface="MULISH REGULAR ROMAN"/>
                      </a:endParaRPr>
                    </a:p>
                  </a:txBody>
                  <a:tcPr marL="0" marR="0" marT="0" marB="0" anchor="ctr"/>
                </a:tc>
                <a:tc>
                  <a:txBody>
                    <a:bodyPr/>
                    <a:lstStyle/>
                    <a:p>
                      <a:pPr algn="ctr" fontAlgn="ctr"/>
                      <a:r>
                        <a:rPr lang="en-US" sz="1100" b="0" i="0" u="none" strike="noStrike" dirty="0">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4th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8</a:t>
                      </a:r>
                    </a:p>
                  </a:txBody>
                  <a:tcPr marL="9525" marR="9525" marT="9525" marB="0" anchor="ctr"/>
                </a:tc>
                <a:tc>
                  <a:txBody>
                    <a:bodyPr/>
                    <a:lstStyle/>
                    <a:p>
                      <a:pPr algn="ctr" fontAlgn="ctr"/>
                      <a:r>
                        <a:rPr lang="en-US" sz="1100" b="0" i="0" u="none" strike="noStrike">
                          <a:solidFill>
                            <a:srgbClr val="000000"/>
                          </a:solidFill>
                          <a:effectLst/>
                          <a:latin typeface="MULISH REGULAR ROMAN"/>
                        </a:rPr>
                        <a:t>12.10%</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5"/>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5th</a:t>
                      </a:r>
                      <a:r>
                        <a:rPr lang="en-US" sz="1100" b="0" kern="1200" baseline="30000" dirty="0">
                          <a:effectLst/>
                          <a:latin typeface="MULISH REGULAR ROMAN"/>
                        </a:rPr>
                        <a:t> </a:t>
                      </a:r>
                      <a:r>
                        <a:rPr lang="en-US" sz="1100" b="0" kern="1200" dirty="0">
                          <a:effectLst/>
                          <a:latin typeface="MULISH REGULAR ROMAN"/>
                        </a:rPr>
                        <a:t>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12</a:t>
                      </a:r>
                    </a:p>
                  </a:txBody>
                  <a:tcPr marL="9525" marR="9525" marT="9525" marB="0" anchor="ctr"/>
                </a:tc>
                <a:tc>
                  <a:txBody>
                    <a:bodyPr/>
                    <a:lstStyle/>
                    <a:p>
                      <a:pPr algn="ctr" fontAlgn="ctr"/>
                      <a:r>
                        <a:rPr lang="en-US" sz="1100" b="0" i="0" u="none" strike="noStrike">
                          <a:solidFill>
                            <a:srgbClr val="000000"/>
                          </a:solidFill>
                          <a:effectLst/>
                          <a:latin typeface="MULISH REGULAR ROMAN"/>
                        </a:rPr>
                        <a:t>18.20%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6"/>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6th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6.10%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07"/>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7th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8"/>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8th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3.00%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extLst>
                  <a:ext uri="{0D108BD9-81ED-4DB2-BD59-A6C34878D82A}">
                    <a16:rowId xmlns:a16="http://schemas.microsoft.com/office/drawing/2014/main" val="10009"/>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9th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6</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9.10%</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0"/>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10th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1"/>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11th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12"/>
                  </a:ext>
                </a:extLst>
              </a:tr>
              <a:tr h="283736">
                <a:tc>
                  <a:txBody>
                    <a:bodyPr/>
                    <a:lstStyle/>
                    <a:p>
                      <a:pPr marL="0" algn="ctr" rtl="0">
                        <a:spcBef>
                          <a:spcPts val="0"/>
                        </a:spcBef>
                        <a:spcAft>
                          <a:spcPts val="0"/>
                        </a:spcAft>
                      </a:pPr>
                      <a:r>
                        <a:rPr lang="en-US" sz="1100" b="0" kern="1200" dirty="0">
                          <a:effectLst/>
                          <a:latin typeface="MULISH REGULAR ROMAN"/>
                        </a:rPr>
                        <a:t>D.C.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5</a:t>
                      </a:r>
                    </a:p>
                  </a:txBody>
                  <a:tcPr marL="9525" marR="9525" marT="9525" marB="0" anchor="ctr"/>
                </a:tc>
                <a:tc>
                  <a:txBody>
                    <a:bodyPr/>
                    <a:lstStyle/>
                    <a:p>
                      <a:pPr algn="ctr" fontAlgn="ctr"/>
                      <a:r>
                        <a:rPr lang="en-US" sz="1100" b="0" i="0" u="none" strike="noStrike">
                          <a:solidFill>
                            <a:srgbClr val="000000"/>
                          </a:solidFill>
                          <a:effectLst/>
                          <a:latin typeface="MULISH REGULAR ROMAN"/>
                        </a:rPr>
                        <a:t>7.60%</a:t>
                      </a:r>
                    </a:p>
                  </a:txBody>
                  <a:tcPr marL="9525" marR="9525" marT="9525"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33.30%</a:t>
                      </a:r>
                    </a:p>
                  </a:txBody>
                  <a:tcPr marL="9525" marR="9525" marT="9525" marB="0" anchor="ctr"/>
                </a:tc>
                <a:tc>
                  <a:txBody>
                    <a:bodyPr/>
                    <a:lstStyle/>
                    <a:p>
                      <a:pPr algn="ctr" fontAlgn="ctr"/>
                      <a:r>
                        <a:rPr lang="en-US" sz="1100" b="0" i="0" u="none" strike="noStrike">
                          <a:solidFill>
                            <a:srgbClr val="000000"/>
                          </a:solidFill>
                          <a:effectLst/>
                          <a:latin typeface="MULISH REGULAR ROMAN"/>
                        </a:rPr>
                        <a:t>66.70%</a:t>
                      </a:r>
                    </a:p>
                  </a:txBody>
                  <a:tcPr marL="9525" marR="9525" marT="9525" marB="0" anchor="ctr"/>
                </a:tc>
                <a:extLst>
                  <a:ext uri="{0D108BD9-81ED-4DB2-BD59-A6C34878D82A}">
                    <a16:rowId xmlns:a16="http://schemas.microsoft.com/office/drawing/2014/main" val="10013"/>
                  </a:ext>
                </a:extLst>
              </a:tr>
              <a:tr h="283736">
                <a:tc>
                  <a:txBody>
                    <a:bodyPr/>
                    <a:lstStyle/>
                    <a:p>
                      <a:pPr marL="0" algn="ctr" rtl="0">
                        <a:spcBef>
                          <a:spcPts val="0"/>
                        </a:spcBef>
                        <a:spcAft>
                          <a:spcPts val="0"/>
                        </a:spcAft>
                      </a:pPr>
                      <a:r>
                        <a:rPr lang="en-US" sz="1100" b="0" kern="1200" dirty="0">
                          <a:latin typeface="MULISH REGULAR ROMAN"/>
                        </a:rPr>
                        <a:t>Fed. Cir.​</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4.50%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1</a:t>
                      </a:r>
                    </a:p>
                  </a:txBody>
                  <a:tcPr marL="9525" marR="9525" marT="9525" marB="0" anchor="ctr"/>
                </a:tc>
                <a:tc>
                  <a:txBody>
                    <a:bodyPr/>
                    <a:lstStyle/>
                    <a:p>
                      <a:pPr algn="ctr" fontAlgn="ctr"/>
                      <a:r>
                        <a:rPr lang="en-US" sz="1100" b="0" i="0" u="none" strike="noStrike">
                          <a:solidFill>
                            <a:srgbClr val="000000"/>
                          </a:solidFill>
                          <a:effectLst/>
                          <a:latin typeface="MULISH REGULAR ROMAN"/>
                        </a:rPr>
                        <a:t>50%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1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State​ Court</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4</a:t>
                      </a:r>
                    </a:p>
                  </a:txBody>
                  <a:tcPr marL="9525" marR="9525" marT="9525" marB="0" anchor="ctr"/>
                </a:tc>
                <a:tc>
                  <a:txBody>
                    <a:bodyPr/>
                    <a:lstStyle/>
                    <a:p>
                      <a:pPr algn="ctr" fontAlgn="ctr"/>
                      <a:r>
                        <a:rPr lang="en-US" sz="1100" b="0" i="0" u="none" strike="noStrike">
                          <a:solidFill>
                            <a:srgbClr val="000000"/>
                          </a:solidFill>
                          <a:effectLst/>
                          <a:latin typeface="MULISH REGULAR ROMAN"/>
                        </a:rPr>
                        <a:t>6.10%</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a:solidFill>
                            <a:srgbClr val="000000"/>
                          </a:solidFill>
                          <a:effectLst/>
                          <a:latin typeface="MULISH REGULAR ROMAN"/>
                        </a:rPr>
                        <a:t>2</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100%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6"/>
                  </a:ext>
                </a:extLst>
              </a:tr>
              <a:tr h="283736">
                <a:tc>
                  <a:txBody>
                    <a:bodyPr/>
                    <a:lstStyle/>
                    <a:p>
                      <a:pPr marL="0" algn="ctr" rtl="0">
                        <a:spcBef>
                          <a:spcPts val="0"/>
                        </a:spcBef>
                        <a:spcAft>
                          <a:spcPts val="0"/>
                        </a:spcAft>
                      </a:pPr>
                      <a:r>
                        <a:rPr lang="en-US" sz="1100" b="0" kern="1200" dirty="0">
                          <a:latin typeface="MULISH REGULAR ROMAN"/>
                        </a:rPr>
                        <a:t>District Court</a:t>
                      </a:r>
                      <a:endParaRPr lang="en-US" sz="1100" b="0" dirty="0">
                        <a:effectLst/>
                        <a:latin typeface="MULISH REGULAR ROMAN"/>
                      </a:endParaRPr>
                    </a:p>
                  </a:txBody>
                  <a:tcPr marL="0" marR="0" marT="0" marB="0" anchor="ctr"/>
                </a:tc>
                <a:tc>
                  <a:txBody>
                    <a:bodyPr/>
                    <a:lstStyle/>
                    <a:p>
                      <a:pPr algn="ctr" fontAlgn="ctr"/>
                      <a:r>
                        <a:rPr lang="en-US" sz="1100" b="0" i="0" u="none" strike="noStrike">
                          <a:solidFill>
                            <a:srgbClr val="000000"/>
                          </a:solidFill>
                          <a:effectLst/>
                          <a:latin typeface="MULISH REGULAR ROMAN"/>
                        </a:rPr>
                        <a:t>3</a:t>
                      </a:r>
                    </a:p>
                  </a:txBody>
                  <a:tcPr marL="9525" marR="9525" marT="9525" marB="0" anchor="ctr"/>
                </a:tc>
                <a:tc>
                  <a:txBody>
                    <a:bodyPr/>
                    <a:lstStyle/>
                    <a:p>
                      <a:pPr algn="ctr" fontAlgn="ctr"/>
                      <a:r>
                        <a:rPr lang="en-US" sz="1100" b="0" i="0" u="none" strike="noStrike">
                          <a:solidFill>
                            <a:srgbClr val="000000"/>
                          </a:solidFill>
                          <a:effectLst/>
                          <a:latin typeface="MULISH REGULAR ROMAN"/>
                        </a:rPr>
                        <a:t>4.50%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a:solidFill>
                            <a:srgbClr val="000000"/>
                          </a:solidFill>
                          <a:effectLst/>
                          <a:latin typeface="MULISH REGULAR ROMAN"/>
                        </a:rPr>
                        <a:t>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tc>
                  <a:txBody>
                    <a:bodyPr/>
                    <a:lstStyle/>
                    <a:p>
                      <a:pPr algn="ctr" fontAlgn="ctr"/>
                      <a:r>
                        <a:rPr lang="en-US" sz="1100" b="0" i="0" u="none" strike="noStrike" dirty="0">
                          <a:solidFill>
                            <a:srgbClr val="000000"/>
                          </a:solidFill>
                          <a:effectLst/>
                          <a:latin typeface="MULISH REGULAR ROMAN"/>
                        </a:rPr>
                        <a:t>0%</a:t>
                      </a:r>
                    </a:p>
                  </a:txBody>
                  <a:tcPr marL="9525" marR="9525" marT="9525" marB="0" anchor="ctr"/>
                </a:tc>
                <a:extLst>
                  <a:ext uri="{0D108BD9-81ED-4DB2-BD59-A6C34878D82A}">
                    <a16:rowId xmlns:a16="http://schemas.microsoft.com/office/drawing/2014/main" val="10017"/>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Original​</a:t>
                      </a:r>
                      <a:endParaRPr lang="en-US" sz="1100" b="0" dirty="0">
                        <a:effectLst/>
                        <a:latin typeface="MULISH REGULAR ROMAN"/>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8"/>
                  </a:ext>
                </a:extLst>
              </a:tr>
              <a:tr h="283736">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5" name="Slide Number Placeholder 4"/>
          <p:cNvSpPr>
            <a:spLocks noGrp="1"/>
          </p:cNvSpPr>
          <p:nvPr>
            <p:ph type="sldNum" sz="quarter" idx="12"/>
          </p:nvPr>
        </p:nvSpPr>
        <p:spPr>
          <a:xfrm>
            <a:off x="11644313" y="6491240"/>
            <a:ext cx="547687" cy="365125"/>
          </a:xfrm>
        </p:spPr>
        <p:txBody>
          <a:bodyPr/>
          <a:lstStyle/>
          <a:p>
            <a:fld id="{5E212BD6-99D2-4430-8307-3DFF6CB1AF68}" type="slidenum">
              <a:rPr lang="en-US" sz="800" smtClean="0">
                <a:latin typeface="Century Schoolbook" panose="02040604050505020304" pitchFamily="18" charset="0"/>
              </a:rPr>
              <a:t>5</a:t>
            </a:fld>
            <a:endParaRPr lang="en-US" sz="800" dirty="0">
              <a:latin typeface="Century Schoolbook" panose="02040604050505020304" pitchFamily="18" charset="0"/>
            </a:endParaRPr>
          </a:p>
        </p:txBody>
      </p:sp>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261583" y="6201940"/>
            <a:ext cx="11382730" cy="600164"/>
          </a:xfrm>
          <a:prstGeom prst="rect">
            <a:avLst/>
          </a:prstGeom>
          <a:noFill/>
          <a:ln>
            <a:solidFill>
              <a:schemeClr val="tx1"/>
            </a:solidFill>
          </a:ln>
        </p:spPr>
        <p:txBody>
          <a:bodyPr wrap="square" rtlCol="0">
            <a:spAutoFit/>
          </a:bodyPr>
          <a:lstStyle/>
          <a:p>
            <a:r>
              <a:rPr lang="en-US" sz="1100" dirty="0">
                <a:latin typeface="MULISH BLACK ROMAN"/>
                <a:cs typeface="Calibri" panose="020F0502020204030204"/>
              </a:rPr>
              <a:t>For the circuit scorecard only, we treat consolidated cases that stemmed from different lower court decisions separately to most accurately reflect the Supreme Court’s treatment of the precedents below; we treat consolidated cases that stemmed from the same lower court as one case. We include as “affirmances” merits opinions that let stand the lower-court opinion, and as “reversals” opinions that only vacate the lower-court decision and remand for further consideration.</a:t>
            </a:r>
          </a:p>
        </p:txBody>
      </p:sp>
    </p:spTree>
    <p:extLst>
      <p:ext uri="{BB962C8B-B14F-4D97-AF65-F5344CB8AC3E}">
        <p14:creationId xmlns:p14="http://schemas.microsoft.com/office/powerpoint/2010/main" val="10335373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a:xfrm>
            <a:off x="9448800" y="6483099"/>
            <a:ext cx="2743200" cy="365125"/>
          </a:xfrm>
        </p:spPr>
        <p:txBody>
          <a:bodyPr/>
          <a:lstStyle/>
          <a:p>
            <a:fld id="{5E212BD6-99D2-4430-8307-3DFF6CB1AF68}" type="slidenum">
              <a:rPr lang="en-US" sz="800" smtClean="0">
                <a:latin typeface="Century Schoolbook" panose="02040604050505020304" pitchFamily="18" charset="0"/>
              </a:rPr>
              <a:t>6</a:t>
            </a:fld>
            <a:endParaRPr lang="en-US" sz="800">
              <a:latin typeface="Century Schoolbook" panose="02040604050505020304" pitchFamily="18" charset="0"/>
            </a:endParaRPr>
          </a:p>
        </p:txBody>
      </p:sp>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a:t>
            </a:r>
          </a:p>
        </p:txBody>
      </p:sp>
    </p:spTree>
    <p:extLst>
      <p:ext uri="{BB962C8B-B14F-4D97-AF65-F5344CB8AC3E}">
        <p14:creationId xmlns:p14="http://schemas.microsoft.com/office/powerpoint/2010/main" val="25842101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B321-A498-AD27-513C-9028CD784315}"/>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1886965F-2646-E621-37BA-3FE15F51FAA6}"/>
              </a:ext>
            </a:extLst>
          </p:cNvPr>
          <p:cNvSpPr>
            <a:spLocks noGrp="1"/>
          </p:cNvSpPr>
          <p:nvPr>
            <p:ph type="sldNum" sz="quarter" idx="12"/>
          </p:nvPr>
        </p:nvSpPr>
        <p:spPr>
          <a:xfrm>
            <a:off x="9448800" y="6483099"/>
            <a:ext cx="2743200" cy="365125"/>
          </a:xfrm>
        </p:spPr>
        <p:txBody>
          <a:bodyPr/>
          <a:lstStyle/>
          <a:p>
            <a:fld id="{5E212BD6-99D2-4430-8307-3DFF6CB1AF68}" type="slidenum">
              <a:rPr lang="en-US" sz="800" smtClean="0">
                <a:latin typeface="Century Schoolbook" panose="02040604050505020304" pitchFamily="18" charset="0"/>
              </a:rPr>
              <a:t>7</a:t>
            </a:fld>
            <a:endParaRPr lang="en-US" sz="800">
              <a:latin typeface="Century Schoolbook" panose="02040604050505020304" pitchFamily="18" charset="0"/>
            </a:endParaRPr>
          </a:p>
        </p:txBody>
      </p:sp>
      <p:sp>
        <p:nvSpPr>
          <p:cNvPr id="8" name="Title 9">
            <a:extLst>
              <a:ext uri="{FF2B5EF4-FFF2-40B4-BE49-F238E27FC236}">
                <a16:creationId xmlns:a16="http://schemas.microsoft.com/office/drawing/2014/main" id="{D2A5782F-AF43-4E5A-C6D6-5FDB6C312EAB}"/>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 (Cont.)</a:t>
            </a:r>
          </a:p>
        </p:txBody>
      </p:sp>
    </p:spTree>
    <p:extLst>
      <p:ext uri="{BB962C8B-B14F-4D97-AF65-F5344CB8AC3E}">
        <p14:creationId xmlns:p14="http://schemas.microsoft.com/office/powerpoint/2010/main" val="33859288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graph with lines and dots&#10;&#10;AI-generated content may be incorrect.">
            <a:extLst>
              <a:ext uri="{FF2B5EF4-FFF2-40B4-BE49-F238E27FC236}">
                <a16:creationId xmlns:a16="http://schemas.microsoft.com/office/drawing/2014/main" id="{8F882B63-0827-90B3-2567-D3F3B411A81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860853" y="776438"/>
            <a:ext cx="5452985" cy="3271791"/>
          </a:xfrm>
          <a:prstGeom prst="rect">
            <a:avLst/>
          </a:prstGeom>
        </p:spPr>
      </p:pic>
      <p:sp>
        <p:nvSpPr>
          <p:cNvPr id="4" name="Slide Number Placeholder 3"/>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8</a:t>
            </a:fld>
            <a:endParaRPr lang="en-US" sz="800" dirty="0">
              <a:latin typeface="Century Schoolbook" panose="020406040505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163531461"/>
              </p:ext>
            </p:extLst>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Waetzig</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01/14/2025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chemeClr val="tx1"/>
                          </a:solidFill>
                          <a:effectLst/>
                          <a:latin typeface="MULISH REGULAR ROMAN" pitchFamily="2" charset="77"/>
                        </a:rPr>
                        <a:t>Bourafa</a:t>
                      </a:r>
                      <a:endParaRPr lang="en-US" sz="1100" b="0" i="1"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Jackson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12/10/2024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Advocate Christ Medical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176</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04/29/2025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10/08/2024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Barrett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10/15/2024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Valazquez</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11/12/2024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Feliciano</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143</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Gorsuch</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12/09/2024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04/30/2025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560355567"/>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104d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135.5d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102d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102.33d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100.75d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158.33d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105d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173d</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86d</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887873" y="1173965"/>
            <a:ext cx="1690778" cy="292388"/>
          </a:xfrm>
          <a:prstGeom prst="rect">
            <a:avLst/>
          </a:prstGeom>
          <a:noFill/>
        </p:spPr>
        <p:txBody>
          <a:bodyPr wrap="square" rtlCol="0">
            <a:spAutoFit/>
          </a:bodyPr>
          <a:lstStyle/>
          <a:p>
            <a:pPr algn="ctr"/>
            <a:r>
              <a:rPr lang="en-US" sz="1300" b="1" dirty="0">
                <a:latin typeface="MULISH BOLD ROMAN" pitchFamily="2" charset="77"/>
              </a:rPr>
              <a:t>Average Days by Term</a:t>
            </a:r>
          </a:p>
        </p:txBody>
      </p:sp>
      <p:sp>
        <p:nvSpPr>
          <p:cNvPr id="2" name="TextBox 1">
            <a:extLst>
              <a:ext uri="{FF2B5EF4-FFF2-40B4-BE49-F238E27FC236}">
                <a16:creationId xmlns:a16="http://schemas.microsoft.com/office/drawing/2014/main" id="{D94AC198-E753-1886-71E0-46B240C76C77}"/>
              </a:ext>
            </a:extLst>
          </p:cNvPr>
          <p:cNvSpPr txBox="1"/>
          <p:nvPr/>
        </p:nvSpPr>
        <p:spPr>
          <a:xfrm>
            <a:off x="3887873" y="1466353"/>
            <a:ext cx="1690777" cy="1446550"/>
          </a:xfrm>
          <a:prstGeom prst="rect">
            <a:avLst/>
          </a:prstGeom>
          <a:noFill/>
          <a:ln>
            <a:solidFill>
              <a:schemeClr val="tx1"/>
            </a:solidFill>
          </a:ln>
        </p:spPr>
        <p:txBody>
          <a:bodyPr wrap="square" rtlCol="0">
            <a:spAutoFit/>
          </a:bodyPr>
          <a:lstStyle/>
          <a:p>
            <a:r>
              <a:rPr lang="en-US" sz="1100" dirty="0">
                <a:latin typeface="MULISH REGULAR ROMAN"/>
              </a:rPr>
              <a:t>Figure shows the average number of days between oral arguments and the rendering of a decision for a case between the 2005 and 2024 terms. Bars represent 25</a:t>
            </a:r>
            <a:r>
              <a:rPr lang="en-US" sz="1100" baseline="30000" dirty="0">
                <a:latin typeface="MULISH REGULAR ROMAN"/>
              </a:rPr>
              <a:t>th</a:t>
            </a:r>
            <a:r>
              <a:rPr lang="en-US" sz="1100" dirty="0">
                <a:latin typeface="MULISH REGULAR ROMAN"/>
              </a:rPr>
              <a:t> and 75</a:t>
            </a:r>
            <a:r>
              <a:rPr lang="en-US" sz="1100" baseline="30000" dirty="0">
                <a:latin typeface="MULISH REGULAR ROMAN"/>
              </a:rPr>
              <a:t>th</a:t>
            </a:r>
            <a:r>
              <a:rPr lang="en-US" sz="1100" dirty="0">
                <a:latin typeface="MULISH REGULAR ROMAN"/>
              </a:rPr>
              <a:t> Percentiles.  </a:t>
            </a:r>
          </a:p>
        </p:txBody>
      </p:sp>
    </p:spTree>
    <p:extLst>
      <p:ext uri="{BB962C8B-B14F-4D97-AF65-F5344CB8AC3E}">
        <p14:creationId xmlns:p14="http://schemas.microsoft.com/office/powerpoint/2010/main" val="6050187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xfrm>
            <a:off x="9448800" y="6476807"/>
            <a:ext cx="2743200" cy="365125"/>
          </a:xfrm>
        </p:spPr>
        <p:txBody>
          <a:bodyPr/>
          <a:lstStyle/>
          <a:p>
            <a:fld id="{5E212BD6-99D2-4430-8307-3DFF6CB1AF68}" type="slidenum">
              <a:rPr lang="en-US" sz="800" smtClean="0">
                <a:latin typeface="Century Schoolbook" panose="02040604050505020304" pitchFamily="18" charset="0"/>
              </a:rPr>
              <a:t>9</a:t>
            </a:fld>
            <a:endParaRPr lang="en-US" sz="800" dirty="0">
              <a:latin typeface="Century Schoolbook" panose="02040604050505020304" pitchFamily="18" charset="0"/>
            </a:endParaRPr>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TOTAL OPINIONS OVER TIME</a:t>
            </a:r>
          </a:p>
        </p:txBody>
      </p:sp>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pic>
        <p:nvPicPr>
          <p:cNvPr id="8" name="Picture 7" descr="A graph of different colored bars&#10;&#10;AI-generated content may be incorrect.">
            <a:extLst>
              <a:ext uri="{FF2B5EF4-FFF2-40B4-BE49-F238E27FC236}">
                <a16:creationId xmlns:a16="http://schemas.microsoft.com/office/drawing/2014/main" id="{26C38E0C-FED9-B178-570C-77884132CCE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59095" y="896352"/>
            <a:ext cx="8442160" cy="5065296"/>
          </a:xfrm>
          <a:prstGeom prst="rect">
            <a:avLst/>
          </a:prstGeom>
        </p:spPr>
      </p:pic>
    </p:spTree>
    <p:extLst>
      <p:ext uri="{BB962C8B-B14F-4D97-AF65-F5344CB8AC3E}">
        <p14:creationId xmlns:p14="http://schemas.microsoft.com/office/powerpoint/2010/main" val="21520559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48800" y="6492875"/>
            <a:ext cx="2743200" cy="365125"/>
          </a:xfrm>
        </p:spPr>
        <p:txBody>
          <a:bodyPr/>
          <a:lstStyle/>
          <a:p>
            <a:fld id="{5924AB8B-A04B-4852-9717-52B5E5852666}" type="slidenum">
              <a:rPr lang="en-US" sz="800" smtClean="0">
                <a:latin typeface="Century Schoolbook" panose="02040604050505020304" pitchFamily="18" charset="0"/>
              </a:rPr>
              <a:t>10</a:t>
            </a:fld>
            <a:endParaRPr lang="en-US" sz="800">
              <a:latin typeface="Century Schoolbook" panose="02040604050505020304" pitchFamily="18" charset="0"/>
            </a:endParaRPr>
          </a:p>
        </p:txBody>
      </p:sp>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4151169430"/>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Lackey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Bufkin</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Waetzig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Hungary</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Royal Canin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E.M.D. Sales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a:effectLst/>
                        </a:rPr>
                        <a:t>Bouarafa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Advocate Christ Medical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Wages &amp; White Lion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Cunningham</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Dewberry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a:latin typeface="MULISH REGULAR ROMAN" pitchFamily="2" charset="77"/>
                        </a:rPr>
                        <a:t>Concurring</a:t>
                      </a:r>
                      <a:endParaRPr lang="en-US" sz="1100" b="1" dirty="0">
                        <a:latin typeface="MULISH REGULAR ROMAN" pitchFamily="2" charset="77"/>
                      </a:endParaRP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Andrew</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TikTok</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E.M.D. Sales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Dewberry</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TikTok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Cunningham</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Wages &amp; White Lion</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Andrew</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DOE v. CA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Lackey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Bufkin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a:solidFill>
                            <a:schemeClr val="tx1"/>
                          </a:solidFill>
                          <a:effectLst/>
                          <a:latin typeface="MULISH REGULAR ROMAN" pitchFamily="2" charset="77"/>
                        </a:rPr>
                        <a:t>A.A.R.P v. Trump</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DOE v. CA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Advocate Christ Medical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1"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11</a:t>
            </a:fld>
            <a:endParaRPr lang="en-US" sz="800">
              <a:latin typeface="Century Schoolbook" panose="02040604050505020304" pitchFamily="18" charset="0"/>
            </a:endParaRPr>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pic>
        <p:nvPicPr>
          <p:cNvPr id="3" name="Picture 2" descr="A screenshot of a graph&#10;&#10;AI-generated content may be incorrect.">
            <a:extLst>
              <a:ext uri="{FF2B5EF4-FFF2-40B4-BE49-F238E27FC236}">
                <a16:creationId xmlns:a16="http://schemas.microsoft.com/office/drawing/2014/main" id="{FAFB8CE0-EED2-40E0-5667-43B8572B917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78132" y="1027978"/>
            <a:ext cx="9604086" cy="4802043"/>
          </a:xfrm>
          <a:prstGeom prst="rect">
            <a:avLst/>
          </a:prstGeom>
        </p:spPr>
      </p:pic>
    </p:spTree>
    <p:extLst>
      <p:ext uri="{BB962C8B-B14F-4D97-AF65-F5344CB8AC3E}">
        <p14:creationId xmlns:p14="http://schemas.microsoft.com/office/powerpoint/2010/main" val="41628591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A1D1-F953-5D16-7EBA-10112726D9E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EA6C3B9-A2FC-D321-C691-CFFF5EA1F038}"/>
              </a:ext>
            </a:extLst>
          </p:cNvPr>
          <p:cNvSpPr>
            <a:spLocks noGrp="1"/>
          </p:cNvSpPr>
          <p:nvPr>
            <p:ph type="sldNum" sz="quarter" idx="12"/>
          </p:nvPr>
        </p:nvSpPr>
        <p:spPr>
          <a:xfrm>
            <a:off x="9448800" y="6483696"/>
            <a:ext cx="2743200" cy="365125"/>
          </a:xfrm>
        </p:spPr>
        <p:txBody>
          <a:bodyPr/>
          <a:lstStyle/>
          <a:p>
            <a:fld id="{5E212BD6-99D2-4430-8307-3DFF6CB1AF68}" type="slidenum">
              <a:rPr lang="en-US" sz="800" smtClean="0">
                <a:latin typeface="Century Schoolbook" panose="02040604050505020304" pitchFamily="18" charset="0"/>
              </a:rPr>
              <a:t>12</a:t>
            </a:fld>
            <a:endParaRPr lang="en-US" sz="800" dirty="0">
              <a:latin typeface="Century Schoolbook" panose="02040604050505020304" pitchFamily="18" charset="0"/>
            </a:endParaRPr>
          </a:p>
        </p:txBody>
      </p:sp>
      <p:graphicFrame>
        <p:nvGraphicFramePr>
          <p:cNvPr id="10" name="Table 9">
            <a:extLst>
              <a:ext uri="{FF2B5EF4-FFF2-40B4-BE49-F238E27FC236}">
                <a16:creationId xmlns:a16="http://schemas.microsoft.com/office/drawing/2014/main" id="{966D5FF6-606B-C211-0B63-2E90696B73ED}"/>
              </a:ext>
            </a:extLst>
          </p:cNvPr>
          <p:cNvGraphicFramePr>
            <a:graphicFrameLocks noGrp="1"/>
          </p:cNvGraphicFramePr>
          <p:nvPr/>
        </p:nvGraphicFramePr>
        <p:xfrm>
          <a:off x="290312" y="4048229"/>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2</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Hamm</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11/04/2024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Andrew</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Concurrence</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01/21/2025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Wisconsin Bell</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Concurrence</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02/21/2025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14,532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14,299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Majority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Sotomayor</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9,621</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8,036</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C055A2D1-3EB2-32ED-D5C2-F143FE54C265}"/>
              </a:ext>
            </a:extLst>
          </p:cNvPr>
          <p:cNvGraphicFramePr>
            <a:graphicFrameLocks noGrp="1"/>
          </p:cNvGraphicFramePr>
          <p:nvPr>
            <p:extLst>
              <p:ext uri="{D42A27DB-BD31-4B8C-83A1-F6EECF244321}">
                <p14:modId xmlns:p14="http://schemas.microsoft.com/office/powerpoint/2010/main" val="1109710620"/>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3,414</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5,987.3</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3,888.5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3,541.25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3,379.5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3,814.29</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2,400.17</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3,414.6</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3,327.9</a:t>
                      </a:r>
                    </a:p>
                  </a:txBody>
                  <a:tcPr marL="9525" marR="9525" marT="9525" marB="0" anchor="b">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2AB498F5-9DEA-9996-05E5-B004EE4EB6F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6" name="TextBox 5">
            <a:extLst>
              <a:ext uri="{FF2B5EF4-FFF2-40B4-BE49-F238E27FC236}">
                <a16:creationId xmlns:a16="http://schemas.microsoft.com/office/drawing/2014/main" id="{32F922FD-F592-A078-E545-83CAC25E94C3}"/>
              </a:ext>
            </a:extLst>
          </p:cNvPr>
          <p:cNvSpPr txBox="1"/>
          <p:nvPr/>
        </p:nvSpPr>
        <p:spPr>
          <a:xfrm>
            <a:off x="3459192" y="1123062"/>
            <a:ext cx="1846054" cy="292388"/>
          </a:xfrm>
          <a:prstGeom prst="rect">
            <a:avLst/>
          </a:prstGeom>
          <a:noFill/>
        </p:spPr>
        <p:txBody>
          <a:bodyPr wrap="square" rtlCol="0">
            <a:spAutoFit/>
          </a:bodyPr>
          <a:lstStyle/>
          <a:p>
            <a:r>
              <a:rPr lang="en-US" sz="1300" b="1" dirty="0">
                <a:latin typeface="MULISH BOLD ROMAN" pitchFamily="2" charset="77"/>
              </a:rPr>
              <a:t>Average Length by Term</a:t>
            </a:r>
          </a:p>
        </p:txBody>
      </p:sp>
      <p:sp>
        <p:nvSpPr>
          <p:cNvPr id="11" name="TextBox 10">
            <a:extLst>
              <a:ext uri="{FF2B5EF4-FFF2-40B4-BE49-F238E27FC236}">
                <a16:creationId xmlns:a16="http://schemas.microsoft.com/office/drawing/2014/main" id="{3AEF5CA2-F1A9-891D-4280-9F7C20513281}"/>
              </a:ext>
            </a:extLst>
          </p:cNvPr>
          <p:cNvSpPr txBox="1"/>
          <p:nvPr/>
        </p:nvSpPr>
        <p:spPr>
          <a:xfrm>
            <a:off x="3536830" y="1415450"/>
            <a:ext cx="1690777" cy="1277273"/>
          </a:xfrm>
          <a:prstGeom prst="rect">
            <a:avLst/>
          </a:prstGeom>
          <a:noFill/>
          <a:ln>
            <a:solidFill>
              <a:schemeClr val="tx1"/>
            </a:solidFill>
          </a:ln>
        </p:spPr>
        <p:txBody>
          <a:bodyPr wrap="square" rtlCol="0">
            <a:spAutoFit/>
          </a:bodyPr>
          <a:lstStyle/>
          <a:p>
            <a:r>
              <a:rPr lang="en-US" sz="1100" dirty="0">
                <a:latin typeface="MULISH REGULAR ROMAN"/>
              </a:rPr>
              <a:t>Figure shows the average length (in words) of opinions issued by the Court by type between the 2016 and 2024 terms. Bars represent 25</a:t>
            </a:r>
            <a:r>
              <a:rPr lang="en-US" sz="1100" baseline="30000" dirty="0">
                <a:latin typeface="MULISH REGULAR ROMAN"/>
              </a:rPr>
              <a:t>th</a:t>
            </a:r>
            <a:r>
              <a:rPr lang="en-US" sz="1100" dirty="0">
                <a:latin typeface="MULISH REGULAR ROMAN"/>
              </a:rPr>
              <a:t> and 75</a:t>
            </a:r>
            <a:r>
              <a:rPr lang="en-US" sz="1100" baseline="30000" dirty="0">
                <a:latin typeface="MULISH REGULAR ROMAN"/>
              </a:rPr>
              <a:t>th</a:t>
            </a:r>
            <a:r>
              <a:rPr lang="en-US" sz="1100" dirty="0">
                <a:latin typeface="MULISH REGULAR ROMAN"/>
              </a:rPr>
              <a:t> Percentiles.  </a:t>
            </a:r>
          </a:p>
        </p:txBody>
      </p:sp>
      <p:pic>
        <p:nvPicPr>
          <p:cNvPr id="5" name="Picture 4" descr="A graph of different types of numbers&#10;&#10;AI-generated content may be incorrect.">
            <a:extLst>
              <a:ext uri="{FF2B5EF4-FFF2-40B4-BE49-F238E27FC236}">
                <a16:creationId xmlns:a16="http://schemas.microsoft.com/office/drawing/2014/main" id="{BCFC4BD6-36A7-3B40-3279-5B7494332A2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93015" y="231071"/>
            <a:ext cx="6270610" cy="3762366"/>
          </a:xfrm>
          <a:prstGeom prst="rect">
            <a:avLst/>
          </a:prstGeom>
        </p:spPr>
      </p:pic>
    </p:spTree>
    <p:extLst>
      <p:ext uri="{BB962C8B-B14F-4D97-AF65-F5344CB8AC3E}">
        <p14:creationId xmlns:p14="http://schemas.microsoft.com/office/powerpoint/2010/main" val="5787724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group of people standing in front of a bar graph&#10;&#10;AI-generated content may be incorrect.">
            <a:extLst>
              <a:ext uri="{FF2B5EF4-FFF2-40B4-BE49-F238E27FC236}">
                <a16:creationId xmlns:a16="http://schemas.microsoft.com/office/drawing/2014/main" id="{D42088B9-5F95-BAF7-8BD1-60C9BE6FBB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27825"/>
            <a:ext cx="8705776" cy="5223465"/>
          </a:xfrm>
          <a:prstGeom prst="rect">
            <a:avLst/>
          </a:prstGeom>
        </p:spPr>
      </p:pic>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13</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(including those decided unanimously or </a:t>
            </a:r>
            <a:r>
              <a:rPr lang="en-US" sz="1200" i="1" dirty="0">
                <a:latin typeface="MULISH REGULAR ROMAN"/>
              </a:rPr>
              <a:t>Per Curiam</a:t>
            </a:r>
            <a:r>
              <a:rPr lang="en-US" sz="1200" dirty="0">
                <a:latin typeface="MULISH REGULAR ROMAN"/>
              </a:rPr>
              <a:t>).</a:t>
            </a:r>
          </a:p>
        </p:txBody>
      </p:sp>
    </p:spTree>
    <p:extLst>
      <p:ext uri="{BB962C8B-B14F-4D97-AF65-F5344CB8AC3E}">
        <p14:creationId xmlns:p14="http://schemas.microsoft.com/office/powerpoint/2010/main" val="14072815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pic>
        <p:nvPicPr>
          <p:cNvPr id="9" name="Picture 8" descr="A group of people standing in front of a graph&#10;&#10;AI-generated content may be incorrect.">
            <a:extLst>
              <a:ext uri="{FF2B5EF4-FFF2-40B4-BE49-F238E27FC236}">
                <a16:creationId xmlns:a16="http://schemas.microsoft.com/office/drawing/2014/main" id="{B359DD5B-8DE9-EF63-4366-374552D768F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59612"/>
            <a:ext cx="8705776" cy="5223465"/>
          </a:xfrm>
          <a:prstGeom prst="rect">
            <a:avLst/>
          </a:prstGeom>
        </p:spPr>
      </p:pic>
      <p:sp>
        <p:nvSpPr>
          <p:cNvPr id="4" name="Slide Number Placeholder 3">
            <a:extLst>
              <a:ext uri="{FF2B5EF4-FFF2-40B4-BE49-F238E27FC236}">
                <a16:creationId xmlns:a16="http://schemas.microsoft.com/office/drawing/2014/main" id="{2E65A474-791B-DE92-F90F-37978615A889}"/>
              </a:ext>
            </a:extLst>
          </p:cNvPr>
          <p:cNvSpPr>
            <a:spLocks noGrp="1"/>
          </p:cNvSpPr>
          <p:nvPr>
            <p:ph type="sldNum" sz="quarter" idx="12"/>
          </p:nvPr>
        </p:nvSpPr>
        <p:spPr/>
        <p:txBody>
          <a:bodyPr/>
          <a:lstStyle/>
          <a:p>
            <a:fld id="{5E212BD6-99D2-4430-8307-3DFF6CB1AF68}" type="slidenum">
              <a:rPr lang="en-US" smtClean="0"/>
              <a:t>14</a:t>
            </a:fld>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spTree>
    <p:extLst>
      <p:ext uri="{BB962C8B-B14F-4D97-AF65-F5344CB8AC3E}">
        <p14:creationId xmlns:p14="http://schemas.microsoft.com/office/powerpoint/2010/main" val="18742430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7E557FA-BC6E-B449-8985-9E04B64336DB}"/>
              </a:ext>
            </a:extLst>
          </p:cNvPr>
          <p:cNvSpPr>
            <a:spLocks noGrp="1"/>
          </p:cNvSpPr>
          <p:nvPr>
            <p:ph type="sldNum" sz="quarter" idx="12"/>
          </p:nvPr>
        </p:nvSpPr>
        <p:spPr/>
        <p:txBody>
          <a:bodyPr/>
          <a:lstStyle/>
          <a:p>
            <a:fld id="{5E212BD6-99D2-4430-8307-3DFF6CB1AF68}" type="slidenum">
              <a:rPr lang="en-US" smtClean="0"/>
              <a:t>15</a:t>
            </a:fld>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pic>
        <p:nvPicPr>
          <p:cNvPr id="2" name="Picture 1" descr="A group of people standing in front of a bar graph&#10;&#10;AI-generated content may be incorrect.">
            <a:extLst>
              <a:ext uri="{FF2B5EF4-FFF2-40B4-BE49-F238E27FC236}">
                <a16:creationId xmlns:a16="http://schemas.microsoft.com/office/drawing/2014/main" id="{FAD96983-01C6-599E-ED66-8842DE64E0A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27825"/>
            <a:ext cx="8705776" cy="5223465"/>
          </a:xfrm>
          <a:prstGeom prst="rect">
            <a:avLst/>
          </a:prstGeom>
        </p:spPr>
      </p:pic>
    </p:spTree>
    <p:extLst>
      <p:ext uri="{BB962C8B-B14F-4D97-AF65-F5344CB8AC3E}">
        <p14:creationId xmlns:p14="http://schemas.microsoft.com/office/powerpoint/2010/main" val="40606662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1882862013"/>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latin typeface="MULISH REGULAR ROMAN" pitchFamily="2" charset="77"/>
                        </a:rPr>
                        <a:t>Total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9-0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8-1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7-2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6-3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5-4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Average majority</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kern="120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8.33</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3</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kern="1200" dirty="0">
                          <a:solidFill>
                            <a:schemeClr val="tx1"/>
                          </a:solidFill>
                          <a:effectLst/>
                          <a:latin typeface="MULISH REGULAR ROMAN" pitchFamily="2" charset="77"/>
                        </a:rPr>
                        <a:t>2</a:t>
                      </a: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0"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0" dirty="0">
                          <a:solidFill>
                            <a:schemeClr val="tx1"/>
                          </a:solidFill>
                          <a:effectLst/>
                          <a:latin typeface="MULISH REGULAR ROMAN" pitchFamily="2" charset="77"/>
                        </a:rPr>
                        <a:t>2</a:t>
                      </a:r>
                    </a:p>
                  </a:txBody>
                  <a:tcPr marL="0" marR="0" marT="0"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8.5</a:t>
                      </a:r>
                    </a:p>
                  </a:txBody>
                  <a:tcPr marL="0"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1" dirty="0">
                        <a:solidFill>
                          <a:schemeClr val="tx1"/>
                        </a:solidFill>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sp>
        <p:nvSpPr>
          <p:cNvPr id="4" name="Slide Number Placeholder 3"/>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16</a:t>
            </a:fld>
            <a:endParaRPr lang="en-US" sz="800" dirty="0">
              <a:latin typeface="Century Schoolbook" panose="02040604050505020304" pitchFamily="18" charset="0"/>
            </a:endParaRPr>
          </a:p>
        </p:txBody>
      </p:sp>
      <p:graphicFrame>
        <p:nvGraphicFramePr>
          <p:cNvPr id="9" name="Table 8"/>
          <p:cNvGraphicFramePr>
            <a:graphicFrameLocks noGrp="1"/>
          </p:cNvGraphicFramePr>
          <p:nvPr>
            <p:extLst>
              <p:ext uri="{D42A27DB-BD31-4B8C-83A1-F6EECF244321}">
                <p14:modId xmlns:p14="http://schemas.microsoft.com/office/powerpoint/2010/main" val="2200989440"/>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latin typeface="MULISH REGULAR ROMAN" pitchFamily="2" charset="77"/>
                        </a:rPr>
                        <a:t>% of Opinions Decided Unanimously</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50%</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67%</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100%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50%</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2215049078"/>
              </p:ext>
            </p:extLst>
          </p:nvPr>
        </p:nvGraphicFramePr>
        <p:xfrm>
          <a:off x="4656537" y="4156187"/>
          <a:ext cx="6505995" cy="2513061"/>
        </p:xfrm>
        <a:graphic>
          <a:graphicData uri="http://schemas.openxmlformats.org/drawingml/2006/table">
            <a:tbl>
              <a:tblPr firstRow="1" bandRow="1">
                <a:tableStyleId>{C083E6E3-FA7D-4D7B-A595-EF9225AFEA82}</a:tableStyleId>
              </a:tblPr>
              <a:tblGrid>
                <a:gridCol w="1436915">
                  <a:extLst>
                    <a:ext uri="{9D8B030D-6E8A-4147-A177-3AD203B41FA5}">
                      <a16:colId xmlns:a16="http://schemas.microsoft.com/office/drawing/2014/main" val="20000"/>
                    </a:ext>
                  </a:extLst>
                </a:gridCol>
                <a:gridCol w="973776">
                  <a:extLst>
                    <a:ext uri="{9D8B030D-6E8A-4147-A177-3AD203B41FA5}">
                      <a16:colId xmlns:a16="http://schemas.microsoft.com/office/drawing/2014/main" val="20001"/>
                    </a:ext>
                  </a:extLst>
                </a:gridCol>
                <a:gridCol w="3015559">
                  <a:extLst>
                    <a:ext uri="{9D8B030D-6E8A-4147-A177-3AD203B41FA5}">
                      <a16:colId xmlns:a16="http://schemas.microsoft.com/office/drawing/2014/main" val="4268982242"/>
                    </a:ext>
                  </a:extLst>
                </a:gridCol>
                <a:gridCol w="1079745">
                  <a:extLst>
                    <a:ext uri="{9D8B030D-6E8A-4147-A177-3AD203B41FA5}">
                      <a16:colId xmlns:a16="http://schemas.microsoft.com/office/drawing/2014/main" val="914673701"/>
                    </a:ext>
                  </a:extLst>
                </a:gridCol>
              </a:tblGrid>
              <a:tr h="455661">
                <a:tc>
                  <a:txBody>
                    <a:bodyPr/>
                    <a:lstStyle/>
                    <a:p>
                      <a:pPr algn="l" fontAlgn="b"/>
                      <a:r>
                        <a:rPr lang="en-US" sz="1400" b="1" u="none" strike="noStrike" dirty="0">
                          <a:solidFill>
                            <a:schemeClr val="tx1"/>
                          </a:solidFill>
                          <a:effectLst/>
                          <a:latin typeface="MULISH REGULAR ROMAN" pitchFamily="2" charset="77"/>
                        </a:rPr>
                        <a:t>Solo Dissents</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OT05-OT23</a:t>
                      </a: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38</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16</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1040160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pie chart&#10;&#10;AI-generated content may be incorrect.">
            <a:extLst>
              <a:ext uri="{FF2B5EF4-FFF2-40B4-BE49-F238E27FC236}">
                <a16:creationId xmlns:a16="http://schemas.microsoft.com/office/drawing/2014/main" id="{3C3D856F-A054-28C5-6D15-D40A375E560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
        <p:nvSpPr>
          <p:cNvPr id="4" name="Slide Number Placeholder 3"/>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17</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 All Cases</a:t>
            </a:r>
          </a:p>
        </p:txBody>
      </p:sp>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646331"/>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otherwise did not participate, we associated the most comparable coalition size (e.g., 8-0 decisions were included in calculating 9-0 coalitions, while 7-1 were likewise coded as 8-1 – </a:t>
            </a:r>
            <a:r>
              <a:rPr lang="en-US" sz="1200" i="1" dirty="0">
                <a:latin typeface="MULISH REGULAR ROMAN"/>
              </a:rPr>
              <a:t>the principal reference being the number of dissenting Justices</a:t>
            </a:r>
            <a:r>
              <a:rPr lang="en-US" sz="1200" dirty="0">
                <a:latin typeface="MULISH REGULAR ROMAN"/>
              </a:rPr>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AD2246C-9F25-2F1C-66E7-1F5097AAD8B0}"/>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18</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8A08EC0C-6929-4371-9A49-BE164F8FC8CE}"/>
              </a:ext>
            </a:extLst>
          </p:cNvPr>
          <p:cNvSpPr txBox="1">
            <a:spLocks/>
          </p:cNvSpPr>
          <p:nvPr/>
        </p:nvSpPr>
        <p:spPr>
          <a:xfrm>
            <a:off x="320849" y="128592"/>
            <a:ext cx="11662603"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Ideologically Split Cases</a:t>
            </a:r>
          </a:p>
        </p:txBody>
      </p:sp>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2"/>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pic>
        <p:nvPicPr>
          <p:cNvPr id="3" name="Picture 2" descr="A diagram of a pie chart&#10;&#10;AI-generated content may be incorrect.">
            <a:extLst>
              <a:ext uri="{FF2B5EF4-FFF2-40B4-BE49-F238E27FC236}">
                <a16:creationId xmlns:a16="http://schemas.microsoft.com/office/drawing/2014/main" id="{68524B4C-0EEA-A519-EB7F-F33349A3C7C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extLst>
      <p:ext uri="{BB962C8B-B14F-4D97-AF65-F5344CB8AC3E}">
        <p14:creationId xmlns:p14="http://schemas.microsoft.com/office/powerpoint/2010/main" val="10046474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pic>
        <p:nvPicPr>
          <p:cNvPr id="3" name="Picture 2" descr="A graph with numbers and lines&#10;&#10;AI-generated content may be incorrect.">
            <a:extLst>
              <a:ext uri="{FF2B5EF4-FFF2-40B4-BE49-F238E27FC236}">
                <a16:creationId xmlns:a16="http://schemas.microsoft.com/office/drawing/2014/main" id="{AD08B3B8-E684-35DA-D383-18D1D52B5BB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0" y="1147657"/>
            <a:ext cx="9144019" cy="5486411"/>
          </a:xfrm>
          <a:prstGeom prst="rect">
            <a:avLst/>
          </a:prstGeom>
        </p:spPr>
      </p:pic>
      <p:sp>
        <p:nvSpPr>
          <p:cNvPr id="4" name="Slide Number Placeholder 3">
            <a:extLst>
              <a:ext uri="{FF2B5EF4-FFF2-40B4-BE49-F238E27FC236}">
                <a16:creationId xmlns:a16="http://schemas.microsoft.com/office/drawing/2014/main" id="{E52D7715-21A2-E234-D597-C3D90F1BF8C2}"/>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19</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5" name="TextBox 4">
            <a:extLst>
              <a:ext uri="{FF2B5EF4-FFF2-40B4-BE49-F238E27FC236}">
                <a16:creationId xmlns:a16="http://schemas.microsoft.com/office/drawing/2014/main" id="{6BF81625-A47D-0204-D5A0-3B0AA1D6E6DC}"/>
              </a:ext>
            </a:extLst>
          </p:cNvPr>
          <p:cNvSpPr txBox="1"/>
          <p:nvPr/>
        </p:nvSpPr>
        <p:spPr>
          <a:xfrm>
            <a:off x="5391207" y="314392"/>
            <a:ext cx="5874589" cy="461665"/>
          </a:xfrm>
          <a:prstGeom prst="rect">
            <a:avLst/>
          </a:prstGeom>
          <a:noFill/>
          <a:ln>
            <a:solidFill>
              <a:schemeClr val="tx1"/>
            </a:solidFill>
          </a:ln>
        </p:spPr>
        <p:txBody>
          <a:bodyPr wrap="square" rtlCol="0">
            <a:spAutoFit/>
          </a:bodyPr>
          <a:lstStyle/>
          <a:p>
            <a:r>
              <a:rPr lang="en-US" sz="1200" dirty="0"/>
              <a:t>This figure shows the raw percentage of unanimous (i.e., cases decided without any full dissents) between OT05-OT24 given the total number of cases decided in those terms. </a:t>
            </a:r>
            <a:endParaRPr lang="en-US" sz="1200" dirty="0">
              <a:latin typeface="MULISH REGULAR ROMAN"/>
            </a:endParaRPr>
          </a:p>
        </p:txBody>
      </p:sp>
    </p:spTree>
    <p:extLst>
      <p:ext uri="{BB962C8B-B14F-4D97-AF65-F5344CB8AC3E}">
        <p14:creationId xmlns:p14="http://schemas.microsoft.com/office/powerpoint/2010/main" val="8189809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5DFB6-033C-601C-8092-86C0EC3E4948}"/>
            </a:ext>
          </a:extLst>
        </p:cNvPr>
        <p:cNvGrpSpPr/>
        <p:nvPr/>
      </p:nvGrpSpPr>
      <p:grpSpPr>
        <a:xfrm>
          <a:off x="0" y="0"/>
          <a:ext cx="0" cy="0"/>
          <a:chOff x="0" y="0"/>
          <a:chExt cx="0" cy="0"/>
        </a:xfrm>
      </p:grpSpPr>
      <p:pic>
        <p:nvPicPr>
          <p:cNvPr id="3" name="Picture 2" descr="A graph with a line graph&#10;&#10;AI-generated content may be incorrect.">
            <a:extLst>
              <a:ext uri="{FF2B5EF4-FFF2-40B4-BE49-F238E27FC236}">
                <a16:creationId xmlns:a16="http://schemas.microsoft.com/office/drawing/2014/main" id="{287DEC46-B9A4-6785-75AD-51A5CE3609C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20248" y="1181095"/>
            <a:ext cx="9144019" cy="5486411"/>
          </a:xfrm>
          <a:prstGeom prst="rect">
            <a:avLst/>
          </a:prstGeom>
        </p:spPr>
      </p:pic>
      <p:sp>
        <p:nvSpPr>
          <p:cNvPr id="4" name="Slide Number Placeholder 3">
            <a:extLst>
              <a:ext uri="{FF2B5EF4-FFF2-40B4-BE49-F238E27FC236}">
                <a16:creationId xmlns:a16="http://schemas.microsoft.com/office/drawing/2014/main" id="{1220D9B9-5C26-E1AA-628F-A03A8933F262}"/>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20</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E0211174-1643-401A-449B-28F6F619802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6" name="TextBox 5">
            <a:extLst>
              <a:ext uri="{FF2B5EF4-FFF2-40B4-BE49-F238E27FC236}">
                <a16:creationId xmlns:a16="http://schemas.microsoft.com/office/drawing/2014/main" id="{6EB03E43-76B9-077C-F614-FAAF678AF050}"/>
              </a:ext>
            </a:extLst>
          </p:cNvPr>
          <p:cNvSpPr txBox="1"/>
          <p:nvPr/>
        </p:nvSpPr>
        <p:spPr>
          <a:xfrm>
            <a:off x="5792259" y="222059"/>
            <a:ext cx="5874589" cy="646331"/>
          </a:xfrm>
          <a:prstGeom prst="rect">
            <a:avLst/>
          </a:prstGeom>
          <a:noFill/>
          <a:ln>
            <a:solidFill>
              <a:schemeClr val="tx1"/>
            </a:solidFill>
          </a:ln>
        </p:spPr>
        <p:txBody>
          <a:bodyPr wrap="square" rtlCol="0">
            <a:spAutoFit/>
          </a:bodyPr>
          <a:lstStyle/>
          <a:p>
            <a:r>
              <a:rPr lang="en-US" sz="1200" dirty="0"/>
              <a:t>This figure shows the percentage of unanimous Supreme Court decisions from OT05-OT24. The size of the bars indicate how </a:t>
            </a:r>
            <a:r>
              <a:rPr lang="en-US" sz="1200" i="1" dirty="0"/>
              <a:t>surprising</a:t>
            </a:r>
            <a:r>
              <a:rPr lang="en-US" sz="1200" dirty="0"/>
              <a:t> or </a:t>
            </a:r>
            <a:r>
              <a:rPr lang="en-US" sz="1200" i="1" dirty="0"/>
              <a:t>typical</a:t>
            </a:r>
            <a:r>
              <a:rPr lang="en-US" sz="1200" dirty="0"/>
              <a:t> each year's unanimity was – such that higher (lower) indicates greater (lesser) unanimity than expected given the caseload. </a:t>
            </a:r>
            <a:endParaRPr lang="en-US" sz="1200" dirty="0">
              <a:latin typeface="MULISH REGULAR ROMAN"/>
            </a:endParaRPr>
          </a:p>
        </p:txBody>
      </p:sp>
    </p:spTree>
    <p:extLst>
      <p:ext uri="{BB962C8B-B14F-4D97-AF65-F5344CB8AC3E}">
        <p14:creationId xmlns:p14="http://schemas.microsoft.com/office/powerpoint/2010/main" val="16449938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33D0D-2475-9ED6-10D5-33229B4F7CFA}"/>
            </a:ext>
          </a:extLst>
        </p:cNvPr>
        <p:cNvGrpSpPr/>
        <p:nvPr/>
      </p:nvGrpSpPr>
      <p:grpSpPr>
        <a:xfrm>
          <a:off x="0" y="0"/>
          <a:ext cx="0" cy="0"/>
          <a:chOff x="0" y="0"/>
          <a:chExt cx="0" cy="0"/>
        </a:xfrm>
      </p:grpSpPr>
      <p:pic>
        <p:nvPicPr>
          <p:cNvPr id="13" name="Picture 12" descr="A graph of different colored lines&#10;&#10;AI-generated content may be incorrect.">
            <a:extLst>
              <a:ext uri="{FF2B5EF4-FFF2-40B4-BE49-F238E27FC236}">
                <a16:creationId xmlns:a16="http://schemas.microsoft.com/office/drawing/2014/main" id="{9815B4E9-7AE8-598A-DB2E-0B00B8E00C6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861624" y="1060165"/>
            <a:ext cx="8684856" cy="5789904"/>
          </a:xfrm>
          <a:prstGeom prst="rect">
            <a:avLst/>
          </a:prstGeom>
        </p:spPr>
      </p:pic>
      <p:sp>
        <p:nvSpPr>
          <p:cNvPr id="4" name="Slide Number Placeholder 3">
            <a:extLst>
              <a:ext uri="{FF2B5EF4-FFF2-40B4-BE49-F238E27FC236}">
                <a16:creationId xmlns:a16="http://schemas.microsoft.com/office/drawing/2014/main" id="{F9CDBD8F-0245-A60E-01D9-F79F9C71C925}"/>
              </a:ext>
            </a:extLst>
          </p:cNvPr>
          <p:cNvSpPr>
            <a:spLocks noGrp="1"/>
          </p:cNvSpPr>
          <p:nvPr>
            <p:ph type="sldNum" sz="quarter" idx="12"/>
          </p:nvPr>
        </p:nvSpPr>
        <p:spPr>
          <a:xfrm>
            <a:off x="9448800" y="6484944"/>
            <a:ext cx="2743200" cy="365125"/>
          </a:xfrm>
        </p:spPr>
        <p:txBody>
          <a:bodyPr/>
          <a:lstStyle/>
          <a:p>
            <a:fld id="{5E212BD6-99D2-4430-8307-3DFF6CB1AF68}" type="slidenum">
              <a:rPr lang="en-US" sz="800" smtClean="0">
                <a:latin typeface="Century Schoolbook" panose="02040604050505020304" pitchFamily="18" charset="0"/>
              </a:rPr>
              <a:t>21</a:t>
            </a:fld>
            <a:endParaRPr lang="en-US" sz="800">
              <a:latin typeface="Century Schoolbook" panose="02040604050505020304" pitchFamily="18" charset="0"/>
            </a:endParaRPr>
          </a:p>
        </p:txBody>
      </p:sp>
      <p:sp>
        <p:nvSpPr>
          <p:cNvPr id="12" name="Title 9">
            <a:extLst>
              <a:ext uri="{FF2B5EF4-FFF2-40B4-BE49-F238E27FC236}">
                <a16:creationId xmlns:a16="http://schemas.microsoft.com/office/drawing/2014/main" id="{845D2ED7-884E-246F-F6DD-316909A50224}"/>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JUDICIAL REVIEW</a:t>
            </a:r>
          </a:p>
        </p:txBody>
      </p:sp>
      <p:sp>
        <p:nvSpPr>
          <p:cNvPr id="6" name="TextBox 5">
            <a:extLst>
              <a:ext uri="{FF2B5EF4-FFF2-40B4-BE49-F238E27FC236}">
                <a16:creationId xmlns:a16="http://schemas.microsoft.com/office/drawing/2014/main" id="{05B716E9-4B3F-CFA9-4CAB-8AAC44867806}"/>
              </a:ext>
            </a:extLst>
          </p:cNvPr>
          <p:cNvSpPr txBox="1"/>
          <p:nvPr/>
        </p:nvSpPr>
        <p:spPr>
          <a:xfrm>
            <a:off x="3958401" y="130861"/>
            <a:ext cx="7912749" cy="830997"/>
          </a:xfrm>
          <a:prstGeom prst="rect">
            <a:avLst/>
          </a:prstGeom>
          <a:noFill/>
          <a:ln>
            <a:solidFill>
              <a:schemeClr val="tx1"/>
            </a:solidFill>
          </a:ln>
        </p:spPr>
        <p:txBody>
          <a:bodyPr wrap="square" rtlCol="0">
            <a:spAutoFit/>
          </a:bodyPr>
          <a:lstStyle/>
          <a:p>
            <a:r>
              <a:rPr lang="en-US" sz="1200" dirty="0"/>
              <a:t>The top figures show the volume of cases between the 1986 and 2024 terms where (i) an existing precedent was altered (and) or (ii) the Court declared a federal, state, or municipal law or act unconstitutional. Alternatively, the bottom illustrates the total number of cases decided by the Court during those terms – including those decided without oral arguments. The colors represent the distinction between the periods where William Rehnquist or John Roberts serve as Chief Justice.  </a:t>
            </a:r>
            <a:endParaRPr lang="en-US" sz="1200" dirty="0">
              <a:latin typeface="MULISH REGULAR ROMAN"/>
            </a:endParaRPr>
          </a:p>
        </p:txBody>
      </p:sp>
    </p:spTree>
    <p:extLst>
      <p:ext uri="{BB962C8B-B14F-4D97-AF65-F5344CB8AC3E}">
        <p14:creationId xmlns:p14="http://schemas.microsoft.com/office/powerpoint/2010/main" val="40259217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1ADE8-1AB5-A888-B8A7-341D95B43CBB}"/>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EFBDF338-444A-A00C-DA93-E1A5F1C07D6F}"/>
              </a:ext>
            </a:extLst>
          </p:cNvPr>
          <p:cNvGraphicFramePr>
            <a:graphicFrameLocks noGrp="1"/>
          </p:cNvGraphicFramePr>
          <p:nvPr>
            <p:ph idx="1"/>
            <p:extLst>
              <p:ext uri="{D42A27DB-BD31-4B8C-83A1-F6EECF244321}">
                <p14:modId xmlns:p14="http://schemas.microsoft.com/office/powerpoint/2010/main" val="3790182185"/>
              </p:ext>
            </p:extLst>
          </p:nvPr>
        </p:nvGraphicFramePr>
        <p:xfrm>
          <a:off x="320850" y="845389"/>
          <a:ext cx="11538585" cy="1920004"/>
        </p:xfrm>
        <a:graphic>
          <a:graphicData uri="http://schemas.openxmlformats.org/drawingml/2006/table">
            <a:tbl>
              <a:tblPr firstRow="1" bandRow="1">
                <a:tableStyleId>{F5AB1C69-6EDB-4FF4-983F-18BD219EF322}</a:tableStyleId>
              </a:tblPr>
              <a:tblGrid>
                <a:gridCol w="4669544">
                  <a:extLst>
                    <a:ext uri="{9D8B030D-6E8A-4147-A177-3AD203B41FA5}">
                      <a16:colId xmlns:a16="http://schemas.microsoft.com/office/drawing/2014/main" val="20000"/>
                    </a:ext>
                  </a:extLst>
                </a:gridCol>
                <a:gridCol w="1533236">
                  <a:extLst>
                    <a:ext uri="{9D8B030D-6E8A-4147-A177-3AD203B41FA5}">
                      <a16:colId xmlns:a16="http://schemas.microsoft.com/office/drawing/2014/main" val="20001"/>
                    </a:ext>
                  </a:extLst>
                </a:gridCol>
                <a:gridCol w="5335805">
                  <a:extLst>
                    <a:ext uri="{9D8B030D-6E8A-4147-A177-3AD203B41FA5}">
                      <a16:colId xmlns:a16="http://schemas.microsoft.com/office/drawing/2014/main" val="20002"/>
                    </a:ext>
                  </a:extLst>
                </a:gridCol>
              </a:tblGrid>
              <a:tr h="257552">
                <a:tc gridSpan="3">
                  <a:txBody>
                    <a:bodyPr/>
                    <a:lstStyle/>
                    <a:p>
                      <a:pPr algn="ctr" fontAlgn="b"/>
                      <a:r>
                        <a:rPr lang="en-US" sz="1600" b="1" u="none" strike="noStrike" dirty="0">
                          <a:solidFill>
                            <a:schemeClr val="tx1"/>
                          </a:solidFill>
                          <a:effectLst/>
                          <a:latin typeface="MULISH REGULAR ROMAN"/>
                        </a:rPr>
                        <a:t>Alignment of the Majority (OT24)</a:t>
                      </a:r>
                      <a:endParaRPr lang="en-US" sz="1600" b="1" i="0" u="none" strike="noStrike" dirty="0">
                        <a:solidFill>
                          <a:schemeClr val="tx1"/>
                        </a:solidFill>
                        <a:effectLst/>
                        <a:latin typeface="MULISH REGULAR ROMAN"/>
                      </a:endParaRPr>
                    </a:p>
                  </a:txBody>
                  <a:tcPr marL="5672" marR="5672" marT="5672"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hMerge="1">
                  <a:txBody>
                    <a:bodyPr/>
                    <a:lstStyle/>
                    <a:p>
                      <a:endParaRPr lang="en-US"/>
                    </a:p>
                  </a:txBody>
                  <a:tcPr marL="5672" marR="5672" marT="5672" marB="0" anchor="b"/>
                </a:tc>
                <a:tc hMerge="1">
                  <a:txBody>
                    <a:bodyPr/>
                    <a:lstStyle/>
                    <a:p>
                      <a:endParaRPr lang="en-US"/>
                    </a:p>
                  </a:txBody>
                  <a:tcPr marL="5672" marR="5672" marT="5672" marB="0" anchor="b"/>
                </a:tc>
                <a:extLst>
                  <a:ext uri="{0D108BD9-81ED-4DB2-BD59-A6C34878D82A}">
                    <a16:rowId xmlns:a16="http://schemas.microsoft.com/office/drawing/2014/main" val="10000"/>
                  </a:ext>
                </a:extLst>
              </a:tr>
              <a:tr h="251606">
                <a:tc>
                  <a:txBody>
                    <a:bodyPr/>
                    <a:lstStyle/>
                    <a:p>
                      <a:pPr algn="ctr" fontAlgn="b"/>
                      <a:r>
                        <a:rPr lang="en-US" sz="1200" b="1" u="none" strike="noStrike" dirty="0">
                          <a:effectLst/>
                          <a:latin typeface="MULISH REGULAR ROMAN"/>
                        </a:rPr>
                        <a:t>Majority Coalition</a:t>
                      </a:r>
                      <a:endParaRPr lang="en-US" sz="1200" b="1"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1" u="none" strike="noStrike" dirty="0">
                          <a:solidFill>
                            <a:srgbClr val="000000"/>
                          </a:solidFill>
                          <a:effectLst/>
                          <a:latin typeface="MULISH REGULAR ROMAN"/>
                        </a:rPr>
                        <a:t>Frequency</a:t>
                      </a:r>
                      <a:endParaRPr lang="en-US" sz="1200" b="1" i="0" u="none" strike="noStrike" dirty="0">
                        <a:solidFill>
                          <a:srgbClr val="000000"/>
                        </a:solidFill>
                        <a:effectLst/>
                        <a:latin typeface="MULISH REGULAR ROMAN"/>
                      </a:endParaRPr>
                    </a:p>
                  </a:txBody>
                  <a:tcPr marR="5672" marT="5672" marB="0" anchor="ctr"/>
                </a:tc>
                <a:tc>
                  <a:txBody>
                    <a:bodyPr/>
                    <a:lstStyle/>
                    <a:p>
                      <a:pPr algn="ctr" fontAlgn="b"/>
                      <a:r>
                        <a:rPr lang="en-US" sz="1200" b="1" u="none" strike="noStrike" dirty="0">
                          <a:effectLst/>
                          <a:latin typeface="MULISH REGULAR ROMAN"/>
                        </a:rPr>
                        <a:t>Cases</a:t>
                      </a:r>
                      <a:endParaRPr lang="en-US" sz="1200" b="1" i="0"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374476">
                <a:tc>
                  <a:txBody>
                    <a:bodyPr/>
                    <a:lstStyle/>
                    <a:p>
                      <a:pPr algn="l" fontAlgn="b"/>
                      <a:r>
                        <a:rPr lang="en-US" sz="1200" dirty="0">
                          <a:effectLst/>
                          <a:latin typeface="MULISH REGULAR ROMAN"/>
                        </a:rPr>
                        <a:t>Roberts, Alito, Thomas, Sotomayor, Kagan,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2</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Bufkin, Delligatti</a:t>
                      </a:r>
                      <a:endParaRPr lang="en-US" altLang="de-DE" sz="1200" b="0" i="1"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374476">
                <a:tc>
                  <a:txBody>
                    <a:bodyPr/>
                    <a:lstStyle/>
                    <a:p>
                      <a:pPr algn="l" fontAlgn="b"/>
                      <a:r>
                        <a:rPr lang="en-US" sz="1200" dirty="0">
                          <a:effectLst/>
                        </a:rPr>
                        <a:t>Roberts, Alito, Thomas, Kagan, Gorsuch, Kavanaugh, Barrett</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2</a:t>
                      </a:r>
                    </a:p>
                  </a:txBody>
                  <a:tcPr marR="5672" marT="5672" marB="0" anchor="ctr"/>
                </a:tc>
                <a:tc>
                  <a:txBody>
                    <a:bodyPr/>
                    <a:lstStyle/>
                    <a:p>
                      <a:pPr algn="l" fontAlgn="b"/>
                      <a:r>
                        <a:rPr lang="en-US" altLang="de-DE" sz="1200" b="0" i="1" u="none" strike="noStrike" dirty="0">
                          <a:solidFill>
                            <a:srgbClr val="000000"/>
                          </a:solidFill>
                          <a:effectLst/>
                          <a:latin typeface="MULISH REGULAR ROMAN"/>
                        </a:rPr>
                        <a:t>Lackey; Advocate Christ Medical</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38856231"/>
                  </a:ext>
                </a:extLst>
              </a:tr>
              <a:tr h="330947">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200" dirty="0">
                          <a:effectLst/>
                          <a:latin typeface="MULISH REGULAR ROMAN"/>
                        </a:rPr>
                        <a:t>Roberts, Alito, Sotomayor, Kagan, Kavanaugh, Barrett, Jackson </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0" u="none" strike="noStrike" dirty="0">
                          <a:solidFill>
                            <a:srgbClr val="000000"/>
                          </a:solidFill>
                          <a:effectLst/>
                          <a:latin typeface="MULISH REGULAR ROMAN"/>
                        </a:rPr>
                        <a:t>1</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200" b="0" i="1" u="none" strike="noStrike" dirty="0">
                          <a:solidFill>
                            <a:srgbClr val="000000"/>
                          </a:solidFill>
                          <a:effectLst/>
                          <a:latin typeface="MULISH REGULAR ROMAN"/>
                        </a:rPr>
                        <a:t>Vanderstok; A.A.R.P v. Trump</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330947">
                <a:tc>
                  <a:txBody>
                    <a:bodyPr/>
                    <a:lstStyle/>
                    <a:p>
                      <a:pPr algn="l" fontAlgn="b">
                        <a:buNone/>
                      </a:pPr>
                      <a:r>
                        <a:rPr lang="en-US" sz="1200" dirty="0">
                          <a:effectLst/>
                          <a:latin typeface="MULISH REGULAR ROMAN"/>
                        </a:rPr>
                        <a:t>Alito, Thomas, Gorsuch, Kavanaugh, Barrett </a:t>
                      </a:r>
                      <a:endParaRPr lang="en-US" sz="1200" b="0"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buNone/>
                      </a:pPr>
                      <a:r>
                        <a:rPr lang="en-US" sz="1200" b="0" u="none" strike="noStrike" dirty="0">
                          <a:solidFill>
                            <a:srgbClr val="000000"/>
                          </a:solidFill>
                          <a:effectLst/>
                          <a:latin typeface="MULISH REGULAR ROMAN"/>
                        </a:rPr>
                        <a:t>1</a:t>
                      </a:r>
                      <a:endParaRPr lang="en-US" sz="1200" b="0" i="0" u="none" strike="noStrike" dirty="0">
                        <a:solidFill>
                          <a:srgbClr val="000000"/>
                        </a:solidFill>
                        <a:effectLst/>
                        <a:latin typeface="MULISH REGULAR ROMAN"/>
                      </a:endParaRPr>
                    </a:p>
                  </a:txBody>
                  <a:tcPr marR="5672" marT="5672" marB="0" anchor="ctr"/>
                </a:tc>
                <a:tc>
                  <a:txBody>
                    <a:bodyPr/>
                    <a:lstStyle/>
                    <a:p>
                      <a:pPr algn="l" fontAlgn="b">
                        <a:buNone/>
                      </a:pPr>
                      <a:r>
                        <a:rPr lang="en-US" sz="1200" b="0" i="1" u="none" strike="noStrike" dirty="0">
                          <a:solidFill>
                            <a:srgbClr val="000000"/>
                          </a:solidFill>
                          <a:effectLst/>
                          <a:latin typeface="MULISH REGULAR ROMAN"/>
                        </a:rPr>
                        <a:t>DOE v. VA</a:t>
                      </a: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bl>
          </a:graphicData>
        </a:graphic>
      </p:graphicFrame>
      <p:sp>
        <p:nvSpPr>
          <p:cNvPr id="4" name="Slide Number Placeholder 3">
            <a:extLst>
              <a:ext uri="{FF2B5EF4-FFF2-40B4-BE49-F238E27FC236}">
                <a16:creationId xmlns:a16="http://schemas.microsoft.com/office/drawing/2014/main" id="{47A4C42D-3A43-B349-64E4-C73C0B6EF4F0}"/>
              </a:ext>
            </a:extLst>
          </p:cNvPr>
          <p:cNvSpPr>
            <a:spLocks noGrp="1"/>
          </p:cNvSpPr>
          <p:nvPr>
            <p:ph type="sldNum" sz="quarter" idx="12"/>
          </p:nvPr>
        </p:nvSpPr>
        <p:spPr>
          <a:xfrm>
            <a:off x="9448800" y="6492875"/>
            <a:ext cx="2743200" cy="365125"/>
          </a:xfrm>
        </p:spPr>
        <p:txBody>
          <a:bodyPr/>
          <a:lstStyle/>
          <a:p>
            <a:fld id="{5E212BD6-99D2-4430-8307-3DFF6CB1AF68}" type="slidenum">
              <a:rPr lang="en-US" sz="800" smtClean="0">
                <a:latin typeface="Century Schoolbook" panose="02040604050505020304" pitchFamily="18" charset="0"/>
              </a:rPr>
              <a:t>22</a:t>
            </a:fld>
            <a:endParaRPr lang="en-US" sz="800" dirty="0">
              <a:latin typeface="Century Schoolbook" panose="02040604050505020304" pitchFamily="18" charset="0"/>
            </a:endParaRPr>
          </a:p>
        </p:txBody>
      </p:sp>
      <p:graphicFrame>
        <p:nvGraphicFramePr>
          <p:cNvPr id="7" name="Table 6">
            <a:extLst>
              <a:ext uri="{FF2B5EF4-FFF2-40B4-BE49-F238E27FC236}">
                <a16:creationId xmlns:a16="http://schemas.microsoft.com/office/drawing/2014/main" id="{7384F9A6-BEA8-460B-7EDC-9C7C0EF7552F}"/>
              </a:ext>
            </a:extLst>
          </p:cNvPr>
          <p:cNvGraphicFramePr>
            <a:graphicFrameLocks noGrp="1"/>
          </p:cNvGraphicFramePr>
          <p:nvPr>
            <p:extLst>
              <p:ext uri="{D42A27DB-BD31-4B8C-83A1-F6EECF244321}">
                <p14:modId xmlns:p14="http://schemas.microsoft.com/office/powerpoint/2010/main" val="4278339070"/>
              </p:ext>
            </p:extLst>
          </p:nvPr>
        </p:nvGraphicFramePr>
        <p:xfrm>
          <a:off x="327329" y="2765393"/>
          <a:ext cx="11538586" cy="3829720"/>
        </p:xfrm>
        <a:graphic>
          <a:graphicData uri="http://schemas.openxmlformats.org/drawingml/2006/table">
            <a:tbl>
              <a:tblPr firstRow="1" bandRow="1">
                <a:tableStyleId>{F5AB1C69-6EDB-4FF4-983F-18BD219EF322}</a:tableStyleId>
              </a:tblPr>
              <a:tblGrid>
                <a:gridCol w="1288093">
                  <a:extLst>
                    <a:ext uri="{9D8B030D-6E8A-4147-A177-3AD203B41FA5}">
                      <a16:colId xmlns:a16="http://schemas.microsoft.com/office/drawing/2014/main" val="20000"/>
                    </a:ext>
                  </a:extLst>
                </a:gridCol>
                <a:gridCol w="2905022">
                  <a:extLst>
                    <a:ext uri="{9D8B030D-6E8A-4147-A177-3AD203B41FA5}">
                      <a16:colId xmlns:a16="http://schemas.microsoft.com/office/drawing/2014/main" val="20001"/>
                    </a:ext>
                  </a:extLst>
                </a:gridCol>
                <a:gridCol w="2760893">
                  <a:extLst>
                    <a:ext uri="{9D8B030D-6E8A-4147-A177-3AD203B41FA5}">
                      <a16:colId xmlns:a16="http://schemas.microsoft.com/office/drawing/2014/main" val="20002"/>
                    </a:ext>
                  </a:extLst>
                </a:gridCol>
                <a:gridCol w="2318003">
                  <a:extLst>
                    <a:ext uri="{9D8B030D-6E8A-4147-A177-3AD203B41FA5}">
                      <a16:colId xmlns:a16="http://schemas.microsoft.com/office/drawing/2014/main" val="20003"/>
                    </a:ext>
                  </a:extLst>
                </a:gridCol>
                <a:gridCol w="2266575">
                  <a:extLst>
                    <a:ext uri="{9D8B030D-6E8A-4147-A177-3AD203B41FA5}">
                      <a16:colId xmlns:a16="http://schemas.microsoft.com/office/drawing/2014/main" val="20006"/>
                    </a:ext>
                  </a:extLst>
                </a:gridCol>
              </a:tblGrid>
              <a:tr h="610067">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Term</a:t>
                      </a:r>
                      <a:endParaRPr lang="en-US" sz="1200" b="1" i="0" u="none" strike="noStrike" dirty="0">
                        <a:solidFill>
                          <a:schemeClr val="tx1"/>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Cases Decided by</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5 </a:t>
                      </a:r>
                      <a:r>
                        <a:rPr lang="en-US" sz="1200" b="1" u="sng" strike="noStrike" dirty="0">
                          <a:solidFill>
                            <a:schemeClr val="tx1"/>
                          </a:solidFill>
                          <a:effectLst/>
                          <a:latin typeface="MULISH REGULAR ROMAN"/>
                        </a:rPr>
                        <a:t>or</a:t>
                      </a:r>
                      <a:r>
                        <a:rPr lang="en-US" sz="1200" b="1" u="none" strike="noStrike" dirty="0">
                          <a:solidFill>
                            <a:schemeClr val="tx1"/>
                          </a:solidFill>
                          <a:effectLst/>
                          <a:latin typeface="MULISH REGULAR ROMAN"/>
                        </a:rPr>
                        <a:t> 6-Justice Majorities</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of </a:t>
                      </a:r>
                    </a:p>
                    <a:p>
                      <a:pPr algn="ctr" fontAlgn="b"/>
                      <a:r>
                        <a:rPr lang="en-US" sz="1200" b="1" u="none" strike="noStrike" dirty="0">
                          <a:solidFill>
                            <a:schemeClr val="tx1"/>
                          </a:solidFill>
                          <a:effectLst/>
                          <a:latin typeface="MULISH REGULAR ROMAN"/>
                        </a:rPr>
                        <a:t>Total Cases in Term</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Decided w/ </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Ideological Split</a:t>
                      </a:r>
                      <a:r>
                        <a:rPr lang="en-US" sz="1050" b="1" u="none" strike="noStrike" dirty="0">
                          <a:solidFill>
                            <a:schemeClr val="tx1"/>
                          </a:solidFill>
                          <a:effectLst/>
                          <a:latin typeface="MULISH REGULAR ROMAN"/>
                        </a:rPr>
                        <a:t>*</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Number of</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 Different Majority Coalitions</a:t>
                      </a:r>
                      <a:endParaRPr lang="en-US" sz="1200" b="1" i="0" u="none" strike="noStrike" dirty="0">
                        <a:solidFill>
                          <a:schemeClr val="tx1"/>
                        </a:solidFill>
                        <a:effectLst/>
                        <a:latin typeface="MULISH REGULAR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23</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OT15</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6"/>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OT16</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7"/>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OT17</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8"/>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OT18</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9"/>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OT19</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4"/>
                  </a:ext>
                </a:extLst>
              </a:tr>
              <a:tr h="181583">
                <a:tc>
                  <a:txBody>
                    <a:bodyPr/>
                    <a:lstStyle/>
                    <a:p>
                      <a:pPr algn="ctr" fontAlgn="b">
                        <a:buNone/>
                      </a:pPr>
                      <a:r>
                        <a:rPr lang="en-US" sz="1100" b="1" u="none" strike="noStrike" dirty="0">
                          <a:solidFill>
                            <a:srgbClr val="000000"/>
                          </a:solidFill>
                          <a:effectLst/>
                          <a:latin typeface="MULISH REGULAR ROMAN"/>
                        </a:rPr>
                        <a:t>OT24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p>
                      <a:pPr algn="ctr" fontAlgn="b">
                        <a:buNone/>
                      </a:pPr>
                      <a:r>
                        <a:rPr lang="en-US" sz="1100" b="0" i="0" u="none" strike="noStrike" dirty="0">
                          <a:solidFill>
                            <a:srgbClr val="000000"/>
                          </a:solidFill>
                          <a:effectLst/>
                          <a:latin typeface="MULISH REGULAR ROMAN"/>
                        </a:rPr>
                        <a:t>7</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23%</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0%</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MULISH REGULAR ROMAN"/>
                        </a:rPr>
                        <a:t>Average</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24.46</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35.3</a:t>
                      </a:r>
                      <a:r>
                        <a:rPr lang="en-US" sz="1100" b="1" i="0" u="none" strike="noStrike" dirty="0">
                          <a:solidFill>
                            <a:srgbClr val="000000"/>
                          </a:solidFill>
                          <a:effectLst/>
                          <a:latin typeface="MULISH REGULAR ROMAN"/>
                        </a:rPr>
                        <a:t>%</a:t>
                      </a:r>
                      <a:endParaRPr lang="en-US" sz="1100" b="1" i="0" u="none" strike="noStrike" dirty="0">
                        <a:solidFill>
                          <a:schemeClr val="tx1"/>
                        </a:solidFill>
                        <a:effectLst/>
                        <a:latin typeface="MULISH REGULAR ROMAN"/>
                      </a:endParaRP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11.4%</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23.5</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6"/>
                  </a:ext>
                </a:extLst>
              </a:tr>
              <a:tr h="181583">
                <a:tc gridSpan="5">
                  <a:txBody>
                    <a:bodyPr/>
                    <a:lstStyle/>
                    <a:p>
                      <a:pPr algn="l" fontAlgn="b"/>
                      <a:r>
                        <a:rPr lang="en-US" sz="1100" b="0" u="none" strike="noStrike" dirty="0">
                          <a:solidFill>
                            <a:srgbClr val="000000"/>
                          </a:solidFill>
                          <a:effectLst/>
                          <a:latin typeface="MULISH REGULAR ROMAN"/>
                        </a:rPr>
                        <a:t> * </a:t>
                      </a:r>
                      <a:r>
                        <a:rPr lang="en-US" sz="900" b="0" u="none" strike="noStrike" dirty="0">
                          <a:solidFill>
                            <a:srgbClr val="000000"/>
                          </a:solidFill>
                          <a:effectLst/>
                          <a:latin typeface="MULISH REGULAR ROMAN"/>
                        </a:rPr>
                        <a:t>Ideological splits represent instances where Justices representing divergent ideological orientations (i.e., </a:t>
                      </a:r>
                      <a:r>
                        <a:rPr lang="en-US" sz="900" b="0" i="1" u="none" strike="noStrike" dirty="0">
                          <a:solidFill>
                            <a:srgbClr val="000000"/>
                          </a:solidFill>
                          <a:effectLst/>
                          <a:latin typeface="MULISH REGULAR ROMAN"/>
                        </a:rPr>
                        <a:t>Liberal or Conservative</a:t>
                      </a:r>
                      <a:r>
                        <a:rPr lang="en-US" sz="900" b="0" i="0" u="none" strike="noStrike" dirty="0">
                          <a:solidFill>
                            <a:srgbClr val="000000"/>
                          </a:solidFill>
                          <a:effectLst/>
                          <a:latin typeface="MULISH REGULAR ROMAN"/>
                        </a:rPr>
                        <a:t>) according to </a:t>
                      </a:r>
                      <a:r>
                        <a:rPr lang="en-US" sz="900" dirty="0">
                          <a:latin typeface="MULISH REGULAR ROMAN"/>
                        </a:rPr>
                        <a:t> </a:t>
                      </a:r>
                      <a:r>
                        <a:rPr lang="en-US" sz="900" dirty="0">
                          <a:latin typeface="MULISH REGULAR ROMAN"/>
                          <a:hlinkClick r:id="rId3"/>
                        </a:rPr>
                        <a:t>Martin-Quinn</a:t>
                      </a:r>
                      <a:r>
                        <a:rPr lang="en-US" sz="900" dirty="0">
                          <a:latin typeface="MULISH REGULAR ROMAN"/>
                        </a:rPr>
                        <a:t> populate the Majority and Dissenting Coalitions</a:t>
                      </a:r>
                      <a:r>
                        <a:rPr lang="en-US" sz="900" b="0" i="0" u="none" strike="noStrike" dirty="0">
                          <a:solidFill>
                            <a:srgbClr val="000000"/>
                          </a:solidFill>
                          <a:effectLst/>
                          <a:latin typeface="MULISH REGULAR ROMAN"/>
                        </a:rPr>
                        <a:t>. For OT10-OT19, this represents a (5-4) all-Conservative majority – Since OT20, this represents a (6-3) all-Conservative majority.  </a:t>
                      </a:r>
                      <a:r>
                        <a:rPr lang="en-US" sz="900" b="0" u="none" strike="noStrike" dirty="0">
                          <a:solidFill>
                            <a:srgbClr val="000000"/>
                          </a:solidFill>
                          <a:effectLst/>
                          <a:latin typeface="MULISH REGULAR ROMAN"/>
                        </a:rPr>
                        <a:t> </a:t>
                      </a:r>
                      <a:endParaRPr lang="en-US" sz="1100" b="0" i="0" u="none" strike="noStrike" dirty="0">
                        <a:solidFill>
                          <a:srgbClr val="000000"/>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fontAlgn="b"/>
                      <a:endParaRPr lang="en-US" sz="1100" b="0" i="0" u="none" strike="noStrike" dirty="0">
                        <a:solidFill>
                          <a:schemeClr val="tx1"/>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hMerge="1">
                  <a:txBody>
                    <a:bodyPr/>
                    <a:lstStyle/>
                    <a:p>
                      <a:pPr algn="ctr" fontAlgn="b"/>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hMerge="1">
                  <a:txBody>
                    <a:bodyPr/>
                    <a:lstStyle/>
                    <a:p>
                      <a:pPr algn="ctr" fontAlgn="b"/>
                      <a:endParaRPr lang="en-US" sz="1100" b="1" i="0" u="none" strike="noStrike" dirty="0">
                        <a:solidFill>
                          <a:schemeClr val="tx1"/>
                        </a:solidFill>
                        <a:effectLst/>
                        <a:latin typeface="Century Schoolbook" panose="02040604050505020304" pitchFamily="18" charset="0"/>
                      </a:endParaRPr>
                    </a:p>
                  </a:txBody>
                  <a:tcPr marL="9525" marR="9525" marT="9525" marB="0" anchor="b">
                    <a:lnB w="12700" cap="flat" cmpd="sng" algn="ctr">
                      <a:solidFill>
                        <a:schemeClr val="tx1"/>
                      </a:solidFill>
                      <a:prstDash val="solid"/>
                      <a:round/>
                      <a:headEnd type="none" w="med" len="med"/>
                      <a:tailEnd type="none" w="med" len="med"/>
                    </a:lnB>
                  </a:tcPr>
                </a:tc>
                <a:tc hMerge="1">
                  <a:txBody>
                    <a:bodyPr/>
                    <a:lstStyle/>
                    <a:p>
                      <a:pPr algn="ctr" fontAlgn="b"/>
                      <a:endParaRPr lang="en-US" sz="1100" b="0" i="0" u="none" strike="noStrike" dirty="0">
                        <a:solidFill>
                          <a:schemeClr val="tx1"/>
                        </a:solidFill>
                        <a:effectLst/>
                        <a:latin typeface="Century Schoolbook" panose="02040604050505020304" pitchFamily="18"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58573364"/>
                  </a:ext>
                </a:extLst>
              </a:tr>
            </a:tbl>
          </a:graphicData>
        </a:graphic>
      </p:graphicFrame>
      <p:sp>
        <p:nvSpPr>
          <p:cNvPr id="3" name="Title 9">
            <a:extLst>
              <a:ext uri="{FF2B5EF4-FFF2-40B4-BE49-F238E27FC236}">
                <a16:creationId xmlns:a16="http://schemas.microsoft.com/office/drawing/2014/main" id="{24742AD3-722B-E682-FD6B-65ED18299FA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COALITION ALIGNMENTS</a:t>
            </a:r>
          </a:p>
        </p:txBody>
      </p:sp>
    </p:spTree>
    <p:extLst>
      <p:ext uri="{BB962C8B-B14F-4D97-AF65-F5344CB8AC3E}">
        <p14:creationId xmlns:p14="http://schemas.microsoft.com/office/powerpoint/2010/main" val="26075269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44178" y="6471920"/>
            <a:ext cx="2743200" cy="365125"/>
          </a:xfrm>
        </p:spPr>
        <p:txBody>
          <a:bodyPr/>
          <a:lstStyle/>
          <a:p>
            <a:fld id="{5E212BD6-99D2-4430-8307-3DFF6CB1AF68}" type="slidenum">
              <a:rPr lang="en-US" sz="800" smtClean="0">
                <a:latin typeface="Century Schoolbook" panose="02040604050505020304" pitchFamily="18" charset="0"/>
              </a:rPr>
              <a:t>23</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F7EB7E3A-4562-FCEF-EA81-6C370DCA8FD5}"/>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BREAKING RANKS</a:t>
            </a:r>
          </a:p>
        </p:txBody>
      </p:sp>
      <p:sp>
        <p:nvSpPr>
          <p:cNvPr id="2" name="TextBox 1">
            <a:extLst>
              <a:ext uri="{FF2B5EF4-FFF2-40B4-BE49-F238E27FC236}">
                <a16:creationId xmlns:a16="http://schemas.microsoft.com/office/drawing/2014/main" id="{D8B37D0C-3077-D6B1-43EE-B61695475735}"/>
              </a:ext>
            </a:extLst>
          </p:cNvPr>
          <p:cNvSpPr txBox="1"/>
          <p:nvPr/>
        </p:nvSpPr>
        <p:spPr>
          <a:xfrm>
            <a:off x="4032739" y="130861"/>
            <a:ext cx="7776307" cy="830997"/>
          </a:xfrm>
          <a:prstGeom prst="rect">
            <a:avLst/>
          </a:prstGeom>
          <a:noFill/>
          <a:ln>
            <a:solidFill>
              <a:schemeClr val="tx1"/>
            </a:solidFill>
          </a:ln>
        </p:spPr>
        <p:txBody>
          <a:bodyPr wrap="square" rtlCol="0">
            <a:spAutoFit/>
          </a:bodyPr>
          <a:lstStyle/>
          <a:p>
            <a:r>
              <a:rPr lang="en-US" sz="1200" dirty="0"/>
              <a:t>This figure shows the behaviors of Republican-appointed Justices in non-unanimous cases during the 2020-2024 terms. The </a:t>
            </a:r>
            <a:r>
              <a:rPr lang="en-US" sz="1200" b="1" dirty="0">
                <a:solidFill>
                  <a:schemeClr val="bg1"/>
                </a:solidFill>
                <a:highlight>
                  <a:srgbClr val="5B9BD5"/>
                </a:highlight>
              </a:rPr>
              <a:t>BLUE</a:t>
            </a:r>
            <a:r>
              <a:rPr lang="en-US" sz="1200" dirty="0"/>
              <a:t> bars represent the percentage of cases where a Justice joined a majority coalition consisting of all the Democratic appointees. Alternatively, the </a:t>
            </a:r>
            <a:r>
              <a:rPr lang="en-US" sz="1200" b="1" dirty="0">
                <a:solidFill>
                  <a:schemeClr val="bg1"/>
                </a:solidFill>
                <a:highlight>
                  <a:srgbClr val="800000"/>
                </a:highlight>
              </a:rPr>
              <a:t>RED</a:t>
            </a:r>
            <a:r>
              <a:rPr lang="en-US" sz="1200" dirty="0"/>
              <a:t> bars indicate the percentage of cases where the Justice was the lone dissenter from a majority consisting of the remaining Republican appointees. </a:t>
            </a:r>
            <a:endParaRPr lang="en-US" sz="1200" dirty="0">
              <a:latin typeface="MULISH REGULAR ROMAN"/>
            </a:endParaRPr>
          </a:p>
        </p:txBody>
      </p:sp>
      <p:pic>
        <p:nvPicPr>
          <p:cNvPr id="11" name="Picture 10" descr="A group of people in suits&#10;&#10;AI-generated content may be incorrect.">
            <a:extLst>
              <a:ext uri="{FF2B5EF4-FFF2-40B4-BE49-F238E27FC236}">
                <a16:creationId xmlns:a16="http://schemas.microsoft.com/office/drawing/2014/main" id="{BBB57C09-C5BA-C284-731E-5BCECBA719C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0" y="1168071"/>
            <a:ext cx="9144019" cy="5486411"/>
          </a:xfrm>
          <a:prstGeom prst="rect">
            <a:avLst/>
          </a:prstGeom>
        </p:spPr>
      </p:pic>
    </p:spTree>
    <p:extLst>
      <p:ext uri="{BB962C8B-B14F-4D97-AF65-F5344CB8AC3E}">
        <p14:creationId xmlns:p14="http://schemas.microsoft.com/office/powerpoint/2010/main" val="24904585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E9DBF-2E9B-A27F-93BF-CF63E383D853}"/>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6C6B5D3-65FC-2EDF-851D-5C17FB578295}"/>
              </a:ext>
            </a:extLst>
          </p:cNvPr>
          <p:cNvSpPr>
            <a:spLocks noGrp="1"/>
          </p:cNvSpPr>
          <p:nvPr>
            <p:ph type="sldNum" sz="quarter" idx="12"/>
          </p:nvPr>
        </p:nvSpPr>
        <p:spPr>
          <a:xfrm>
            <a:off x="9444178" y="6471920"/>
            <a:ext cx="2743200" cy="365125"/>
          </a:xfrm>
        </p:spPr>
        <p:txBody>
          <a:bodyPr/>
          <a:lstStyle/>
          <a:p>
            <a:fld id="{5E212BD6-99D2-4430-8307-3DFF6CB1AF68}" type="slidenum">
              <a:rPr lang="en-US" sz="800" smtClean="0">
                <a:latin typeface="Century Schoolbook" panose="02040604050505020304" pitchFamily="18" charset="0"/>
              </a:rPr>
              <a:t>24</a:t>
            </a:fld>
            <a:endParaRPr lang="en-US" sz="800">
              <a:latin typeface="Century Schoolbook" panose="02040604050505020304" pitchFamily="18" charset="0"/>
            </a:endParaRPr>
          </a:p>
        </p:txBody>
      </p:sp>
      <p:sp>
        <p:nvSpPr>
          <p:cNvPr id="10" name="Title 9">
            <a:extLst>
              <a:ext uri="{FF2B5EF4-FFF2-40B4-BE49-F238E27FC236}">
                <a16:creationId xmlns:a16="http://schemas.microsoft.com/office/drawing/2014/main" id="{11143281-96A2-98FE-8D69-E8A01B3D8277}"/>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sp>
        <p:nvSpPr>
          <p:cNvPr id="30" name="TextBox 29">
            <a:extLst>
              <a:ext uri="{FF2B5EF4-FFF2-40B4-BE49-F238E27FC236}">
                <a16:creationId xmlns:a16="http://schemas.microsoft.com/office/drawing/2014/main" id="{32EB1118-ECF4-78AB-814C-C6975A3ED2F5}"/>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pic>
        <p:nvPicPr>
          <p:cNvPr id="6" name="Picture 5" descr="A group of people in suits&#10;&#10;AI-generated content may be incorrect.">
            <a:extLst>
              <a:ext uri="{FF2B5EF4-FFF2-40B4-BE49-F238E27FC236}">
                <a16:creationId xmlns:a16="http://schemas.microsoft.com/office/drawing/2014/main" id="{2FFD086E-1166-9EEB-45D3-C2CB102BA89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940900"/>
            <a:ext cx="7075373" cy="5896145"/>
          </a:xfrm>
          <a:prstGeom prst="rect">
            <a:avLst/>
          </a:prstGeom>
        </p:spPr>
      </p:pic>
    </p:spTree>
    <p:extLst>
      <p:ext uri="{BB962C8B-B14F-4D97-AF65-F5344CB8AC3E}">
        <p14:creationId xmlns:p14="http://schemas.microsoft.com/office/powerpoint/2010/main" val="11001373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xfrm>
            <a:off x="9496883" y="6492875"/>
            <a:ext cx="2743200" cy="365125"/>
          </a:xfrm>
        </p:spPr>
        <p:txBody>
          <a:bodyPr/>
          <a:lstStyle/>
          <a:p>
            <a:fld id="{5E212BD6-99D2-4430-8307-3DFF6CB1AF68}" type="slidenum">
              <a:rPr lang="en-US" sz="800" smtClean="0">
                <a:latin typeface="Century Schoolbook" panose="02040604050505020304" pitchFamily="18" charset="0"/>
              </a:rPr>
              <a:t>25</a:t>
            </a:fld>
            <a:endParaRPr lang="en-US" sz="800" dirty="0">
              <a:latin typeface="Century Schoolbook" panose="02040604050505020304" pitchFamily="18" charset="0"/>
            </a:endParaRPr>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in part, or in judgement) are similarly considered as part of the majority.  </a:t>
            </a:r>
          </a:p>
        </p:txBody>
      </p:sp>
      <p:pic>
        <p:nvPicPr>
          <p:cNvPr id="8" name="Picture 7" descr="A group of people in suits&#10;&#10;AI-generated content may be incorrect.">
            <a:extLst>
              <a:ext uri="{FF2B5EF4-FFF2-40B4-BE49-F238E27FC236}">
                <a16:creationId xmlns:a16="http://schemas.microsoft.com/office/drawing/2014/main" id="{8A3C2646-8DB8-4CF8-212B-F49F1CA234E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5012" y="961858"/>
            <a:ext cx="7075370" cy="5896142"/>
          </a:xfrm>
          <a:prstGeom prst="rect">
            <a:avLst/>
          </a:prstGeom>
        </p:spPr>
      </p:pic>
    </p:spTree>
    <p:extLst>
      <p:ext uri="{BB962C8B-B14F-4D97-AF65-F5344CB8AC3E}">
        <p14:creationId xmlns:p14="http://schemas.microsoft.com/office/powerpoint/2010/main" val="257296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26</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3314579435"/>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pattFill prst="wdUpDiag">
                      <a:fgClr>
                        <a:srgbClr val="4F4789"/>
                      </a:fgClr>
                      <a:bgClr>
                        <a:schemeClr val="bg1"/>
                      </a:bgClr>
                    </a:patt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198849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27</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142725466"/>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Monsalvo Valazquez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8160031"/>
                  </a:ext>
                </a:extLst>
              </a:tr>
              <a:tr h="320040">
                <a:tc>
                  <a:txBody>
                    <a:bodyPr/>
                    <a:lstStyle/>
                    <a:p>
                      <a:r>
                        <a:rPr lang="en-US" sz="1100" dirty="0">
                          <a:latin typeface="MULISH BLACK ROMAN"/>
                        </a:rPr>
                        <a:t>Advocate Christ Medical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04/29/2025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(7-2)</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Feliciano</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04/30/2025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Barnes</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05/15/2025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Kagan</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261610"/>
          </a:xfrm>
          <a:prstGeom prst="rect">
            <a:avLst/>
          </a:prstGeom>
          <a:noFill/>
        </p:spPr>
        <p:txBody>
          <a:bodyPr wrap="square" rtlCol="0">
            <a:spAutoFit/>
          </a:bodyPr>
          <a:lstStyle/>
          <a:p>
            <a:r>
              <a:rPr lang="en-US" sz="1100" dirty="0">
                <a:latin typeface="MULISH BLACK ROMAN"/>
              </a:rPr>
              <a:t>* Justice Barrett joined the dissent in Trump v. J.G.G. but only with respect to Parts II and III-B.</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742460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28</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14432154"/>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A.A.R.P v. Trump</a:t>
                      </a: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05/16/2025</a:t>
                      </a: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(7-2)</a:t>
                      </a: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Per Curiam</a:t>
                      </a: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1D75A14-CC75-B921-D836-5642B6C05F5D}"/>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101980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B59230-B96E-4F41-9BE2-217AB47BFA09}"/>
              </a:ext>
            </a:extLst>
          </p:cNvPr>
          <p:cNvSpPr>
            <a:spLocks noGrp="1"/>
          </p:cNvSpPr>
          <p:nvPr>
            <p:ph type="sldNum" sz="quarter" idx="12"/>
          </p:nvPr>
        </p:nvSpPr>
        <p:spPr/>
        <p:txBody>
          <a:bodyPr/>
          <a:lstStyle/>
          <a:p>
            <a:fld id="{5E212BD6-99D2-4430-8307-3DFF6CB1AF68}" type="slidenum">
              <a:rPr lang="en-US" smtClean="0"/>
              <a:t>29</a:t>
            </a:fld>
            <a:endParaRPr lang="en-US"/>
          </a:p>
        </p:txBody>
      </p:sp>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461543034"/>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w="12700" cmpd="sng">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1A34A9-BE55-D741-FC68-AA580EA51CA5}"/>
              </a:ext>
            </a:extLst>
          </p:cNvPr>
          <p:cNvSpPr/>
          <p:nvPr/>
        </p:nvSpPr>
        <p:spPr>
          <a:xfrm>
            <a:off x="10004000" y="156073"/>
            <a:ext cx="314037" cy="261610"/>
          </a:xfrm>
          <a:prstGeom prst="rect">
            <a:avLst/>
          </a:prstGeom>
          <a:pattFill prst="wdUpDiag">
            <a:fgClr>
              <a:srgbClr val="4F4789"/>
            </a:fgClr>
            <a:bgClr>
              <a:schemeClr val="bg1"/>
            </a:bgClr>
          </a:patt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55656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19932</TotalTime>
  <Words>4547</Words>
  <Application>Microsoft Office PowerPoint</Application>
  <PresentationFormat>Widescreen</PresentationFormat>
  <Paragraphs>1197</Paragraphs>
  <Slides>29</Slides>
  <Notes>13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29</vt:i4>
      </vt:variant>
    </vt:vector>
  </HeadingPairs>
  <TitlesOfParts>
    <vt:vector size="40" baseType="lpstr">
      <vt:lpstr>Arial</vt:lpstr>
      <vt:lpstr>Calibri</vt:lpstr>
      <vt:lpstr>Calibri Light</vt:lpstr>
      <vt:lpstr>Century Schoolbook</vt:lpstr>
      <vt:lpstr>MULISH BLACK ROMAN</vt:lpstr>
      <vt:lpstr>MULISH BOLD ROMAN</vt:lpstr>
      <vt:lpstr>MULISH EXTRABOLD ROMAN</vt:lpstr>
      <vt:lpstr>MULISH ITALIC</vt:lpstr>
      <vt:lpstr>MULISH REGULAR ROMAN</vt:lpstr>
      <vt:lpstr>MULISH SEMIBOLD ROMAN</vt:lpstr>
      <vt:lpstr>Office Theme</vt:lpstr>
      <vt:lpstr>Final Stat Pack for the 2024-25 term  June .., 2025  UPDATED MAY 19, 2025</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252</cp:revision>
  <cp:lastPrinted>2019-06-28T21:02:00Z</cp:lastPrinted>
  <dcterms:created xsi:type="dcterms:W3CDTF">2019-02-07T19:44:00Z</dcterms:created>
  <dcterms:modified xsi:type="dcterms:W3CDTF">2025-05-19T20:48:41Z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