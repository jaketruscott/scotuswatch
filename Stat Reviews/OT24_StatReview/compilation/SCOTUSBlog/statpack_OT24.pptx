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handoutMasterIdLst>
    <p:handoutMasterId r:id="rId32"/>
  </p:handoutMasterIdLst>
  <p:sldIdLst>
    <p:sldId id="392" r:id="rId2"/>
    <p:sldId id="269" r:id="rId3"/>
    <p:sldId id="393" r:id="rId4"/>
    <p:sldId id="391" r:id="rId5"/>
    <p:sldId id="345" r:id="rId6"/>
    <p:sldId id="411" r:id="rId7"/>
    <p:sldId id="404" r:id="rId8"/>
    <p:sldId id="395" r:id="rId9"/>
    <p:sldId id="407" r:id="rId10"/>
    <p:sldId id="396" r:id="rId11"/>
    <p:sldId id="413" r:id="rId12"/>
    <p:sldId id="324" r:id="rId13"/>
    <p:sldId id="383" r:id="rId14"/>
    <p:sldId id="417" r:id="rId15"/>
    <p:sldId id="340" r:id="rId16"/>
    <p:sldId id="406" r:id="rId17"/>
    <p:sldId id="381" r:id="rId18"/>
    <p:sldId id="390" r:id="rId19"/>
    <p:sldId id="299" r:id="rId20"/>
    <p:sldId id="414" r:id="rId21"/>
    <p:sldId id="343" r:id="rId22"/>
    <p:sldId id="412" r:id="rId23"/>
    <p:sldId id="415" r:id="rId24"/>
    <p:sldId id="398" r:id="rId25"/>
    <p:sldId id="399" r:id="rId26"/>
    <p:sldId id="400" r:id="rId27"/>
    <p:sldId id="401" r:id="rId28"/>
    <p:sldId id="416" r:id="rId29"/>
    <p:sldId id="402" r:id="rId3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413"/>
            <p14:sldId id="324"/>
            <p14:sldId id="383"/>
            <p14:sldId id="417"/>
            <p14:sldId id="340"/>
            <p14:sldId id="406"/>
            <p14:sldId id="381"/>
            <p14:sldId id="390"/>
            <p14:sldId id="299"/>
            <p14:sldId id="414"/>
            <p14:sldId id="343"/>
            <p14:sldId id="412"/>
            <p14:sldId id="415"/>
            <p14:sldId id="398"/>
            <p14:sldId id="399"/>
            <p14:sldId id="400"/>
            <p14:sldId id="401"/>
            <p14:sldId id="416"/>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CECE"/>
    <a:srgbClr val="EDEDED"/>
    <a:srgbClr val="4E478A"/>
    <a:srgbClr val="FFFFFF"/>
    <a:srgbClr val="5B9BD5"/>
    <a:srgbClr val="0F9147"/>
    <a:srgbClr val="FDD532"/>
    <a:srgbClr val="4F4789"/>
    <a:srgbClr val="0469A9"/>
    <a:srgbClr val="4FEDE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09" autoAdjust="0"/>
    <p:restoredTop sz="93220" autoAdjust="0"/>
  </p:normalViewPr>
  <p:slideViewPr>
    <p:cSldViewPr snapToGrid="0">
      <p:cViewPr varScale="1">
        <p:scale>
          <a:sx n="107" d="100"/>
          <a:sy n="107" d="100"/>
        </p:scale>
        <p:origin x="984" y="84"/>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commentAuthors" Target="commentAuthors.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6/26/2025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6/26/2025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19</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E230C-F700-77BC-D082-A7CA0D03CA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AF769-429F-196E-1CD6-C9DD1CE36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54690-196E-4BFA-8EEF-9D556E8826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7C1058-6CC5-5D4E-1AE7-0441E63EF21C}"/>
              </a:ext>
            </a:extLst>
          </p:cNvPr>
          <p:cNvSpPr>
            <a:spLocks noGrp="1"/>
          </p:cNvSpPr>
          <p:nvPr>
            <p:ph type="sldNum" sz="quarter" idx="5"/>
          </p:nvPr>
        </p:nvSpPr>
        <p:spPr/>
        <p:txBody>
          <a:bodyPr/>
          <a:lstStyle/>
          <a:p>
            <a:fld id="{B834DF19-3E08-411A-A452-BC015BCC027A}" type="slidenum">
              <a:rPr lang="en-US" smtClean="0"/>
              <a:t>20</a:t>
            </a:fld>
            <a:endParaRPr lang="en-US"/>
          </a:p>
        </p:txBody>
      </p:sp>
    </p:spTree>
    <p:extLst>
      <p:ext uri="{BB962C8B-B14F-4D97-AF65-F5344CB8AC3E}">
        <p14:creationId xmlns:p14="http://schemas.microsoft.com/office/powerpoint/2010/main" val="2463384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21</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24</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2270274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626B0-9FA2-B25B-45C1-0643DDB999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C8D297-41AF-8233-FB75-665F598DEE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CACE5C-C44E-FBA9-59AE-264455420B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5959D40-C205-23B2-931A-4664C7D448F1}"/>
              </a:ext>
            </a:extLst>
          </p:cNvPr>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9957562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6/26/2025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6/26/2025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6/26/2025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6/26/2025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6/26/2025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6/26/2025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6/26/2025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6/26/2025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6/26/2025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6/26/2025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6/26/2025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6/26/2025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8" Type="http://schemas.openxmlformats.org/officeDocument/2006/relationships/slide" Target="slide11.xml"/><Relationship Id="rId13" Type="http://schemas.openxmlformats.org/officeDocument/2006/relationships/slide" Target="slide18.xml"/><Relationship Id="rId3" Type="http://schemas.openxmlformats.org/officeDocument/2006/relationships/slide" Target="slide3.xml"/><Relationship Id="rId7" Type="http://schemas.openxmlformats.org/officeDocument/2006/relationships/slide" Target="slide8.xml"/><Relationship Id="rId12" Type="http://schemas.openxmlformats.org/officeDocument/2006/relationships/slide" Target="slide17.xml"/><Relationship Id="rId17" Type="http://schemas.openxmlformats.org/officeDocument/2006/relationships/slide" Target="slide29.xml"/><Relationship Id="rId2" Type="http://schemas.openxmlformats.org/officeDocument/2006/relationships/notesSlide" Target="../notesSlides/notesSlide2.xml"/><Relationship Id="rId16" Type="http://schemas.openxmlformats.org/officeDocument/2006/relationships/slide" Target="slide24.xml"/><Relationship Id="rId1" Type="http://schemas.openxmlformats.org/officeDocument/2006/relationships/slideLayout" Target="../slideLayouts/slideLayout2.xml"/><Relationship Id="rId6" Type="http://schemas.openxmlformats.org/officeDocument/2006/relationships/slide" Target="slide7.xml"/><Relationship Id="rId11" Type="http://schemas.openxmlformats.org/officeDocument/2006/relationships/slide" Target="slide15.xml"/><Relationship Id="rId5" Type="http://schemas.openxmlformats.org/officeDocument/2006/relationships/slide" Target="slide5.xml"/><Relationship Id="rId15" Type="http://schemas.openxmlformats.org/officeDocument/2006/relationships/slide" Target="slide22.xml"/><Relationship Id="rId10" Type="http://schemas.openxmlformats.org/officeDocument/2006/relationships/slide" Target="slide14.xml"/><Relationship Id="rId4" Type="http://schemas.openxmlformats.org/officeDocument/2006/relationships/slide" Target="slide4.xml"/><Relationship Id="rId9" Type="http://schemas.openxmlformats.org/officeDocument/2006/relationships/slide" Target="slide13.xml"/><Relationship Id="rId14"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scdb.la.psu.edu/"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7.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8.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0"/>
            <a:ext cx="4971156" cy="2827875"/>
          </a:xfrm>
          <a:noFill/>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000" b="1" dirty="0">
                <a:latin typeface="MULISH EXTRABOLD ROMAN" pitchFamily="2" charset="77"/>
              </a:rPr>
              <a:t>Updated </a:t>
            </a:r>
            <a:r>
              <a:rPr lang="en-US" sz="2000" b="1" dirty="0">
                <a:latin typeface="MULISH SEMIBOLD ROMAN" pitchFamily="2" charset="77"/>
              </a:rPr>
              <a:t>June 27, 2025</a:t>
            </a:r>
            <a:br>
              <a:rPr lang="en-US" sz="2800" b="1" dirty="0">
                <a:latin typeface="MULISH EXTRABOLD ROMAN" pitchFamily="2" charset="77"/>
              </a:rPr>
            </a:br>
            <a:br>
              <a:rPr lang="en-US" sz="2800" b="1" dirty="0">
                <a:latin typeface="MULISH EXTRABOLD ROMAN" pitchFamily="2" charset="77"/>
              </a:rPr>
            </a:br>
            <a:endParaRPr lang="en-US" sz="2800" b="1" dirty="0">
              <a:highlight>
                <a:srgbClr val="FF0000"/>
              </a:highlight>
              <a:latin typeface="MULISH EXTRABOLD ROMAN" pitchFamily="2" charset="77"/>
            </a:endParaRP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scotusblog@thedispatch.com </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892480"/>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941442708"/>
              </p:ext>
            </p:extLst>
          </p:nvPr>
        </p:nvGraphicFramePr>
        <p:xfrm>
          <a:off x="304800" y="923675"/>
          <a:ext cx="11582400" cy="49140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3" action="ppaction://hlinksldjump"/>
                        </a:rPr>
                        <a:t>3</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4" action="ppaction://hlinksldjump"/>
                        </a:rPr>
                        <a:t>4</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Opinions of the Court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5" action="ppaction://hlinksldjump"/>
                        </a:rPr>
                        <a:t>5-6</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6" action="ppaction://hlinksldjump"/>
                        </a:rPr>
                        <a:t>7</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a:t>
                      </a:r>
                      <a:r>
                        <a:rPr lang="en-US" sz="1400">
                          <a:latin typeface="MULISH BLACK ROMAN"/>
                        </a:rPr>
                        <a:t>the Majority </a:t>
                      </a:r>
                      <a:r>
                        <a:rPr lang="en-US" sz="1400" dirty="0">
                          <a:latin typeface="MULISH BLACK ROMAN"/>
                        </a:rPr>
                        <a:t>(All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7" action="ppaction://hlinksldjump"/>
                        </a:rPr>
                        <a:t>8-10</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8" action="ppaction://hlinksldjump"/>
                        </a:rPr>
                        <a:t>11-12</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a:t>
                      </a:r>
                      <a:r>
                        <a:rPr lang="en-US" sz="1400">
                          <a:latin typeface="MULISH BLACK ROMAN"/>
                        </a:rPr>
                        <a:t>the Majority </a:t>
                      </a:r>
                      <a:r>
                        <a:rPr lang="en-US" sz="1400" dirty="0">
                          <a:latin typeface="MULISH BLACK ROMAN"/>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9" action="ppaction://hlinksldjump"/>
                        </a:rPr>
                        <a:t>13</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0" action="ppaction://hlinksldjump"/>
                        </a:rPr>
                        <a:t>14</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41986428"/>
                  </a:ext>
                </a:extLst>
              </a:tr>
              <a:tr h="327600">
                <a:tc>
                  <a:txBody>
                    <a:bodyPr/>
                    <a:lstStyle/>
                    <a:p>
                      <a:r>
                        <a:rPr lang="en-US" sz="1400" dirty="0">
                          <a:latin typeface="MULISH BLACK ROMAN"/>
                        </a:rPr>
                        <a:t>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1" action="ppaction://hlinksldjump"/>
                        </a:rPr>
                        <a:t>15-16</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2" action="ppaction://hlinksldjump"/>
                        </a:rPr>
                        <a:t>17</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3" action="ppaction://hlinksldjump"/>
                        </a:rPr>
                        <a:t>18</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4" action="ppaction://hlinksldjump"/>
                        </a:rPr>
                        <a:t>19-21</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5" action="ppaction://hlinksldjump"/>
                        </a:rPr>
                        <a:t>22</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6" action="ppaction://hlinksldjump"/>
                        </a:rPr>
                        <a:t>24-28</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b="0" dirty="0">
                          <a:solidFill>
                            <a:schemeClr val="tx1"/>
                          </a:solidFill>
                          <a:latin typeface="MULISH BLACK ROMAN"/>
                          <a:hlinkClick r:id="rId17" action="ppaction://hlinksldjump"/>
                        </a:rPr>
                        <a:t>29</a:t>
                      </a:r>
                      <a:endParaRPr lang="en-US" sz="1400" b="0" dirty="0">
                        <a:solidFill>
                          <a:schemeClr val="tx1"/>
                        </a:solidFill>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
        <p:nvSpPr>
          <p:cNvPr id="4" name="TextBox 3">
            <a:extLst>
              <a:ext uri="{FF2B5EF4-FFF2-40B4-BE49-F238E27FC236}">
                <a16:creationId xmlns:a16="http://schemas.microsoft.com/office/drawing/2014/main" id="{3DB3C640-4B22-B841-13EF-22759FE76720}"/>
              </a:ext>
            </a:extLst>
          </p:cNvPr>
          <p:cNvSpPr txBox="1"/>
          <p:nvPr/>
        </p:nvSpPr>
        <p:spPr>
          <a:xfrm>
            <a:off x="672353" y="1769192"/>
            <a:ext cx="10972799" cy="4339650"/>
          </a:xfrm>
          <a:prstGeom prst="rect">
            <a:avLst/>
          </a:prstGeom>
          <a:noFill/>
        </p:spPr>
        <p:txBody>
          <a:bodyPr wrap="square">
            <a:spAutoFit/>
          </a:bodyPr>
          <a:lstStyle/>
          <a:p>
            <a:r>
              <a:rPr lang="en-US" sz="1400" b="1" dirty="0">
                <a:effectLst/>
                <a:latin typeface="MULISH REGULAR ROMAN"/>
                <a:ea typeface="Times New Roman" panose="02020603050405020304" pitchFamily="18" charset="0"/>
                <a:cs typeface="Aptos" panose="020B0004020202020204" pitchFamily="34" charset="0"/>
              </a:rPr>
              <a:t>Steady Decline of Unanimity</a:t>
            </a:r>
            <a:r>
              <a:rPr lang="en-US" sz="1400" b="1" dirty="0">
                <a:latin typeface="MULISH REGULAR ROMAN"/>
                <a:ea typeface="Times New Roman" panose="02020603050405020304" pitchFamily="18" charset="0"/>
                <a:cs typeface="Aptos" panose="020B0004020202020204" pitchFamily="34" charset="0"/>
              </a:rPr>
              <a:t>.</a:t>
            </a:r>
            <a:r>
              <a:rPr lang="en-US" sz="1400" dirty="0">
                <a:latin typeface="MULISH REGULAR ROMAN"/>
                <a:ea typeface="Times New Roman" panose="02020603050405020304" pitchFamily="18" charset="0"/>
                <a:cs typeface="Aptos" panose="020B0004020202020204" pitchFamily="34" charset="0"/>
              </a:rPr>
              <a:t> </a:t>
            </a:r>
            <a:r>
              <a:rPr lang="en-US" sz="1200" dirty="0">
                <a:effectLst/>
                <a:latin typeface="MULISH REGULAR ROMAN"/>
                <a:ea typeface="Times New Roman" panose="02020603050405020304" pitchFamily="18" charset="0"/>
                <a:cs typeface="Aptos" panose="020B0004020202020204" pitchFamily="34" charset="0"/>
              </a:rPr>
              <a:t>42% of cases were decided unanimously this term – compared to 44% in the previous term and 50% in the 2022-23 term. </a:t>
            </a:r>
            <a:br>
              <a:rPr lang="en-US" sz="1200" dirty="0">
                <a:effectLst/>
                <a:latin typeface="MULISH REGULAR ROMAN"/>
                <a:ea typeface="Times New Roman" panose="02020603050405020304" pitchFamily="18" charset="0"/>
                <a:cs typeface="Aptos" panose="020B0004020202020204" pitchFamily="34" charset="0"/>
              </a:rPr>
            </a:br>
            <a:br>
              <a:rPr lang="en-US" sz="1200" dirty="0">
                <a:effectLst/>
                <a:latin typeface="MULISH REGULAR ROMAN"/>
                <a:ea typeface="Times New Roman" panose="02020603050405020304" pitchFamily="18" charset="0"/>
                <a:cs typeface="Aptos" panose="020B0004020202020204" pitchFamily="34" charset="0"/>
              </a:rPr>
            </a:br>
            <a:r>
              <a:rPr lang="en-US" sz="1400" b="1" dirty="0">
                <a:effectLst/>
                <a:latin typeface="MULISH REGULAR ROMAN"/>
                <a:ea typeface="Times New Roman" panose="02020603050405020304" pitchFamily="18" charset="0"/>
                <a:cs typeface="Aptos" panose="020B0004020202020204" pitchFamily="34" charset="0"/>
              </a:rPr>
              <a:t>6-3 Decisions</a:t>
            </a:r>
            <a:r>
              <a:rPr lang="en-US" sz="1400" b="1" dirty="0">
                <a:latin typeface="MULISH REGULAR ROMAN"/>
                <a:ea typeface="Times New Roman" panose="02020603050405020304" pitchFamily="18" charset="0"/>
                <a:cs typeface="Aptos" panose="020B0004020202020204" pitchFamily="34" charset="0"/>
              </a:rPr>
              <a:t>.</a:t>
            </a:r>
            <a:r>
              <a:rPr lang="en-US" sz="1400" dirty="0">
                <a:effectLst/>
                <a:latin typeface="MULISH REGULAR ROMAN"/>
                <a:ea typeface="Times New Roman" panose="02020603050405020304" pitchFamily="18" charset="0"/>
                <a:cs typeface="Aptos" panose="020B0004020202020204" pitchFamily="34" charset="0"/>
              </a:rPr>
              <a:t> </a:t>
            </a:r>
            <a:r>
              <a:rPr lang="en-US" sz="1200" dirty="0">
                <a:latin typeface="MULISH REGULAR ROMAN"/>
                <a:ea typeface="Times New Roman" panose="02020603050405020304" pitchFamily="18" charset="0"/>
                <a:cs typeface="Aptos" panose="020B0004020202020204" pitchFamily="34" charset="0"/>
              </a:rPr>
              <a:t>Ten </a:t>
            </a:r>
            <a:r>
              <a:rPr lang="en-US" sz="1200" dirty="0">
                <a:effectLst/>
                <a:latin typeface="MULISH REGULAR ROMAN"/>
                <a:ea typeface="Times New Roman" panose="02020603050405020304" pitchFamily="18" charset="0"/>
                <a:cs typeface="Aptos" panose="020B0004020202020204" pitchFamily="34" charset="0"/>
              </a:rPr>
              <a:t>decisions or 15% of decided cases were by 6-3 split votes. </a:t>
            </a:r>
          </a:p>
          <a:p>
            <a:endParaRPr lang="en-US" sz="1200" dirty="0">
              <a:latin typeface="MULISH REGULAR ROMAN"/>
              <a:ea typeface="Times New Roman" panose="02020603050405020304" pitchFamily="18" charset="0"/>
              <a:cs typeface="Aptos" panose="020B0004020202020204" pitchFamily="34" charset="0"/>
            </a:endParaRPr>
          </a:p>
          <a:p>
            <a:r>
              <a:rPr lang="en-US" sz="1400" b="1" dirty="0">
                <a:latin typeface="MULISH REGULAR ROMAN"/>
                <a:ea typeface="Times New Roman" panose="02020603050405020304" pitchFamily="18" charset="0"/>
                <a:cs typeface="Aptos" panose="020B0004020202020204" pitchFamily="34" charset="0"/>
              </a:rPr>
              <a:t>Ideological Splits in Closely Divided Cases</a:t>
            </a:r>
            <a:r>
              <a:rPr lang="en-US" sz="1200" b="1" dirty="0">
                <a:latin typeface="MULISH REGULAR ROMAN"/>
                <a:ea typeface="Times New Roman" panose="02020603050405020304" pitchFamily="18" charset="0"/>
                <a:cs typeface="Aptos" panose="020B0004020202020204" pitchFamily="34" charset="0"/>
              </a:rPr>
              <a:t>. </a:t>
            </a:r>
            <a:r>
              <a:rPr lang="en-US" sz="1200" dirty="0">
                <a:latin typeface="MULISH REGULAR ROMAN"/>
                <a:ea typeface="Times New Roman" panose="02020603050405020304" pitchFamily="18" charset="0"/>
                <a:cs typeface="Aptos" panose="020B0004020202020204" pitchFamily="34" charset="0"/>
              </a:rPr>
              <a:t>The Court divided 6-3 with Justices Sotomayor, Kagan, and Jackson dissenting in 9% of the opinions and with Justices Thomas, Alito, Gorsuch dissenting in 6% of the opinions. Including 5-4 opinions, all three of the Court's liberal justices were together in dissent in 15% of the cases. Decisions with three or more conservative justices in dissent made up 15% of cases as well and decisions with only conservative justices in the dissent made up 28% of the cases. </a:t>
            </a:r>
            <a:br>
              <a:rPr lang="en-US" sz="1200" dirty="0">
                <a:effectLst/>
                <a:latin typeface="MULISH REGULAR ROMAN"/>
                <a:ea typeface="Times New Roman" panose="02020603050405020304" pitchFamily="18" charset="0"/>
                <a:cs typeface="Aptos" panose="020B0004020202020204" pitchFamily="34" charset="0"/>
              </a:rPr>
            </a:br>
            <a:br>
              <a:rPr lang="en-US" sz="1200" dirty="0">
                <a:effectLst/>
                <a:latin typeface="MULISH REGULAR ROMAN"/>
                <a:ea typeface="Times New Roman" panose="02020603050405020304" pitchFamily="18" charset="0"/>
                <a:cs typeface="Aptos" panose="020B0004020202020204" pitchFamily="34" charset="0"/>
              </a:rPr>
            </a:br>
            <a:r>
              <a:rPr lang="en-US" sz="1400" b="1" dirty="0">
                <a:effectLst/>
                <a:latin typeface="MULISH REGULAR ROMAN"/>
                <a:ea typeface="Times New Roman" panose="02020603050405020304" pitchFamily="18" charset="0"/>
                <a:cs typeface="Aptos" panose="020B0004020202020204" pitchFamily="34" charset="0"/>
              </a:rPr>
              <a:t>Roberts at the Helm</a:t>
            </a:r>
            <a:r>
              <a:rPr lang="en-US" sz="1400" dirty="0">
                <a:effectLst/>
                <a:latin typeface="MULISH REGULAR ROMAN"/>
                <a:ea typeface="Times New Roman" panose="02020603050405020304" pitchFamily="18" charset="0"/>
                <a:cs typeface="Aptos" panose="020B0004020202020204" pitchFamily="34" charset="0"/>
              </a:rPr>
              <a:t>. </a:t>
            </a:r>
            <a:r>
              <a:rPr lang="en-US" sz="1200" dirty="0">
                <a:effectLst/>
                <a:latin typeface="MULISH REGULAR ROMAN"/>
                <a:ea typeface="Times New Roman" panose="02020603050405020304" pitchFamily="18" charset="0"/>
                <a:cs typeface="Aptos" panose="020B0004020202020204" pitchFamily="34" charset="0"/>
              </a:rPr>
              <a:t>Chief Justice John Roberts was in the majority most frequently at 95% in all cases, 92% in non-unanimous cases, and 90% in closely divided cases, and he did not write a single separate opinion this term. Justice Kavanaugh was in the majority </a:t>
            </a:r>
            <a:r>
              <a:rPr lang="en-US" sz="1200" dirty="0">
                <a:latin typeface="MULISH REGULAR ROMAN"/>
                <a:ea typeface="Times New Roman" panose="02020603050405020304" pitchFamily="18" charset="0"/>
                <a:cs typeface="Aptos" panose="020B0004020202020204" pitchFamily="34" charset="0"/>
              </a:rPr>
              <a:t>second</a:t>
            </a:r>
            <a:r>
              <a:rPr lang="en-US" sz="1200" dirty="0">
                <a:effectLst/>
                <a:latin typeface="MULISH REGULAR ROMAN"/>
                <a:ea typeface="Times New Roman" panose="02020603050405020304" pitchFamily="18" charset="0"/>
                <a:cs typeface="Aptos" panose="020B0004020202020204" pitchFamily="34" charset="0"/>
              </a:rPr>
              <a:t> most frequently in all cases at 92%, followed by Justice Barrett at 89%.</a:t>
            </a:r>
            <a:br>
              <a:rPr lang="en-US" sz="1200" dirty="0">
                <a:effectLst/>
                <a:latin typeface="MULISH REGULAR ROMAN"/>
                <a:ea typeface="Times New Roman" panose="02020603050405020304" pitchFamily="18" charset="0"/>
                <a:cs typeface="Aptos" panose="020B0004020202020204" pitchFamily="34" charset="0"/>
              </a:rPr>
            </a:br>
            <a:br>
              <a:rPr lang="en-US" sz="1200" dirty="0">
                <a:effectLst/>
                <a:latin typeface="MULISH REGULAR ROMAN"/>
                <a:ea typeface="Times New Roman" panose="02020603050405020304" pitchFamily="18" charset="0"/>
                <a:cs typeface="Aptos" panose="020B0004020202020204" pitchFamily="34" charset="0"/>
              </a:rPr>
            </a:br>
            <a:r>
              <a:rPr lang="en-US" sz="1400" b="1" dirty="0">
                <a:effectLst/>
                <a:latin typeface="MULISH REGULAR ROMAN"/>
                <a:ea typeface="Times New Roman" panose="02020603050405020304" pitchFamily="18" charset="0"/>
                <a:cs typeface="Aptos" panose="020B0004020202020204" pitchFamily="34" charset="0"/>
              </a:rPr>
              <a:t>Liberals </a:t>
            </a:r>
            <a:r>
              <a:rPr lang="en-US" sz="1400" b="1" dirty="0">
                <a:latin typeface="MULISH REGULAR ROMAN"/>
                <a:ea typeface="Times New Roman" panose="02020603050405020304" pitchFamily="18" charset="0"/>
                <a:cs typeface="Aptos" panose="020B0004020202020204" pitchFamily="34" charset="0"/>
              </a:rPr>
              <a:t>G</a:t>
            </a:r>
            <a:r>
              <a:rPr lang="en-US" sz="1400" b="1" dirty="0">
                <a:effectLst/>
                <a:latin typeface="MULISH REGULAR ROMAN"/>
                <a:ea typeface="Times New Roman" panose="02020603050405020304" pitchFamily="18" charset="0"/>
                <a:cs typeface="Aptos" panose="020B0004020202020204" pitchFamily="34" charset="0"/>
              </a:rPr>
              <a:t>aining Ground</a:t>
            </a:r>
            <a:r>
              <a:rPr lang="en-US" sz="1400" dirty="0">
                <a:effectLst/>
                <a:latin typeface="MULISH REGULAR ROMAN"/>
                <a:ea typeface="Times New Roman" panose="02020603050405020304" pitchFamily="18" charset="0"/>
                <a:cs typeface="Aptos" panose="020B0004020202020204" pitchFamily="34" charset="0"/>
              </a:rPr>
              <a:t>. </a:t>
            </a:r>
            <a:r>
              <a:rPr lang="en-US" sz="1200" dirty="0">
                <a:effectLst/>
                <a:latin typeface="MULISH REGULAR ROMAN"/>
                <a:ea typeface="Times New Roman" panose="02020603050405020304" pitchFamily="18" charset="0"/>
                <a:cs typeface="Aptos" panose="020B0004020202020204" pitchFamily="34" charset="0"/>
              </a:rPr>
              <a:t>Justice Kagan was in the majority 83% of the time in all cases this term – which was more common than Justices Thomas, Gorsuch, and Alito, who were each in the majority 78% of the time. Justice Sotomayor was also in the majority 78% of the time.</a:t>
            </a:r>
            <a:br>
              <a:rPr lang="en-US" sz="1200" dirty="0">
                <a:effectLst/>
                <a:latin typeface="MULISH REGULAR ROMAN"/>
                <a:ea typeface="Times New Roman" panose="02020603050405020304" pitchFamily="18" charset="0"/>
                <a:cs typeface="Aptos" panose="020B0004020202020204" pitchFamily="34" charset="0"/>
              </a:rPr>
            </a:br>
            <a:br>
              <a:rPr lang="en-US" sz="1200" dirty="0">
                <a:effectLst/>
                <a:latin typeface="MULISH REGULAR ROMAN"/>
                <a:ea typeface="Times New Roman" panose="02020603050405020304" pitchFamily="18" charset="0"/>
                <a:cs typeface="Aptos" panose="020B0004020202020204" pitchFamily="34" charset="0"/>
              </a:rPr>
            </a:br>
            <a:r>
              <a:rPr lang="en-US" sz="1400" b="1" dirty="0">
                <a:effectLst/>
                <a:latin typeface="MULISH REGULAR ROMAN"/>
                <a:ea typeface="Times New Roman" panose="02020603050405020304" pitchFamily="18" charset="0"/>
                <a:cs typeface="Aptos" panose="020B0004020202020204" pitchFamily="34" charset="0"/>
              </a:rPr>
              <a:t>Top Alignments at the Poles</a:t>
            </a:r>
            <a:r>
              <a:rPr lang="en-US" sz="1200" dirty="0">
                <a:effectLst/>
                <a:latin typeface="MULISH REGULAR ROMAN"/>
                <a:ea typeface="Times New Roman" panose="02020603050405020304" pitchFamily="18" charset="0"/>
                <a:cs typeface="Aptos" panose="020B0004020202020204" pitchFamily="34" charset="0"/>
              </a:rPr>
              <a:t>. The top alignment in all cases was between Justices Alito and Thomas at 97% of the time, while Justices Jackson and Sotomayor are next at 94</a:t>
            </a:r>
            <a:r>
              <a:rPr lang="en-US" sz="1200" dirty="0">
                <a:latin typeface="MULISH REGULAR ROMAN"/>
                <a:ea typeface="Times New Roman" panose="02020603050405020304" pitchFamily="18" charset="0"/>
                <a:cs typeface="Aptos" panose="020B0004020202020204" pitchFamily="34" charset="0"/>
              </a:rPr>
              <a:t>%</a:t>
            </a:r>
            <a:r>
              <a:rPr lang="en-US" sz="1200" dirty="0">
                <a:effectLst/>
                <a:latin typeface="MULISH REGULAR ROMAN"/>
                <a:ea typeface="Times New Roman" panose="02020603050405020304" pitchFamily="18" charset="0"/>
                <a:cs typeface="Aptos" panose="020B0004020202020204" pitchFamily="34" charset="0"/>
              </a:rPr>
              <a:t>. Chief Justice Roberts and</a:t>
            </a:r>
            <a:r>
              <a:rPr lang="en-US" sz="1200" dirty="0">
                <a:latin typeface="MULISH REGULAR ROMAN"/>
                <a:ea typeface="Times New Roman" panose="02020603050405020304" pitchFamily="18" charset="0"/>
                <a:cs typeface="Aptos" panose="020B0004020202020204" pitchFamily="34" charset="0"/>
              </a:rPr>
              <a:t> Justice </a:t>
            </a:r>
            <a:r>
              <a:rPr lang="en-US" sz="1200" dirty="0">
                <a:effectLst/>
                <a:latin typeface="MULISH REGULAR ROMAN"/>
                <a:ea typeface="Times New Roman" panose="02020603050405020304" pitchFamily="18" charset="0"/>
                <a:cs typeface="Aptos" panose="020B0004020202020204" pitchFamily="34" charset="0"/>
              </a:rPr>
              <a:t>Kavanaugh – who have aligned together more than any other justice pair in previous terms </a:t>
            </a:r>
            <a:r>
              <a:rPr lang="en-US" sz="1200" dirty="0">
                <a:latin typeface="MULISH REGULAR ROMAN"/>
                <a:ea typeface="Times New Roman" panose="02020603050405020304" pitchFamily="18" charset="0"/>
                <a:cs typeface="Aptos" panose="020B0004020202020204" pitchFamily="34" charset="0"/>
              </a:rPr>
              <a:t>– </a:t>
            </a:r>
            <a:r>
              <a:rPr lang="en-US" sz="1200" dirty="0">
                <a:effectLst/>
                <a:latin typeface="MULISH REGULAR ROMAN"/>
                <a:ea typeface="Times New Roman" panose="02020603050405020304" pitchFamily="18" charset="0"/>
                <a:cs typeface="Aptos" panose="020B0004020202020204" pitchFamily="34" charset="0"/>
              </a:rPr>
              <a:t>aligned 91% of the time</a:t>
            </a:r>
            <a:r>
              <a:rPr lang="en-US" sz="1200" dirty="0">
                <a:latin typeface="MULISH REGULAR ROMAN"/>
                <a:ea typeface="Times New Roman" panose="02020603050405020304" pitchFamily="18" charset="0"/>
                <a:cs typeface="Aptos" panose="020B0004020202020204" pitchFamily="34" charset="0"/>
              </a:rPr>
              <a:t>. </a:t>
            </a:r>
          </a:p>
          <a:p>
            <a:br>
              <a:rPr lang="en-US" sz="1200" dirty="0">
                <a:effectLst/>
                <a:latin typeface="MULISH REGULAR ROMAN"/>
                <a:ea typeface="Times New Roman" panose="02020603050405020304" pitchFamily="18" charset="0"/>
                <a:cs typeface="Aptos" panose="020B0004020202020204" pitchFamily="34" charset="0"/>
              </a:rPr>
            </a:br>
            <a:r>
              <a:rPr lang="en-US" sz="1400" b="1" dirty="0">
                <a:effectLst/>
                <a:latin typeface="MULISH REGULAR ROMAN"/>
                <a:ea typeface="Times New Roman" panose="02020603050405020304" pitchFamily="18" charset="0"/>
                <a:cs typeface="Aptos" panose="020B0004020202020204" pitchFamily="34" charset="0"/>
              </a:rPr>
              <a:t>Circuit Cases and Reversals</a:t>
            </a:r>
            <a:r>
              <a:rPr lang="en-US" sz="1400" dirty="0">
                <a:effectLst/>
                <a:latin typeface="MULISH REGULAR ROMAN"/>
                <a:ea typeface="Times New Roman" panose="02020603050405020304" pitchFamily="18" charset="0"/>
                <a:cs typeface="Aptos" panose="020B0004020202020204" pitchFamily="34" charset="0"/>
              </a:rPr>
              <a:t>. </a:t>
            </a:r>
            <a:r>
              <a:rPr lang="en-US" sz="1200" dirty="0">
                <a:effectLst/>
                <a:latin typeface="MULISH REGULAR ROMAN"/>
                <a:ea typeface="Times New Roman" panose="02020603050405020304" pitchFamily="18" charset="0"/>
                <a:cs typeface="Aptos" panose="020B0004020202020204" pitchFamily="34" charset="0"/>
              </a:rPr>
              <a:t>Cases from the First, Fourth, Ninth, and Tenth Circuits were reversed 100% of the time. The Fifth Circuit had the most total cases reversed, with ten, though three were affirmed—resulting in a 77% reversal rate. This term was unusual in that the Ninth Circuit, which is typically the most reviewed, had fewer than one-third as many cases decided as the Fifth Circuit. Even the Fourth Circuit had twice as many cases decided—eight compared to the Ninth Circuit's four.</a:t>
            </a:r>
          </a:p>
          <a:p>
            <a:endParaRPr lang="en-US" sz="1200" dirty="0">
              <a:latin typeface="MULISH REGULAR ROMAN"/>
            </a:endParaRPr>
          </a:p>
        </p:txBody>
      </p:sp>
      <p:sp>
        <p:nvSpPr>
          <p:cNvPr id="7" name="TextBox 6">
            <a:extLst>
              <a:ext uri="{FF2B5EF4-FFF2-40B4-BE49-F238E27FC236}">
                <a16:creationId xmlns:a16="http://schemas.microsoft.com/office/drawing/2014/main" id="{B563B917-4791-BD3F-36A1-777202CB9BA1}"/>
              </a:ext>
            </a:extLst>
          </p:cNvPr>
          <p:cNvSpPr txBox="1"/>
          <p:nvPr/>
        </p:nvSpPr>
        <p:spPr>
          <a:xfrm>
            <a:off x="672353" y="1214319"/>
            <a:ext cx="6096000" cy="369332"/>
          </a:xfrm>
          <a:prstGeom prst="rect">
            <a:avLst/>
          </a:prstGeom>
          <a:noFill/>
        </p:spPr>
        <p:txBody>
          <a:bodyPr wrap="square">
            <a:spAutoFit/>
          </a:bodyPr>
          <a:lstStyle/>
          <a:p>
            <a:r>
              <a:rPr lang="en-US" sz="1800" b="1" u="sng" dirty="0">
                <a:effectLst/>
                <a:latin typeface="MULISH REGULAR ROMAN"/>
                <a:ea typeface="Times New Roman" panose="02020603050405020304" pitchFamily="18" charset="0"/>
                <a:cs typeface="Aptos" panose="020B0004020202020204" pitchFamily="34" charset="0"/>
              </a:rPr>
              <a:t>Key Findings in the Stat Pack for </a:t>
            </a:r>
            <a:r>
              <a:rPr lang="en-US" b="1" u="sng" dirty="0">
                <a:latin typeface="MULISH REGULAR ROMAN"/>
                <a:ea typeface="Times New Roman" panose="02020603050405020304" pitchFamily="18" charset="0"/>
                <a:cs typeface="Aptos" panose="020B0004020202020204" pitchFamily="34" charset="0"/>
              </a:rPr>
              <a:t>the 2024-25 Term</a:t>
            </a:r>
            <a:endParaRPr lang="en-US" b="1" u="sng" dirty="0">
              <a:latin typeface="MULISH REGULAR ROMAN"/>
            </a:endParaRPr>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a:solidFill>
                  <a:srgbClr val="A90404"/>
                </a:solidFill>
                <a:latin typeface="MULISH BOLD ROMAN" pitchFamily="2" charset="77"/>
              </a:rPr>
              <a:t>TOTAL OPINIONS OVER TIME</a:t>
            </a:r>
            <a:endParaRPr lang="en-US" sz="3600" dirty="0">
              <a:solidFill>
                <a:srgbClr val="A90404"/>
              </a:solidFill>
              <a:latin typeface="MULISH BOLD ROMAN" pitchFamily="2" charset="77"/>
            </a:endParaRP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646331"/>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Data from earlier terms were retrieved from the </a:t>
            </a:r>
            <a:r>
              <a:rPr lang="en-US" sz="1200" dirty="0">
                <a:latin typeface="MULISH REGULAR ROMAN"/>
                <a:hlinkClick r:id="rId3"/>
              </a:rPr>
              <a:t>Supreme Court Database</a:t>
            </a:r>
            <a:r>
              <a:rPr lang="en-US" sz="1200" dirty="0">
                <a:latin typeface="MULISH REGULAR ROMAN"/>
              </a:rPr>
              <a:t>. Opinions delivered </a:t>
            </a:r>
            <a:r>
              <a:rPr lang="en-US" sz="1200" i="1" dirty="0">
                <a:latin typeface="MULISH REGULAR ROMAN"/>
              </a:rPr>
              <a:t>per </a:t>
            </a:r>
            <a:r>
              <a:rPr lang="en-US" sz="1200" i="1" dirty="0" err="1">
                <a:latin typeface="MULISH REGULAR ROMAN"/>
              </a:rPr>
              <a:t>curiam</a:t>
            </a:r>
            <a:r>
              <a:rPr lang="en-US" sz="1200" dirty="0">
                <a:latin typeface="MULISH REGULAR ROMAN"/>
              </a:rPr>
              <a:t> are coded as a majority opinion, while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judgment </a:t>
            </a:r>
            <a:r>
              <a:rPr lang="en-US" sz="1200" dirty="0">
                <a:latin typeface="MULISH REGULAR ROMAN"/>
              </a:rPr>
              <a:t>are both coded as concurrences. </a:t>
            </a:r>
          </a:p>
        </p:txBody>
      </p:sp>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dirty="0"/>
          </a:p>
        </p:txBody>
      </p:sp>
      <p:sp>
        <p:nvSpPr>
          <p:cNvPr id="4" name="TextBox 3">
            <a:extLst>
              <a:ext uri="{FF2B5EF4-FFF2-40B4-BE49-F238E27FC236}">
                <a16:creationId xmlns:a16="http://schemas.microsoft.com/office/drawing/2014/main" id="{5DBF1D46-C7EC-10E8-7883-4F62A4250A19}"/>
              </a:ext>
            </a:extLst>
          </p:cNvPr>
          <p:cNvSpPr txBox="1"/>
          <p:nvPr/>
        </p:nvSpPr>
        <p:spPr>
          <a:xfrm>
            <a:off x="7080449" y="212390"/>
            <a:ext cx="4273351" cy="600164"/>
          </a:xfrm>
          <a:prstGeom prst="rect">
            <a:avLst/>
          </a:prstGeom>
          <a:noFill/>
          <a:ln>
            <a:solidFill>
              <a:schemeClr val="tx1"/>
            </a:solidFill>
          </a:ln>
        </p:spPr>
        <p:txBody>
          <a:bodyPr wrap="square">
            <a:spAutoFit/>
          </a:bodyPr>
          <a:lstStyle/>
          <a:p>
            <a:r>
              <a:rPr lang="en-US" sz="1100" dirty="0">
                <a:latin typeface="MULISH REGULAR ROMAN"/>
              </a:rPr>
              <a:t>Please note that the Stat Pack only focuses on “Opinions of the Court” and not "Opinions Relating to Orders," the latter of which includes several of the cases on the so-called emergency/shadow docket</a:t>
            </a:r>
            <a:endParaRPr lang="en-US" sz="1100" dirty="0"/>
          </a:p>
        </p:txBody>
      </p:sp>
      <p:pic>
        <p:nvPicPr>
          <p:cNvPr id="9" name="Picture 8" descr="A graph of different colored bars&#10;&#10;AI-generated content may be incorrect.">
            <a:extLst>
              <a:ext uri="{FF2B5EF4-FFF2-40B4-BE49-F238E27FC236}">
                <a16:creationId xmlns:a16="http://schemas.microsoft.com/office/drawing/2014/main" id="{2BD08AF5-DFB5-20ED-7D5D-54C70C2C234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59095" y="896352"/>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OPINIONS OF THE COURT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4841600"/>
              </p:ext>
            </p:extLst>
          </p:nvPr>
        </p:nvGraphicFramePr>
        <p:xfrm>
          <a:off x="320850" y="796386"/>
          <a:ext cx="11550300" cy="5834891"/>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A.A.R.P. v. Trump</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A.A.R.P v. Trump</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Immigration removal and procedural due process</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2570788897"/>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2133299288"/>
                  </a:ext>
                </a:extLst>
              </a:tr>
              <a:tr h="194963">
                <a:tc>
                  <a:txBody>
                    <a:bodyPr/>
                    <a:lstStyle/>
                    <a:p>
                      <a:pPr algn="l" fontAlgn="b"/>
                      <a:r>
                        <a:rPr lang="en-US" sz="1050" b="0" i="0" u="none" strike="noStrike" dirty="0">
                          <a:solidFill>
                            <a:srgbClr val="000000"/>
                          </a:solidFill>
                          <a:effectLst/>
                          <a:latin typeface="MULISH BLACK ROMAN"/>
                        </a:rPr>
                        <a:t>Andrew v. White</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Andrew</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Due process and prejudicial evidence in capital trial</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3363718120"/>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California</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Education grants, APA challenge, and agency funding authority</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2397630393"/>
                  </a:ext>
                </a:extLst>
              </a:tr>
              <a:tr h="122368">
                <a:tc>
                  <a:txBody>
                    <a:bodyPr/>
                    <a:lstStyle/>
                    <a:p>
                      <a:pPr algn="l" fontAlgn="b"/>
                      <a:r>
                        <a:rPr lang="en-US" sz="1050" b="0" i="0" u="none" strike="noStrike" dirty="0">
                          <a:solidFill>
                            <a:srgbClr val="000000"/>
                          </a:solidFill>
                          <a:effectLst/>
                          <a:latin typeface="MULISH BLACK ROMAN"/>
                        </a:rPr>
                        <a:t>Hamm v. Smith</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Hamm</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Death penalty eligibility and intellectual disability</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2519977218"/>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rgbClr val="EDEDED"/>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rgbClr val="D0CECE"/>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15503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OPINIONS OF THE COURT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3524621050"/>
              </p:ext>
            </p:extLst>
          </p:nvPr>
        </p:nvGraphicFramePr>
        <p:xfrm>
          <a:off x="320850" y="796386"/>
          <a:ext cx="11550300" cy="5814766"/>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Velazquez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dirty="0">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dirty="0">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Misleading vs. false statements under §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dirty="0">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dirty="0">
                          <a:solidFill>
                            <a:srgbClr val="000000"/>
                          </a:solidFill>
                          <a:effectLst/>
                          <a:latin typeface="MULISH BLACK ROMAN"/>
                        </a:rPr>
                        <a:t>Trump v. J.G.G.</a:t>
                      </a: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Trump v. J.G.G.</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Alien detention and habeas under wartime authority</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769244260"/>
                  </a:ext>
                </a:extLst>
              </a:tr>
              <a:tr h="0">
                <a:tc>
                  <a:txBody>
                    <a:bodyPr/>
                    <a:lstStyle/>
                    <a:p>
                      <a:pPr algn="l" fontAlgn="b"/>
                      <a:r>
                        <a:rPr lang="en-US" sz="1050" b="0" i="0" u="none" strike="noStrike" dirty="0">
                          <a:solidFill>
                            <a:srgbClr val="000000"/>
                          </a:solidFill>
                          <a:effectLst/>
                          <a:latin typeface="MULISH BLACK ROMAN"/>
                        </a:rPr>
                        <a:t>United States v. Miller</a:t>
                      </a:r>
                    </a:p>
                  </a:txBody>
                  <a:tcPr marL="9525" marR="9525" marT="952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Bankruptcy </a:t>
                      </a:r>
                      <a:r>
                        <a:rPr lang="en-US" sz="1050" b="0" i="0" u="none" strike="noStrike" dirty="0" err="1">
                          <a:solidFill>
                            <a:srgbClr val="000000"/>
                          </a:solidFill>
                          <a:effectLst/>
                          <a:latin typeface="MULISH BLACK ROMAN"/>
                        </a:rPr>
                        <a:t>clawback</a:t>
                      </a:r>
                      <a:r>
                        <a:rPr lang="en-US" sz="1050" b="0" i="0" u="none" strike="noStrike" dirty="0">
                          <a:solidFill>
                            <a:srgbClr val="000000"/>
                          </a:solidFill>
                          <a:effectLst/>
                          <a:latin typeface="MULISH BLACK ROMAN"/>
                        </a:rPr>
                        <a:t> and sovereign immunity</a:t>
                      </a:r>
                    </a:p>
                  </a:txBody>
                  <a:tcPr marL="9525" marR="9525" marT="9525" marB="0" anchor="b">
                    <a:lnL>
                      <a:noFill/>
                    </a:lnL>
                    <a:lnR>
                      <a:noFill/>
                    </a:lnR>
                    <a:lnT>
                      <a:noFill/>
                    </a:lnT>
                    <a:lnB>
                      <a:noFill/>
                    </a:lnB>
                    <a:solidFill>
                      <a:srgbClr val="EDEDED"/>
                    </a:solidFill>
                  </a:tcPr>
                </a:tc>
                <a:extLst>
                  <a:ext uri="{0D108BD9-81ED-4DB2-BD59-A6C34878D82A}">
                    <a16:rowId xmlns:a16="http://schemas.microsoft.com/office/drawing/2014/main" val="3020829133"/>
                  </a:ext>
                </a:extLst>
              </a:tr>
              <a:tr h="0">
                <a:tc>
                  <a:txBody>
                    <a:bodyPr/>
                    <a:lstStyle/>
                    <a:p>
                      <a:pPr algn="l" fontAlgn="b"/>
                      <a:r>
                        <a:rPr lang="en-US" sz="1050" b="0" i="0" u="none" strike="noStrike" dirty="0">
                          <a:solidFill>
                            <a:srgbClr val="000000"/>
                          </a:solidFill>
                          <a:effectLst/>
                          <a:latin typeface="MULISH BLACK ROMAN"/>
                        </a:rPr>
                        <a:t>United States v. </a:t>
                      </a:r>
                      <a:r>
                        <a:rPr lang="en-US" sz="1050" b="0" i="0" u="none" strike="noStrike" dirty="0" err="1">
                          <a:solidFill>
                            <a:srgbClr val="000000"/>
                          </a:solidFill>
                          <a:effectLst/>
                          <a:latin typeface="MULISH BLACK ROMAN"/>
                        </a:rPr>
                        <a:t>Skrmetti</a:t>
                      </a:r>
                      <a:endParaRPr lang="en-US" sz="1050" b="0" i="0" u="none" strike="noStrike" dirty="0">
                        <a:solidFill>
                          <a:srgbClr val="000000"/>
                        </a:solidFill>
                        <a:effectLst/>
                        <a:latin typeface="MULISH BLACK ROMAN"/>
                      </a:endParaRP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Transgender care ban for minors</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2397630393"/>
                  </a:ext>
                </a:extLst>
              </a:tr>
              <a:tr h="0">
                <a:tc>
                  <a:txBody>
                    <a:bodyPr/>
                    <a:lstStyle/>
                    <a:p>
                      <a:pPr algn="l" fontAlgn="b"/>
                      <a:r>
                        <a:rPr lang="en-US" sz="1050" b="0" i="0" u="none" strike="noStrike" dirty="0">
                          <a:solidFill>
                            <a:srgbClr val="000000"/>
                          </a:solidFill>
                          <a:effectLst/>
                          <a:latin typeface="MULISH BLACK ROMAN"/>
                        </a:rPr>
                        <a:t>Waetzig v. Halliburton</a:t>
                      </a:r>
                    </a:p>
                  </a:txBody>
                  <a:tcPr marL="9525" marR="9525" marT="952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rgbClr val="EDEDED"/>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3241247474"/>
                  </a:ext>
                </a:extLst>
              </a:tr>
              <a:tr h="172068">
                <a:tc>
                  <a:txBody>
                    <a:bodyPr/>
                    <a:lstStyle/>
                    <a:p>
                      <a:pPr algn="l" fontAlgn="b"/>
                      <a:r>
                        <a:rPr lang="en-US" sz="1050" b="0" i="0" u="none" strike="noStrike" dirty="0">
                          <a:solidFill>
                            <a:srgbClr val="000000"/>
                          </a:solidFill>
                          <a:effectLst/>
                          <a:latin typeface="MULISH BLACK ROMAN"/>
                        </a:rPr>
                        <a:t>Wisconsin Bell v. U.S., ex rel. Health</a:t>
                      </a:r>
                    </a:p>
                  </a:txBody>
                  <a:tcPr marL="9525" marR="9525" marT="9525" marB="0" anchor="b">
                    <a:lnL>
                      <a:noFill/>
                    </a:lnL>
                    <a:lnR>
                      <a:noFill/>
                    </a:lnR>
                    <a:lnT>
                      <a:noFill/>
                    </a:lnT>
                    <a:lnB>
                      <a:noFill/>
                    </a:lnB>
                    <a:solidFill>
                      <a:srgbClr val="EDEDED"/>
                    </a:solidFill>
                  </a:tcPr>
                </a:tc>
                <a:tc>
                  <a:txBody>
                    <a:bodyPr/>
                    <a:lstStyle/>
                    <a:p>
                      <a:pPr algn="l" fontAlgn="b"/>
                      <a:r>
                        <a:rPr lang="en-US" sz="1050" b="0" i="1" u="none" strike="noStrike" dirty="0">
                          <a:solidFill>
                            <a:srgbClr val="000000"/>
                          </a:solidFill>
                          <a:effectLst/>
                          <a:latin typeface="MULISH BLACK ROMAN"/>
                        </a:rPr>
                        <a:t>Wisconsin Bell</a:t>
                      </a:r>
                    </a:p>
                  </a:txBody>
                  <a:tcPr marL="1375" marR="1375" marT="1375" marB="0" anchor="b">
                    <a:lnL>
                      <a:noFill/>
                    </a:lnL>
                    <a:lnR>
                      <a:noFill/>
                    </a:lnR>
                    <a:lnT>
                      <a:noFill/>
                    </a:lnT>
                    <a:lnB>
                      <a:noFill/>
                    </a:lnB>
                    <a:solidFill>
                      <a:srgbClr val="EDEDED"/>
                    </a:solidFill>
                  </a:tcPr>
                </a:tc>
                <a:tc>
                  <a:txBody>
                    <a:bodyPr/>
                    <a:lstStyle/>
                    <a:p>
                      <a:pPr algn="l" fontAlgn="b"/>
                      <a:r>
                        <a:rPr lang="en-US" sz="1050" b="0" i="0" u="none" strike="noStrike" dirty="0">
                          <a:solidFill>
                            <a:srgbClr val="000000"/>
                          </a:solidFill>
                          <a:effectLst/>
                          <a:latin typeface="MULISH BLACK ROMAN"/>
                        </a:rPr>
                        <a:t>False Claims Act coverage of telecon reimbursements</a:t>
                      </a:r>
                    </a:p>
                  </a:txBody>
                  <a:tcPr marL="9525" marR="9525" marT="9525" marB="0" anchor="b">
                    <a:lnL>
                      <a:noFill/>
                    </a:lnL>
                    <a:lnR>
                      <a:noFill/>
                    </a:lnR>
                    <a:lnT>
                      <a:noFill/>
                    </a:lnT>
                    <a:lnB>
                      <a:noFill/>
                    </a:lnB>
                    <a:solidFill>
                      <a:srgbClr val="EDEDED"/>
                    </a:solidFill>
                  </a:tcPr>
                </a:tc>
                <a:extLst>
                  <a:ext uri="{0D108BD9-81ED-4DB2-BD59-A6C34878D82A}">
                    <a16:rowId xmlns:a16="http://schemas.microsoft.com/office/drawing/2014/main" val="1236662915"/>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percentage of unanimous decisions (i.e., cases decided without any full dissents) between OT05-OT24. These include decisions reached </a:t>
            </a:r>
            <a:r>
              <a:rPr lang="en-US" sz="1200" i="1" dirty="0"/>
              <a:t>per </a:t>
            </a:r>
            <a:r>
              <a:rPr lang="en-US" sz="1200" i="1" dirty="0" err="1"/>
              <a:t>curiam</a:t>
            </a:r>
            <a:r>
              <a:rPr lang="en-US" sz="1200" dirty="0"/>
              <a:t> without any noted dissents.  </a:t>
            </a:r>
            <a:r>
              <a:rPr lang="en-US" sz="1200" dirty="0">
                <a:solidFill>
                  <a:srgbClr val="FF0000"/>
                </a:solidFill>
              </a:rPr>
              <a:t>Dashed red </a:t>
            </a:r>
            <a:r>
              <a:rPr lang="en-US" sz="1200" dirty="0"/>
              <a:t>line represent longitudinal average (44.5%). </a:t>
            </a:r>
            <a:endParaRPr lang="en-US" sz="1200" dirty="0">
              <a:latin typeface="MULISH REGULAR ROMAN"/>
            </a:endParaRPr>
          </a:p>
        </p:txBody>
      </p:sp>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pic>
        <p:nvPicPr>
          <p:cNvPr id="8" name="Picture 7" descr="A graph with numbers and lines&#10;&#10;AI-generated content may be incorrect.">
            <a:extLst>
              <a:ext uri="{FF2B5EF4-FFF2-40B4-BE49-F238E27FC236}">
                <a16:creationId xmlns:a16="http://schemas.microsoft.com/office/drawing/2014/main" id="{DAAB8057-C304-CF16-26D2-76DB4BF33B3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0" y="1147656"/>
            <a:ext cx="9144019" cy="5486411"/>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320850" y="6083077"/>
            <a:ext cx="10401300" cy="646331"/>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that they participated in (including those decided unanimously, </a:t>
            </a:r>
            <a:r>
              <a:rPr lang="en-US" sz="1200" i="1" dirty="0">
                <a:latin typeface="MULISH REGULAR ROMAN"/>
              </a:rPr>
              <a:t>per </a:t>
            </a:r>
            <a:r>
              <a:rPr lang="en-US" sz="1200" i="1" dirty="0" err="1">
                <a:latin typeface="MULISH REGULAR ROMAN"/>
              </a:rPr>
              <a:t>curiam</a:t>
            </a:r>
            <a:r>
              <a:rPr lang="en-US" sz="1200" i="1" dirty="0">
                <a:latin typeface="MULISH REGULAR ROMAN"/>
              </a:rPr>
              <a:t>, </a:t>
            </a:r>
            <a:r>
              <a:rPr lang="en-US" sz="1200" dirty="0">
                <a:latin typeface="MULISH REGULAR ROMAN"/>
              </a:rPr>
              <a:t>or </a:t>
            </a:r>
            <a:r>
              <a:rPr lang="en-US" sz="1200" i="1" dirty="0">
                <a:latin typeface="MULISH REGULAR ROMAN"/>
              </a:rPr>
              <a:t>dismissed as improvidently granted</a:t>
            </a:r>
            <a:r>
              <a:rPr lang="en-US" sz="1200" dirty="0">
                <a:latin typeface="MULISH REGULAR ROMAN"/>
              </a:rPr>
              <a:t>). </a:t>
            </a:r>
            <a:r>
              <a:rPr lang="en-US" sz="1200" b="1" i="1" dirty="0">
                <a:latin typeface="MULISH REGULAR ROMAN"/>
              </a:rPr>
              <a:t>Note</a:t>
            </a:r>
            <a:r>
              <a:rPr lang="en-US" sz="1200" i="1" dirty="0">
                <a:latin typeface="MULISH REGULAR ROMAN"/>
              </a:rPr>
              <a:t>: </a:t>
            </a:r>
            <a:r>
              <a:rPr lang="en-US" sz="1200" dirty="0">
                <a:latin typeface="MULISH REGULAR ROMAN"/>
              </a:rPr>
              <a:t>Given that majority and dissenting votes were not indicated, these percentages </a:t>
            </a:r>
            <a:r>
              <a:rPr lang="en-US" sz="1200" u="sng" dirty="0">
                <a:latin typeface="MULISH REGULAR ROMAN"/>
              </a:rPr>
              <a:t>do not</a:t>
            </a:r>
            <a:r>
              <a:rPr lang="en-US" sz="1200" dirty="0">
                <a:latin typeface="MULISH REGULAR ROMAN"/>
              </a:rPr>
              <a:t> include any votes from the court’s equally divided decision in </a:t>
            </a:r>
            <a:r>
              <a:rPr lang="en-US" sz="1200" i="1" dirty="0">
                <a:latin typeface="MULISH REGULAR ROMAN"/>
              </a:rPr>
              <a:t>Drummond.</a:t>
            </a:r>
            <a:endParaRPr lang="en-US" sz="1200" dirty="0">
              <a:latin typeface="MULISH REGULAR ROMAN"/>
            </a:endParaRPr>
          </a:p>
        </p:txBody>
      </p:sp>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dirty="0"/>
          </a:p>
        </p:txBody>
      </p:sp>
      <p:pic>
        <p:nvPicPr>
          <p:cNvPr id="4" name="Picture 3" descr="A group of people in a row&#10;&#10;AI-generated content may be incorrect.">
            <a:extLst>
              <a:ext uri="{FF2B5EF4-FFF2-40B4-BE49-F238E27FC236}">
                <a16:creationId xmlns:a16="http://schemas.microsoft.com/office/drawing/2014/main" id="{E4A4258A-5AC9-9692-FAB5-2F2A69CA03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27825"/>
            <a:ext cx="8705775"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17267"/>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212688"/>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pic>
        <p:nvPicPr>
          <p:cNvPr id="6" name="Picture 5" descr="A group of people in a row&#10;&#10;AI-generated content may be incorrect.">
            <a:extLst>
              <a:ext uri="{FF2B5EF4-FFF2-40B4-BE49-F238E27FC236}">
                <a16:creationId xmlns:a16="http://schemas.microsoft.com/office/drawing/2014/main" id="{1A1D5901-7C13-725F-01D0-61BA2C4ABB5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17267"/>
            <a:ext cx="8705776" cy="5223465"/>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pic>
        <p:nvPicPr>
          <p:cNvPr id="4" name="Picture 3" descr="A group of people standing in front of a graph&#10;&#10;AI-generated content may be incorrect.">
            <a:extLst>
              <a:ext uri="{FF2B5EF4-FFF2-40B4-BE49-F238E27FC236}">
                <a16:creationId xmlns:a16="http://schemas.microsoft.com/office/drawing/2014/main" id="{2C0E1584-087E-99E5-A86F-87BB4556D6D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11</a:t>
            </a:fld>
            <a:endParaRPr lang="en-US"/>
          </a:p>
        </p:txBody>
      </p:sp>
      <p:pic>
        <p:nvPicPr>
          <p:cNvPr id="4" name="Picture 3" descr="A group of people in suits&#10;&#10;AI-generated content may be incorrect.">
            <a:extLst>
              <a:ext uri="{FF2B5EF4-FFF2-40B4-BE49-F238E27FC236}">
                <a16:creationId xmlns:a16="http://schemas.microsoft.com/office/drawing/2014/main" id="{0C4DF61A-1B35-C115-3F09-C470E3246FB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961854"/>
            <a:ext cx="7075374" cy="5896146"/>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754326"/>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12</a:t>
            </a:fld>
            <a:endParaRPr lang="en-US"/>
          </a:p>
        </p:txBody>
      </p:sp>
      <p:pic>
        <p:nvPicPr>
          <p:cNvPr id="4" name="Picture 3" descr="A group of people in a graph&#10;&#10;AI-generated content may be incorrect.">
            <a:extLst>
              <a:ext uri="{FF2B5EF4-FFF2-40B4-BE49-F238E27FC236}">
                <a16:creationId xmlns:a16="http://schemas.microsoft.com/office/drawing/2014/main" id="{3E736751-6A6D-0E13-4BD8-8BD945ED8B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166354772"/>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Unanimous opinions</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7.71</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dirty="0">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7.83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6.86</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r>
                        <a:rPr lang="en-US" sz="1100" b="1" dirty="0">
                          <a:solidFill>
                            <a:schemeClr val="tx1"/>
                          </a:solidFill>
                          <a:effectLst/>
                          <a:latin typeface="MULISH REGULAR ROMAN" pitchFamily="2" charset="77"/>
                        </a:rPr>
                        <a:t>56</a:t>
                      </a: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24</a:t>
                      </a: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4</a:t>
                      </a: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9</a:t>
                      </a: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11</a:t>
                      </a: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8</a:t>
                      </a: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7.47</a:t>
                      </a: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4192218082"/>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1906326004"/>
              </p:ext>
            </p:extLst>
          </p:nvPr>
        </p:nvGraphicFramePr>
        <p:xfrm>
          <a:off x="4656537" y="4156187"/>
          <a:ext cx="6179914" cy="2513061"/>
        </p:xfrm>
        <a:graphic>
          <a:graphicData uri="http://schemas.openxmlformats.org/drawingml/2006/table">
            <a:tbl>
              <a:tblPr firstRow="1" bandRow="1">
                <a:tableStyleId>{C083E6E3-FA7D-4D7B-A595-EF9225AFEA82}</a:tableStyleId>
              </a:tblPr>
              <a:tblGrid>
                <a:gridCol w="1636492">
                  <a:extLst>
                    <a:ext uri="{9D8B030D-6E8A-4147-A177-3AD203B41FA5}">
                      <a16:colId xmlns:a16="http://schemas.microsoft.com/office/drawing/2014/main" val="20000"/>
                    </a:ext>
                  </a:extLst>
                </a:gridCol>
                <a:gridCol w="1109026">
                  <a:extLst>
                    <a:ext uri="{9D8B030D-6E8A-4147-A177-3AD203B41FA5}">
                      <a16:colId xmlns:a16="http://schemas.microsoft.com/office/drawing/2014/main" val="20001"/>
                    </a:ext>
                  </a:extLst>
                </a:gridCol>
                <a:gridCol w="3434396">
                  <a:extLst>
                    <a:ext uri="{9D8B030D-6E8A-4147-A177-3AD203B41FA5}">
                      <a16:colId xmlns:a16="http://schemas.microsoft.com/office/drawing/2014/main" val="4268982242"/>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3</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Parrish, Zuch</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Laboratory Corp.</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Stanley</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13</a:t>
            </a:fld>
            <a:endParaRPr lang="en-US"/>
          </a:p>
        </p:txBody>
      </p:sp>
      <p:sp>
        <p:nvSpPr>
          <p:cNvPr id="2" name="TextBox 1">
            <a:extLst>
              <a:ext uri="{FF2B5EF4-FFF2-40B4-BE49-F238E27FC236}">
                <a16:creationId xmlns:a16="http://schemas.microsoft.com/office/drawing/2014/main" id="{9DE224FF-55AD-FCBC-8A44-28C5566A10DB}"/>
              </a:ext>
            </a:extLst>
          </p:cNvPr>
          <p:cNvSpPr txBox="1"/>
          <p:nvPr/>
        </p:nvSpPr>
        <p:spPr>
          <a:xfrm>
            <a:off x="6096000" y="345170"/>
            <a:ext cx="5066531" cy="400110"/>
          </a:xfrm>
          <a:prstGeom prst="rect">
            <a:avLst/>
          </a:prstGeom>
          <a:noFill/>
          <a:ln>
            <a:solidFill>
              <a:schemeClr val="tx1"/>
            </a:solidFill>
          </a:ln>
        </p:spPr>
        <p:txBody>
          <a:bodyPr wrap="square">
            <a:spAutoFit/>
          </a:bodyPr>
          <a:lstStyle/>
          <a:p>
            <a:r>
              <a:rPr lang="en-US" sz="1000" dirty="0"/>
              <a:t>Only cases with a signed majority opinion are included in this analysis – cases decided </a:t>
            </a:r>
            <a:r>
              <a:rPr lang="en-US" sz="1000" i="1" dirty="0"/>
              <a:t>per </a:t>
            </a:r>
            <a:r>
              <a:rPr lang="en-US" sz="1000" i="1" dirty="0" err="1"/>
              <a:t>curiam</a:t>
            </a:r>
            <a:r>
              <a:rPr lang="en-US" sz="1000" dirty="0"/>
              <a:t> with no signed majority opinion are omitted. </a:t>
            </a:r>
            <a:r>
              <a:rPr lang="en-US" sz="1000" i="1" dirty="0"/>
              <a:t>Glossip</a:t>
            </a:r>
            <a:r>
              <a:rPr lang="en-US" sz="1000" dirty="0"/>
              <a:t> is included here as a (6-3) opinion. </a:t>
            </a:r>
          </a:p>
        </p:txBody>
      </p:sp>
    </p:spTree>
    <p:extLst>
      <p:ext uri="{BB962C8B-B14F-4D97-AF65-F5344CB8AC3E}">
        <p14:creationId xmlns:p14="http://schemas.microsoft.com/office/powerpoint/2010/main" val="11040160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3E480-6B4D-3550-1BDD-5F489A530B06}"/>
            </a:ext>
          </a:extLst>
        </p:cNvPr>
        <p:cNvGrpSpPr/>
        <p:nvPr/>
      </p:nvGrpSpPr>
      <p:grpSpPr>
        <a:xfrm>
          <a:off x="0" y="0"/>
          <a:ext cx="0" cy="0"/>
          <a:chOff x="0" y="0"/>
          <a:chExt cx="0" cy="0"/>
        </a:xfrm>
      </p:grpSpPr>
      <p:sp>
        <p:nvSpPr>
          <p:cNvPr id="11" name="Title 9">
            <a:extLst>
              <a:ext uri="{FF2B5EF4-FFF2-40B4-BE49-F238E27FC236}">
                <a16:creationId xmlns:a16="http://schemas.microsoft.com/office/drawing/2014/main" id="{CD0EE1E8-E914-C55B-6CE0-92ADC8C79B7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Closely Divided Cases</a:t>
            </a:r>
          </a:p>
        </p:txBody>
      </p:sp>
      <p:sp>
        <p:nvSpPr>
          <p:cNvPr id="3" name="Slide Number Placeholder 2">
            <a:extLst>
              <a:ext uri="{FF2B5EF4-FFF2-40B4-BE49-F238E27FC236}">
                <a16:creationId xmlns:a16="http://schemas.microsoft.com/office/drawing/2014/main" id="{BF169611-0076-FC6D-A24D-B5679EAF4DC1}"/>
              </a:ext>
            </a:extLst>
          </p:cNvPr>
          <p:cNvSpPr>
            <a:spLocks noGrp="1"/>
          </p:cNvSpPr>
          <p:nvPr>
            <p:ph type="sldNum" sz="quarter" idx="12"/>
          </p:nvPr>
        </p:nvSpPr>
        <p:spPr/>
        <p:txBody>
          <a:bodyPr/>
          <a:lstStyle/>
          <a:p>
            <a:fld id="{5E212BD6-99D2-4430-8307-3DFF6CB1AF68}" type="slidenum">
              <a:rPr lang="en-US" smtClean="0"/>
              <a:t>14</a:t>
            </a:fld>
            <a:endParaRPr lang="en-US"/>
          </a:p>
        </p:txBody>
      </p:sp>
      <p:graphicFrame>
        <p:nvGraphicFramePr>
          <p:cNvPr id="15" name="Table 14">
            <a:extLst>
              <a:ext uri="{FF2B5EF4-FFF2-40B4-BE49-F238E27FC236}">
                <a16:creationId xmlns:a16="http://schemas.microsoft.com/office/drawing/2014/main" id="{8508F7C2-ADCA-7744-5192-1DD0DD812A10}"/>
              </a:ext>
            </a:extLst>
          </p:cNvPr>
          <p:cNvGraphicFramePr>
            <a:graphicFrameLocks noGrp="1"/>
          </p:cNvGraphicFramePr>
          <p:nvPr>
            <p:extLst>
              <p:ext uri="{D42A27DB-BD31-4B8C-83A1-F6EECF244321}">
                <p14:modId xmlns:p14="http://schemas.microsoft.com/office/powerpoint/2010/main" val="3277506130"/>
              </p:ext>
            </p:extLst>
          </p:nvPr>
        </p:nvGraphicFramePr>
        <p:xfrm>
          <a:off x="539763" y="961859"/>
          <a:ext cx="5595779" cy="5688020"/>
        </p:xfrm>
        <a:graphic>
          <a:graphicData uri="http://schemas.openxmlformats.org/drawingml/2006/table">
            <a:tbl>
              <a:tblPr firstRow="1" bandRow="1">
                <a:tableStyleId>{C083E6E3-FA7D-4D7B-A595-EF9225AFEA82}</a:tableStyleId>
              </a:tblPr>
              <a:tblGrid>
                <a:gridCol w="1551806">
                  <a:extLst>
                    <a:ext uri="{9D8B030D-6E8A-4147-A177-3AD203B41FA5}">
                      <a16:colId xmlns:a16="http://schemas.microsoft.com/office/drawing/2014/main" val="3246856301"/>
                    </a:ext>
                  </a:extLst>
                </a:gridCol>
                <a:gridCol w="1370688">
                  <a:extLst>
                    <a:ext uri="{9D8B030D-6E8A-4147-A177-3AD203B41FA5}">
                      <a16:colId xmlns:a16="http://schemas.microsoft.com/office/drawing/2014/main" val="4231977322"/>
                    </a:ext>
                  </a:extLst>
                </a:gridCol>
                <a:gridCol w="1335741">
                  <a:extLst>
                    <a:ext uri="{9D8B030D-6E8A-4147-A177-3AD203B41FA5}">
                      <a16:colId xmlns:a16="http://schemas.microsoft.com/office/drawing/2014/main" val="688701947"/>
                    </a:ext>
                  </a:extLst>
                </a:gridCol>
                <a:gridCol w="1337544">
                  <a:extLst>
                    <a:ext uri="{9D8B030D-6E8A-4147-A177-3AD203B41FA5}">
                      <a16:colId xmlns:a16="http://schemas.microsoft.com/office/drawing/2014/main" val="4148251798"/>
                    </a:ext>
                  </a:extLst>
                </a:gridCol>
              </a:tblGrid>
              <a:tr h="328804">
                <a:tc>
                  <a:txBody>
                    <a:bodyPr/>
                    <a:lstStyle/>
                    <a:p>
                      <a:pPr algn="ctr" fontAlgn="b"/>
                      <a:r>
                        <a:rPr lang="en-US" sz="1100" b="1" i="0" u="none" strike="noStrike" dirty="0">
                          <a:solidFill>
                            <a:schemeClr val="tx1"/>
                          </a:solidFill>
                          <a:effectLst/>
                          <a:latin typeface="MULISH REGULAR ROMAN"/>
                        </a:rPr>
                        <a:t> Condition</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a:rPr>
                        <a:t>Percent of All Cases</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ctr" fontAlgn="b"/>
                      <a:r>
                        <a:rPr lang="en-US" sz="1100" b="1" i="0" u="none" strike="noStrike" dirty="0">
                          <a:solidFill>
                            <a:schemeClr val="tx1"/>
                          </a:solidFill>
                          <a:effectLst/>
                          <a:latin typeface="MULISH REGULAR ROMAN"/>
                        </a:rPr>
                        <a:t>Cases</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dirty="0"/>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1885453"/>
                  </a:ext>
                </a:extLst>
              </a:tr>
              <a:tr h="238709">
                <a:tc rowSpan="7">
                  <a:txBody>
                    <a:bodyPr/>
                    <a:lstStyle/>
                    <a:p>
                      <a:pPr algn="ctr" fontAlgn="b"/>
                      <a:r>
                        <a:rPr lang="en-US" sz="1400" b="1" kern="1200" dirty="0">
                          <a:solidFill>
                            <a:schemeClr val="tx1"/>
                          </a:solidFill>
                          <a:effectLst/>
                          <a:latin typeface="MULISH REGULAR ROMAN"/>
                          <a:ea typeface="+mn-ea"/>
                          <a:cs typeface="+mn-cs"/>
                        </a:rPr>
                        <a:t>6-3 with </a:t>
                      </a:r>
                      <a:br>
                        <a:rPr lang="en-US" sz="1400" b="1" kern="1200" dirty="0">
                          <a:solidFill>
                            <a:schemeClr val="tx1"/>
                          </a:solidFill>
                          <a:effectLst/>
                          <a:latin typeface="MULISH REGULAR ROMAN"/>
                          <a:ea typeface="+mn-ea"/>
                          <a:cs typeface="+mn-cs"/>
                        </a:rPr>
                      </a:br>
                      <a:r>
                        <a:rPr lang="en-US" sz="1400" b="1" kern="1200" dirty="0">
                          <a:solidFill>
                            <a:schemeClr val="tx1"/>
                          </a:solidFill>
                          <a:effectLst/>
                          <a:latin typeface="MULISH REGULAR ROMAN"/>
                          <a:ea typeface="+mn-ea"/>
                          <a:cs typeface="+mn-cs"/>
                        </a:rPr>
                        <a:t>Justices Sotomayor, Kagan, and Jackson </a:t>
                      </a:r>
                      <a:r>
                        <a:rPr lang="en-US" sz="1400" b="1" u="sng" kern="1200" dirty="0">
                          <a:solidFill>
                            <a:schemeClr val="tx1"/>
                          </a:solidFill>
                          <a:effectLst/>
                          <a:latin typeface="MULISH REGULAR ROMAN"/>
                          <a:ea typeface="+mn-ea"/>
                          <a:cs typeface="+mn-cs"/>
                        </a:rPr>
                        <a:t>dissenting </a:t>
                      </a:r>
                      <a:endParaRPr lang="en-US" sz="1400" b="1" i="0" u="sng" strike="noStrike" dirty="0">
                        <a:solidFill>
                          <a:schemeClr val="tx1"/>
                        </a:solidFill>
                        <a:effectLst/>
                        <a:latin typeface="MULISH REGULAR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rowSpan="7">
                  <a:txBody>
                    <a:bodyPr/>
                    <a:lstStyle/>
                    <a:p>
                      <a:pPr algn="ctr" fontAlgn="b"/>
                      <a:r>
                        <a:rPr lang="en-US" sz="1400" b="0" i="0" u="none" strike="noStrike" dirty="0">
                          <a:solidFill>
                            <a:schemeClr val="tx1"/>
                          </a:solidFill>
                          <a:effectLst/>
                          <a:latin typeface="MULISH REGULAR ROMAN"/>
                        </a:rPr>
                        <a:t>9%</a:t>
                      </a:r>
                    </a:p>
                  </a:txBody>
                  <a:tcPr marL="3315" marR="3315" marT="331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Trump v. CASA</a:t>
                      </a:r>
                    </a:p>
                  </a:txBody>
                  <a:tcPr marL="9525" marR="9525" marT="952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1242377283"/>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Mahmoud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64883513"/>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Free Speech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333296706"/>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Medina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605912422"/>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McLaughlin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732362404"/>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err="1">
                          <a:solidFill>
                            <a:srgbClr val="000000"/>
                          </a:solidFill>
                          <a:effectLst/>
                          <a:latin typeface="MULISH REGULAR ROMAN"/>
                        </a:rPr>
                        <a:t>Skrmetti</a:t>
                      </a:r>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241978098"/>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vMerge="1">
                  <a:txBody>
                    <a:bodyPr/>
                    <a:lstStyle/>
                    <a:p>
                      <a:endParaRPr dirty="0"/>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5397624"/>
                  </a:ext>
                </a:extLst>
              </a:tr>
              <a:tr h="0">
                <a:tc>
                  <a:txBody>
                    <a:bodyPr/>
                    <a:lstStyle/>
                    <a:p>
                      <a:pPr algn="ctr" fontAlgn="b"/>
                      <a:endParaRPr lang="en-US" sz="1400" b="1"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800" b="1" i="0" u="none" strike="noStrike" dirty="0">
                        <a:solidFill>
                          <a:schemeClr val="tx1"/>
                        </a:solidFill>
                        <a:effectLst/>
                        <a:latin typeface="MULISH REGULAR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a:endParaRPr>
                    </a:p>
                  </a:txBody>
                  <a:tcPr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718029873"/>
                  </a:ext>
                </a:extLst>
              </a:tr>
              <a:tr h="238709">
                <a:tc rowSpan="7">
                  <a:txBody>
                    <a:bodyPr/>
                    <a:lstStyle/>
                    <a:p>
                      <a:pPr algn="ctr"/>
                      <a:r>
                        <a:rPr lang="en-US" sz="1400" b="1" kern="1200" dirty="0">
                          <a:solidFill>
                            <a:schemeClr val="tx1"/>
                          </a:solidFill>
                          <a:effectLst/>
                          <a:latin typeface="MULISH REGULAR ROMAN"/>
                          <a:ea typeface="+mn-ea"/>
                          <a:cs typeface="+mn-cs"/>
                        </a:rPr>
                        <a:t>6-3 with </a:t>
                      </a:r>
                      <a:br>
                        <a:rPr lang="en-US" sz="1400" b="1" kern="1200" dirty="0">
                          <a:solidFill>
                            <a:schemeClr val="tx1"/>
                          </a:solidFill>
                          <a:effectLst/>
                          <a:latin typeface="MULISH REGULAR ROMAN"/>
                          <a:ea typeface="+mn-ea"/>
                          <a:cs typeface="+mn-cs"/>
                        </a:rPr>
                      </a:br>
                      <a:r>
                        <a:rPr lang="en-US" sz="1400" b="1" kern="1200" dirty="0">
                          <a:solidFill>
                            <a:schemeClr val="tx1"/>
                          </a:solidFill>
                          <a:effectLst/>
                          <a:latin typeface="MULISH REGULAR ROMAN"/>
                          <a:ea typeface="+mn-ea"/>
                          <a:cs typeface="+mn-cs"/>
                        </a:rPr>
                        <a:t>Justices Thomas, Alito, Gorsuch </a:t>
                      </a:r>
                      <a:r>
                        <a:rPr lang="en-US" sz="1400" b="1" u="sng" kern="1200" dirty="0">
                          <a:solidFill>
                            <a:schemeClr val="tx1"/>
                          </a:solidFill>
                          <a:effectLst/>
                          <a:latin typeface="MULISH REGULAR ROMAN"/>
                          <a:ea typeface="+mn-ea"/>
                          <a:cs typeface="+mn-cs"/>
                        </a:rPr>
                        <a:t>dissenting </a:t>
                      </a:r>
                      <a:endParaRPr lang="en-US" sz="1400" b="1" u="sng" dirty="0">
                        <a:effectLst/>
                        <a:latin typeface="MULISH REGULAR ROMAN"/>
                      </a:endParaRPr>
                    </a:p>
                  </a:txBody>
                  <a:tcPr marL="3315" marR="3315" marT="3315" marB="0" anchor="ctr">
                    <a:lnT>
                      <a:noFill/>
                    </a:lnT>
                  </a:tcPr>
                </a:tc>
                <a:tc rowSpan="7">
                  <a:txBody>
                    <a:bodyPr/>
                    <a:lstStyle/>
                    <a:p>
                      <a:pPr algn="ctr" fontAlgn="b"/>
                      <a:r>
                        <a:rPr lang="en-US" sz="1400" b="0" i="0" u="none" strike="noStrike" dirty="0">
                          <a:solidFill>
                            <a:schemeClr val="tx1"/>
                          </a:solidFill>
                          <a:effectLst/>
                          <a:latin typeface="MULISH REGULAR ROMAN"/>
                        </a:rPr>
                        <a:t>6%</a:t>
                      </a:r>
                    </a:p>
                  </a:txBody>
                  <a:tcPr marL="3315" marR="3315" marT="3315" marB="0" anchor="ctr">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Kennedy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423943282"/>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Consumers’ Research</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381057661"/>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Gutierrez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011103900"/>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NRC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485141592"/>
                  </a:ext>
                </a:extLst>
              </a:tr>
              <a:tr h="238709">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632635498"/>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26747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vMerge="1">
                  <a:txBody>
                    <a:bodyPr/>
                    <a:lstStyle/>
                    <a:p>
                      <a:endParaRPr dirty="0"/>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0611754"/>
                  </a:ext>
                </a:extLst>
              </a:tr>
              <a:tr h="162849">
                <a:tc>
                  <a:txBody>
                    <a:bodyPr/>
                    <a:lstStyle/>
                    <a:p>
                      <a:pPr algn="ctr" fontAlgn="b"/>
                      <a:endParaRPr lang="en-US" sz="1400" b="1" i="0" u="none" strike="noStrike" dirty="0">
                        <a:solidFill>
                          <a:schemeClr val="tx1"/>
                        </a:solidFill>
                        <a:effectLst/>
                        <a:latin typeface="MULISH REGULAR ROMAN"/>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300" b="0"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chemeClr val="tx1"/>
                        </a:solidFill>
                        <a:effectLst/>
                        <a:latin typeface="MULISH REGULAR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16416733"/>
                  </a:ext>
                </a:extLst>
              </a:tr>
              <a:tr h="238709">
                <a:tc rowSpan="7">
                  <a:txBody>
                    <a:bodyPr/>
                    <a:lstStyle/>
                    <a:p>
                      <a:pPr algn="ctr" fontAlgn="b"/>
                      <a:r>
                        <a:rPr lang="en-US" sz="1400" b="1" kern="1200" dirty="0">
                          <a:solidFill>
                            <a:schemeClr val="tx1"/>
                          </a:solidFill>
                          <a:effectLst/>
                          <a:latin typeface="MULISH REGULAR ROMAN"/>
                          <a:ea typeface="+mn-ea"/>
                          <a:cs typeface="+mn-cs"/>
                        </a:rPr>
                        <a:t>Cases with </a:t>
                      </a:r>
                      <a:br>
                        <a:rPr lang="en-US" sz="1400" b="1" kern="1200" dirty="0">
                          <a:solidFill>
                            <a:schemeClr val="tx1"/>
                          </a:solidFill>
                          <a:effectLst/>
                          <a:latin typeface="MULISH REGULAR ROMAN"/>
                          <a:ea typeface="+mn-ea"/>
                          <a:cs typeface="+mn-cs"/>
                        </a:rPr>
                      </a:br>
                      <a:r>
                        <a:rPr lang="en-US" sz="1400" b="1" kern="1200" dirty="0">
                          <a:solidFill>
                            <a:schemeClr val="tx1"/>
                          </a:solidFill>
                          <a:effectLst/>
                          <a:latin typeface="MULISH REGULAR ROMAN"/>
                          <a:ea typeface="+mn-ea"/>
                          <a:cs typeface="+mn-cs"/>
                        </a:rPr>
                        <a:t>Justices Sotomayor, Kagan, and Jackson </a:t>
                      </a:r>
                      <a:br>
                        <a:rPr lang="en-US" sz="1400" b="1" kern="1200" dirty="0">
                          <a:solidFill>
                            <a:schemeClr val="tx1"/>
                          </a:solidFill>
                          <a:effectLst/>
                          <a:latin typeface="MULISH REGULAR ROMAN"/>
                          <a:ea typeface="+mn-ea"/>
                          <a:cs typeface="+mn-cs"/>
                        </a:rPr>
                      </a:br>
                      <a:r>
                        <a:rPr lang="en-US" sz="1400" b="1" u="sng" kern="1200" dirty="0">
                          <a:solidFill>
                            <a:schemeClr val="tx1"/>
                          </a:solidFill>
                          <a:effectLst/>
                          <a:latin typeface="MULISH REGULAR ROMAN"/>
                          <a:ea typeface="+mn-ea"/>
                          <a:cs typeface="+mn-cs"/>
                        </a:rPr>
                        <a:t>all in dissent</a:t>
                      </a:r>
                      <a:endParaRPr lang="en-US" sz="1400" b="1" i="0" u="sng"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rowSpan="7">
                  <a:txBody>
                    <a:bodyPr/>
                    <a:lstStyle/>
                    <a:p>
                      <a:pPr algn="ctr" fontAlgn="b"/>
                      <a:r>
                        <a:rPr lang="en-US" sz="1400" b="0" i="0" u="none" strike="noStrike" dirty="0">
                          <a:solidFill>
                            <a:schemeClr val="tx1"/>
                          </a:solidFill>
                          <a:effectLst/>
                          <a:latin typeface="MULISH REGULAR ROMAN"/>
                        </a:rPr>
                        <a:t>15%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Trump v. CASA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6207869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Mahmoud</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63836"/>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Free Speech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Riley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66762193"/>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Medina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165669722"/>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McLaughlin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45427469"/>
                  </a:ext>
                </a:extLst>
              </a:tr>
              <a:tr h="207034">
                <a:tc vMerge="1">
                  <a:txBody>
                    <a:bodyPr/>
                    <a:lstStyle/>
                    <a:p>
                      <a:pPr algn="ctr" fontAlgn="b"/>
                      <a:endParaRPr lang="en-US" sz="1100" b="1"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vMerge="1">
                  <a:txBody>
                    <a:bodyPr/>
                    <a:lstStyle/>
                    <a:p>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err="1">
                          <a:solidFill>
                            <a:schemeClr val="tx1"/>
                          </a:solidFill>
                          <a:effectLst/>
                          <a:latin typeface="MULISH REGULAR ROMAN"/>
                        </a:rPr>
                        <a:t>Skrmetti</a:t>
                      </a:r>
                      <a:endParaRPr lang="en-US" sz="1100" b="0"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899621928"/>
                  </a:ext>
                </a:extLst>
              </a:tr>
              <a:tr h="207034">
                <a:tc vMerge="1">
                  <a:txBody>
                    <a:bodyPr/>
                    <a:lstStyle/>
                    <a:p>
                      <a:pPr algn="ctr" fontAlgn="b"/>
                      <a:endParaRPr lang="en-US" sz="1100" b="1" i="0" u="none" strike="noStrike" dirty="0">
                        <a:solidFill>
                          <a:schemeClr val="tx1"/>
                        </a:solidFill>
                        <a:effectLst/>
                        <a:latin typeface="MULISH REGULAR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vMerge="1">
                  <a:txBody>
                    <a:bodyPr/>
                    <a:lstStyle/>
                    <a:p>
                      <a:endParaRPr dirty="0"/>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a:rPr>
                        <a:t>SF v. EPA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74753601"/>
                  </a:ext>
                </a:extLst>
              </a:tr>
            </a:tbl>
          </a:graphicData>
        </a:graphic>
      </p:graphicFrame>
      <p:graphicFrame>
        <p:nvGraphicFramePr>
          <p:cNvPr id="16" name="Table 15">
            <a:extLst>
              <a:ext uri="{FF2B5EF4-FFF2-40B4-BE49-F238E27FC236}">
                <a16:creationId xmlns:a16="http://schemas.microsoft.com/office/drawing/2014/main" id="{484FD5BE-05CF-144D-D37F-856016CFA329}"/>
              </a:ext>
            </a:extLst>
          </p:cNvPr>
          <p:cNvGraphicFramePr>
            <a:graphicFrameLocks noGrp="1"/>
          </p:cNvGraphicFramePr>
          <p:nvPr>
            <p:extLst>
              <p:ext uri="{D42A27DB-BD31-4B8C-83A1-F6EECF244321}">
                <p14:modId xmlns:p14="http://schemas.microsoft.com/office/powerpoint/2010/main" val="1286605128"/>
              </p:ext>
            </p:extLst>
          </p:nvPr>
        </p:nvGraphicFramePr>
        <p:xfrm>
          <a:off x="6135542" y="961858"/>
          <a:ext cx="5735608" cy="2000672"/>
        </p:xfrm>
        <a:graphic>
          <a:graphicData uri="http://schemas.openxmlformats.org/drawingml/2006/table">
            <a:tbl>
              <a:tblPr firstRow="1" bandRow="1">
                <a:tableStyleId>{C083E6E3-FA7D-4D7B-A595-EF9225AFEA82}</a:tableStyleId>
              </a:tblPr>
              <a:tblGrid>
                <a:gridCol w="1590583">
                  <a:extLst>
                    <a:ext uri="{9D8B030D-6E8A-4147-A177-3AD203B41FA5}">
                      <a16:colId xmlns:a16="http://schemas.microsoft.com/office/drawing/2014/main" val="1190599403"/>
                    </a:ext>
                  </a:extLst>
                </a:gridCol>
                <a:gridCol w="1404939">
                  <a:extLst>
                    <a:ext uri="{9D8B030D-6E8A-4147-A177-3AD203B41FA5}">
                      <a16:colId xmlns:a16="http://schemas.microsoft.com/office/drawing/2014/main" val="1661115979"/>
                    </a:ext>
                  </a:extLst>
                </a:gridCol>
                <a:gridCol w="1422275">
                  <a:extLst>
                    <a:ext uri="{9D8B030D-6E8A-4147-A177-3AD203B41FA5}">
                      <a16:colId xmlns:a16="http://schemas.microsoft.com/office/drawing/2014/main" val="661123820"/>
                    </a:ext>
                  </a:extLst>
                </a:gridCol>
                <a:gridCol w="1317811">
                  <a:extLst>
                    <a:ext uri="{9D8B030D-6E8A-4147-A177-3AD203B41FA5}">
                      <a16:colId xmlns:a16="http://schemas.microsoft.com/office/drawing/2014/main" val="2206763275"/>
                    </a:ext>
                  </a:extLst>
                </a:gridCol>
              </a:tblGrid>
              <a:tr h="328953">
                <a:tc>
                  <a:txBody>
                    <a:bodyPr/>
                    <a:lstStyle/>
                    <a:p>
                      <a:pPr algn="ctr" fontAlgn="b"/>
                      <a:r>
                        <a:rPr lang="en-US" sz="1100" b="1" i="0" u="none" strike="noStrike" dirty="0">
                          <a:solidFill>
                            <a:schemeClr val="tx1"/>
                          </a:solidFill>
                          <a:effectLst/>
                          <a:latin typeface="MULISH REGULAR ROMAN"/>
                        </a:rPr>
                        <a:t> Condition</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a:rPr>
                        <a:t>Percent of All Cases</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gridSpan="2">
                  <a:txBody>
                    <a:bodyPr/>
                    <a:lstStyle/>
                    <a:p>
                      <a:pPr algn="ctr" fontAlgn="b"/>
                      <a:r>
                        <a:rPr lang="en-US" sz="1100" b="1" i="0" u="none" strike="noStrike" dirty="0">
                          <a:solidFill>
                            <a:schemeClr val="tx1"/>
                          </a:solidFill>
                          <a:effectLst/>
                          <a:latin typeface="MULISH REGULAR ROMAN"/>
                        </a:rPr>
                        <a:t>Cases</a:t>
                      </a:r>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dirty="0"/>
                    </a:p>
                  </a:txBody>
                  <a:tcPr marL="3315" marR="3315" marT="3315"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873646"/>
                  </a:ext>
                </a:extLst>
              </a:tr>
              <a:tr h="238817">
                <a:tc rowSpan="7">
                  <a:txBody>
                    <a:bodyPr/>
                    <a:lstStyle/>
                    <a:p>
                      <a:pPr algn="ctr" fontAlgn="b"/>
                      <a:r>
                        <a:rPr lang="en-US" sz="1400" b="1" kern="1200" dirty="0">
                          <a:solidFill>
                            <a:schemeClr val="tx1"/>
                          </a:solidFill>
                          <a:effectLst/>
                          <a:latin typeface="MULISH REGULAR ROMAN"/>
                          <a:ea typeface="+mn-ea"/>
                          <a:cs typeface="+mn-cs"/>
                        </a:rPr>
                        <a:t>Cases with </a:t>
                      </a:r>
                      <a:br>
                        <a:rPr lang="en-US" sz="1400" b="1" kern="1200" dirty="0">
                          <a:solidFill>
                            <a:schemeClr val="tx1"/>
                          </a:solidFill>
                          <a:effectLst/>
                          <a:latin typeface="MULISH REGULAR ROMAN"/>
                          <a:ea typeface="+mn-ea"/>
                          <a:cs typeface="+mn-cs"/>
                        </a:rPr>
                      </a:br>
                      <a:r>
                        <a:rPr lang="en-US" sz="1400" b="1" kern="1200" dirty="0">
                          <a:solidFill>
                            <a:schemeClr val="tx1"/>
                          </a:solidFill>
                          <a:effectLst/>
                          <a:latin typeface="MULISH REGULAR ROMAN"/>
                          <a:ea typeface="+mn-ea"/>
                          <a:cs typeface="+mn-cs"/>
                        </a:rPr>
                        <a:t>three or more conservative </a:t>
                      </a:r>
                      <a:br>
                        <a:rPr lang="en-US" sz="1400" b="1" kern="1200" dirty="0">
                          <a:solidFill>
                            <a:schemeClr val="tx1"/>
                          </a:solidFill>
                          <a:effectLst/>
                          <a:latin typeface="MULISH REGULAR ROMAN"/>
                          <a:ea typeface="+mn-ea"/>
                          <a:cs typeface="+mn-cs"/>
                        </a:rPr>
                      </a:br>
                      <a:r>
                        <a:rPr lang="en-US" sz="1400" b="1" kern="1200" dirty="0">
                          <a:solidFill>
                            <a:schemeClr val="tx1"/>
                          </a:solidFill>
                          <a:effectLst/>
                          <a:latin typeface="MULISH REGULAR ROMAN"/>
                          <a:ea typeface="+mn-ea"/>
                          <a:cs typeface="+mn-cs"/>
                        </a:rPr>
                        <a:t>justices </a:t>
                      </a:r>
                      <a:br>
                        <a:rPr lang="en-US" sz="1400" b="1" kern="1200" dirty="0">
                          <a:solidFill>
                            <a:schemeClr val="tx1"/>
                          </a:solidFill>
                          <a:effectLst/>
                          <a:latin typeface="MULISH REGULAR ROMAN"/>
                          <a:ea typeface="+mn-ea"/>
                          <a:cs typeface="+mn-cs"/>
                        </a:rPr>
                      </a:br>
                      <a:r>
                        <a:rPr lang="en-US" sz="1400" b="1" u="sng" kern="1200" dirty="0">
                          <a:solidFill>
                            <a:schemeClr val="tx1"/>
                          </a:solidFill>
                          <a:effectLst/>
                          <a:latin typeface="MULISH REGULAR ROMAN"/>
                          <a:ea typeface="+mn-ea"/>
                          <a:cs typeface="+mn-cs"/>
                        </a:rPr>
                        <a:t>dissenting</a:t>
                      </a:r>
                      <a:endParaRPr lang="en-US" sz="1400" b="1" i="0" u="sng" strike="noStrike" dirty="0">
                        <a:solidFill>
                          <a:schemeClr val="tx1"/>
                        </a:solidFill>
                        <a:effectLst/>
                        <a:latin typeface="MULISH REGULAR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rowSpan="7">
                  <a:txBody>
                    <a:bodyPr/>
                    <a:lstStyle/>
                    <a:p>
                      <a:pPr algn="ctr" fontAlgn="b"/>
                      <a:r>
                        <a:rPr lang="en-US" sz="1400" b="0" i="0" u="none" strike="noStrike" dirty="0">
                          <a:solidFill>
                            <a:schemeClr val="tx1"/>
                          </a:solidFill>
                          <a:effectLst/>
                          <a:latin typeface="MULISH REGULAR ROMAN"/>
                        </a:rPr>
                        <a:t>15%</a:t>
                      </a:r>
                    </a:p>
                  </a:txBody>
                  <a:tcPr marL="3315" marR="3315" marT="331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Kennedy</a:t>
                      </a:r>
                    </a:p>
                  </a:txBody>
                  <a:tcPr marL="9525" marR="9525" marT="952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Perttu</a:t>
                      </a:r>
                    </a:p>
                  </a:txBody>
                  <a:tcPr marL="9525" marR="9525" marT="9525" marB="0"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602973403"/>
                  </a:ext>
                </a:extLst>
              </a:tr>
              <a:tr h="238817">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Consumers’ Research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Hewitt</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38792617"/>
                  </a:ext>
                </a:extLst>
              </a:tr>
              <a:tr h="238817">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Gutierrez</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NRC</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777167640"/>
                  </a:ext>
                </a:extLst>
              </a:tr>
              <a:tr h="238817">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Williams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105960563"/>
                  </a:ext>
                </a:extLst>
              </a:tr>
              <a:tr h="238817">
                <a:tc vMerge="1">
                  <a:txBody>
                    <a:bodyPr/>
                    <a:lstStyle/>
                    <a:p>
                      <a:endParaRPr lang="en-US"/>
                    </a:p>
                  </a:txBody>
                  <a:tcPr marL="3315" marR="3315" marT="3315" marB="0" anchor="b"/>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288616544"/>
                  </a:ext>
                </a:extLst>
              </a:tr>
              <a:tr h="238817">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vMerge="1">
                  <a:txBody>
                    <a:bodyPr/>
                    <a:lstStyle/>
                    <a:p>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Medical Marijuana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759771086"/>
                  </a:ext>
                </a:extLst>
              </a:tr>
              <a:tr h="238817">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vMerge="1">
                  <a:txBody>
                    <a:bodyPr/>
                    <a:lstStyle/>
                    <a:p>
                      <a:endParaRPr dirty="0"/>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Velazquez</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REGULAR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930649792"/>
                  </a:ext>
                </a:extLst>
              </a:tr>
            </a:tbl>
          </a:graphicData>
        </a:graphic>
      </p:graphicFrame>
    </p:spTree>
    <p:extLst>
      <p:ext uri="{BB962C8B-B14F-4D97-AF65-F5344CB8AC3E}">
        <p14:creationId xmlns:p14="http://schemas.microsoft.com/office/powerpoint/2010/main" val="21330339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461665"/>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did not participate in an otherwise unanimous decision, we coded these as </a:t>
            </a:r>
            <a:r>
              <a:rPr lang="en-US" sz="1200" i="1" dirty="0">
                <a:latin typeface="MULISH REGULAR ROMAN"/>
              </a:rPr>
              <a:t>unanimous </a:t>
            </a:r>
            <a:r>
              <a:rPr lang="en-US" sz="1200" dirty="0">
                <a:latin typeface="MULISH REGULAR ROMAN"/>
              </a:rPr>
              <a:t>(e.g., 8-0 decisions were included in calculating 9-0 coalitions).</a:t>
            </a:r>
          </a:p>
        </p:txBody>
      </p:sp>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15</a:t>
            </a:fld>
            <a:endParaRPr lang="en-US"/>
          </a:p>
        </p:txBody>
      </p:sp>
      <p:pic>
        <p:nvPicPr>
          <p:cNvPr id="8" name="Picture 7" descr="A group of pie charts&#10;&#10;AI-generated content may be incorrect.">
            <a:extLst>
              <a:ext uri="{FF2B5EF4-FFF2-40B4-BE49-F238E27FC236}">
                <a16:creationId xmlns:a16="http://schemas.microsoft.com/office/drawing/2014/main" id="{F0FBB714-B724-DDF3-050B-9979C1003F8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 y="0"/>
            <a:ext cx="120015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16</a:t>
            </a:fld>
            <a:endParaRPr lang="en-US"/>
          </a:p>
        </p:txBody>
      </p:sp>
      <p:pic>
        <p:nvPicPr>
          <p:cNvPr id="9" name="Picture 8" descr="A diagram of a pie chart&#10;&#10;AI-generated content may be incorrect.">
            <a:extLst>
              <a:ext uri="{FF2B5EF4-FFF2-40B4-BE49-F238E27FC236}">
                <a16:creationId xmlns:a16="http://schemas.microsoft.com/office/drawing/2014/main" id="{590383DD-6158-C48D-700A-1AB2387E908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056959863"/>
              </p:ext>
            </p:extLst>
          </p:nvPr>
        </p:nvGraphicFramePr>
        <p:xfrm>
          <a:off x="344807" y="918414"/>
          <a:ext cx="10648855" cy="4872780"/>
        </p:xfrm>
        <a:graphic>
          <a:graphicData uri="http://schemas.openxmlformats.org/drawingml/2006/table">
            <a:tbl>
              <a:tblPr firstRow="1" bandRow="1">
                <a:tableStyleId>{C083E6E3-FA7D-4D7B-A595-EF9225AFEA82}</a:tableStyleId>
              </a:tblPr>
              <a:tblGrid>
                <a:gridCol w="1521265">
                  <a:extLst>
                    <a:ext uri="{9D8B030D-6E8A-4147-A177-3AD203B41FA5}">
                      <a16:colId xmlns:a16="http://schemas.microsoft.com/office/drawing/2014/main" val="20000"/>
                    </a:ext>
                  </a:extLst>
                </a:gridCol>
                <a:gridCol w="1521265">
                  <a:extLst>
                    <a:ext uri="{9D8B030D-6E8A-4147-A177-3AD203B41FA5}">
                      <a16:colId xmlns:a16="http://schemas.microsoft.com/office/drawing/2014/main" val="20001"/>
                    </a:ext>
                  </a:extLst>
                </a:gridCol>
                <a:gridCol w="1521265">
                  <a:extLst>
                    <a:ext uri="{9D8B030D-6E8A-4147-A177-3AD203B41FA5}">
                      <a16:colId xmlns:a16="http://schemas.microsoft.com/office/drawing/2014/main" val="1275153510"/>
                    </a:ext>
                  </a:extLst>
                </a:gridCol>
                <a:gridCol w="1521265">
                  <a:extLst>
                    <a:ext uri="{9D8B030D-6E8A-4147-A177-3AD203B41FA5}">
                      <a16:colId xmlns:a16="http://schemas.microsoft.com/office/drawing/2014/main" val="20004"/>
                    </a:ext>
                  </a:extLst>
                </a:gridCol>
                <a:gridCol w="1521265">
                  <a:extLst>
                    <a:ext uri="{9D8B030D-6E8A-4147-A177-3AD203B41FA5}">
                      <a16:colId xmlns:a16="http://schemas.microsoft.com/office/drawing/2014/main" val="20005"/>
                    </a:ext>
                  </a:extLst>
                </a:gridCol>
                <a:gridCol w="1521265">
                  <a:extLst>
                    <a:ext uri="{9D8B030D-6E8A-4147-A177-3AD203B41FA5}">
                      <a16:colId xmlns:a16="http://schemas.microsoft.com/office/drawing/2014/main" val="20006"/>
                    </a:ext>
                  </a:extLst>
                </a:gridCol>
                <a:gridCol w="1521265">
                  <a:extLst>
                    <a:ext uri="{9D8B030D-6E8A-4147-A177-3AD203B41FA5}">
                      <a16:colId xmlns:a16="http://schemas.microsoft.com/office/drawing/2014/main" val="20007"/>
                    </a:ext>
                  </a:extLst>
                </a:gridCol>
              </a:tblGrid>
              <a:tr h="324852">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US" sz="1100" b="1" kern="1200" dirty="0">
                          <a:effectLst/>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1</a:t>
                      </a:r>
                      <a:r>
                        <a:rPr lang="en-US" sz="1100" b="0" kern="1200" baseline="30000" dirty="0">
                          <a:latin typeface="MULISH REGULAR ROMAN"/>
                        </a:rPr>
                        <a:t>st</a:t>
                      </a:r>
                      <a:r>
                        <a:rPr lang="en-US" sz="1100" b="0" kern="1200" dirty="0">
                          <a:latin typeface="MULISH REGULAR ROMAN"/>
                        </a:rPr>
                        <a:t> Circuit</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lnT w="12700" cmpd="sng">
                      <a:noFill/>
                    </a:lnT>
                  </a:tcP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lnT w="12700" cmpd="sng">
                      <a:noFill/>
                    </a:lnT>
                  </a:tcP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lnT w="12700" cmpd="sng">
                      <a:noFill/>
                    </a:lnT>
                  </a:tcP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REGULAR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REGULAR ROMAN"/>
                        </a:rPr>
                        <a:t>100%</a:t>
                      </a:r>
                    </a:p>
                  </a:txBody>
                  <a:tcPr marL="9525" marR="9525" marT="9525" marB="0" anchor="ctr">
                    <a:lnT w="12700" cmpd="sng">
                      <a:noFill/>
                    </a:lnT>
                  </a:tcPr>
                </a:tc>
                <a:extLst>
                  <a:ext uri="{0D108BD9-81ED-4DB2-BD59-A6C34878D82A}">
                    <a16:rowId xmlns:a16="http://schemas.microsoft.com/office/drawing/2014/main" val="10002"/>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2</a:t>
                      </a:r>
                      <a:r>
                        <a:rPr lang="en-US" sz="1100" b="0" kern="1200" baseline="30000" dirty="0">
                          <a:effectLst/>
                          <a:latin typeface="MULISH REGULAR ROMAN"/>
                        </a:rPr>
                        <a:t>nd</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a:solidFill>
                            <a:srgbClr val="000000"/>
                          </a:solidFill>
                          <a:effectLst/>
                          <a:latin typeface="MULISH REGULAR ROMAN"/>
                        </a:rPr>
                        <a:t>40%</a:t>
                      </a:r>
                    </a:p>
                  </a:txBody>
                  <a:tcPr marL="9525" marR="9525" marT="9525" marB="0" anchor="ctr"/>
                </a:tc>
                <a:tc>
                  <a:txBody>
                    <a:bodyPr/>
                    <a:lstStyle/>
                    <a:p>
                      <a:pPr algn="ctr" fontAlgn="b"/>
                      <a:r>
                        <a:rPr lang="en-US" sz="1100" b="0" i="0" u="none" strike="noStrike">
                          <a:solidFill>
                            <a:srgbClr val="000000"/>
                          </a:solidFill>
                          <a:effectLst/>
                          <a:latin typeface="MULISH REGULAR ROMAN"/>
                        </a:rPr>
                        <a:t>60%</a:t>
                      </a:r>
                    </a:p>
                  </a:txBody>
                  <a:tcPr marL="9525" marR="9525" marT="9525" marB="0" anchor="ctr"/>
                </a:tc>
                <a:extLst>
                  <a:ext uri="{0D108BD9-81ED-4DB2-BD59-A6C34878D82A}">
                    <a16:rowId xmlns:a16="http://schemas.microsoft.com/office/drawing/2014/main" val="10003"/>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3</a:t>
                      </a:r>
                      <a:r>
                        <a:rPr lang="en-US" sz="1100" b="0" kern="1200" baseline="30000" dirty="0">
                          <a:effectLst/>
                          <a:latin typeface="MULISH REGULAR ROMAN"/>
                        </a:rPr>
                        <a:t>rd</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a:solidFill>
                            <a:srgbClr val="000000"/>
                          </a:solidFill>
                          <a:effectLst/>
                          <a:latin typeface="MULISH REGULAR ROMAN"/>
                        </a:rPr>
                        <a:t>1</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4"/>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4</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8</a:t>
                      </a:r>
                    </a:p>
                  </a:txBody>
                  <a:tcPr marL="9525" marR="9525" marT="9525" marB="0" anchor="ctr"/>
                </a:tc>
                <a:tc>
                  <a:txBody>
                    <a:bodyPr/>
                    <a:lstStyle/>
                    <a:p>
                      <a:pPr algn="ctr" fontAlgn="b"/>
                      <a:r>
                        <a:rPr lang="en-US" sz="1100" b="0" i="0" u="none" strike="noStrike" dirty="0">
                          <a:solidFill>
                            <a:srgbClr val="000000"/>
                          </a:solidFill>
                          <a:effectLst/>
                          <a:latin typeface="MULISH REGULAR ROMAN"/>
                        </a:rPr>
                        <a:t>8</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8</a:t>
                      </a:r>
                    </a:p>
                  </a:txBody>
                  <a:tcPr marL="9525" marR="9525" marT="9525" marB="0" anchor="ctr"/>
                </a:tc>
                <a:tc>
                  <a:txBody>
                    <a:bodyPr/>
                    <a:lstStyle/>
                    <a:p>
                      <a:pPr algn="ctr" fontAlgn="b"/>
                      <a:r>
                        <a:rPr lang="en-US" sz="1100" b="0" i="0" u="none" strike="noStrike">
                          <a:solidFill>
                            <a:srgbClr val="000000"/>
                          </a:solidFill>
                          <a:effectLst/>
                          <a:latin typeface="MULISH REGULAR ROMAN"/>
                        </a:rPr>
                        <a:t>0%</a:t>
                      </a:r>
                    </a:p>
                  </a:txBody>
                  <a:tcPr marL="9525" marR="9525" marT="9525" marB="0" anchor="ctr"/>
                </a:tc>
                <a:tc>
                  <a:txBody>
                    <a:bodyPr/>
                    <a:lstStyle/>
                    <a:p>
                      <a:pPr algn="ctr" fontAlgn="b"/>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05"/>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5</a:t>
                      </a:r>
                      <a:r>
                        <a:rPr lang="en-US" sz="1100" b="0" kern="1200" baseline="30000" dirty="0">
                          <a:effectLst/>
                          <a:latin typeface="MULISH REGULAR ROMAN"/>
                        </a:rPr>
                        <a:t>th</a:t>
                      </a:r>
                      <a:r>
                        <a:rPr lang="en-US" sz="1100" b="0" kern="1200" dirty="0">
                          <a:effectLst/>
                          <a:latin typeface="MULISH REGULAR ROMAN"/>
                        </a:rPr>
                        <a:t> </a:t>
                      </a:r>
                      <a:r>
                        <a:rPr lang="en-US" sz="1100" b="0" kern="1200" baseline="30000" dirty="0">
                          <a:effectLst/>
                          <a:latin typeface="MULISH REGULAR ROMAN"/>
                        </a:rPr>
                        <a:t> </a:t>
                      </a:r>
                      <a:r>
                        <a:rPr lang="en-US" sz="1100" b="0" kern="1200" dirty="0">
                          <a:effectLst/>
                          <a:latin typeface="MULISH REGULAR ROMAN"/>
                        </a:rPr>
                        <a:t>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13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10</a:t>
                      </a:r>
                    </a:p>
                  </a:txBody>
                  <a:tcPr marL="9525" marR="9525" marT="9525" marB="0" anchor="ctr"/>
                </a:tc>
                <a:tc>
                  <a:txBody>
                    <a:bodyPr/>
                    <a:lstStyle/>
                    <a:p>
                      <a:pPr algn="ctr" fontAlgn="b"/>
                      <a:r>
                        <a:rPr lang="en-US" sz="1100" b="0" i="0" u="none" strike="noStrike">
                          <a:solidFill>
                            <a:srgbClr val="000000"/>
                          </a:solidFill>
                          <a:effectLst/>
                          <a:latin typeface="MULISH REGULAR ROMAN"/>
                        </a:rPr>
                        <a:t>23.1%</a:t>
                      </a:r>
                    </a:p>
                  </a:txBody>
                  <a:tcPr marL="9525" marR="9525" marT="9525" marB="0" anchor="ctr"/>
                </a:tc>
                <a:tc>
                  <a:txBody>
                    <a:bodyPr/>
                    <a:lstStyle/>
                    <a:p>
                      <a:pPr algn="ctr" fontAlgn="b"/>
                      <a:r>
                        <a:rPr lang="en-US" sz="1100" b="0" i="0" u="none" strike="noStrike">
                          <a:solidFill>
                            <a:srgbClr val="000000"/>
                          </a:solidFill>
                          <a:effectLst/>
                          <a:latin typeface="MULISH REGULAR ROMAN"/>
                        </a:rPr>
                        <a:t>76.9%</a:t>
                      </a:r>
                    </a:p>
                  </a:txBody>
                  <a:tcPr marL="9525" marR="9525" marT="9525" marB="0" anchor="ctr"/>
                </a:tc>
                <a:extLst>
                  <a:ext uri="{0D108BD9-81ED-4DB2-BD59-A6C34878D82A}">
                    <a16:rowId xmlns:a16="http://schemas.microsoft.com/office/drawing/2014/main" val="10006"/>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6</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7"/>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7</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8"/>
                  </a:ext>
                </a:extLst>
              </a:tr>
              <a:tr h="324852">
                <a:tc>
                  <a:txBody>
                    <a:bodyPr/>
                    <a:lstStyle/>
                    <a:p>
                      <a:pPr marL="0" algn="ctr" rtl="0" eaLnBrk="1" fontAlgn="base" latinLnBrk="0" hangingPunct="1">
                        <a:spcBef>
                          <a:spcPts val="0"/>
                        </a:spcBef>
                        <a:spcAft>
                          <a:spcPts val="0"/>
                        </a:spcAft>
                      </a:pPr>
                      <a:r>
                        <a:rPr lang="en-US" sz="1100" b="0" kern="1200" dirty="0">
                          <a:latin typeface="MULISH REGULAR ROMAN"/>
                        </a:rPr>
                        <a:t>8</a:t>
                      </a:r>
                      <a:r>
                        <a:rPr lang="en-US" sz="1100" b="0" kern="1200" baseline="30000" dirty="0">
                          <a:latin typeface="MULISH REGULAR ROMAN"/>
                        </a:rPr>
                        <a:t>th</a:t>
                      </a:r>
                      <a:r>
                        <a:rPr lang="en-US" sz="1100" b="0" kern="1200" dirty="0">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09"/>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9</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7*</a:t>
                      </a:r>
                    </a:p>
                  </a:txBody>
                  <a:tcPr marL="9525" marR="9525" marT="9525" marB="0" anchor="ctr"/>
                </a:tc>
                <a:tc>
                  <a:txBody>
                    <a:bodyPr/>
                    <a:lstStyle/>
                    <a:p>
                      <a:pPr algn="ctr" fontAlgn="b"/>
                      <a:r>
                        <a:rPr lang="en-US" sz="1100" b="0" i="0" u="none" strike="noStrike" dirty="0">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10"/>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10</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0%</a:t>
                      </a:r>
                    </a:p>
                  </a:txBody>
                  <a:tcPr marL="9525" marR="9525" marT="9525" marB="0" anchor="ctr"/>
                </a:tc>
                <a:tc>
                  <a:txBody>
                    <a:bodyPr/>
                    <a:lstStyle/>
                    <a:p>
                      <a:pPr algn="ctr" fontAlgn="b"/>
                      <a:r>
                        <a:rPr lang="en-US" sz="1100" b="0" i="0" u="none" strike="noStrike">
                          <a:solidFill>
                            <a:srgbClr val="000000"/>
                          </a:solidFill>
                          <a:effectLst/>
                          <a:latin typeface="MULISH REGULAR ROMAN"/>
                        </a:rPr>
                        <a:t>100%</a:t>
                      </a:r>
                    </a:p>
                  </a:txBody>
                  <a:tcPr marL="9525" marR="9525" marT="9525" marB="0" anchor="ctr"/>
                </a:tc>
                <a:extLst>
                  <a:ext uri="{0D108BD9-81ED-4DB2-BD59-A6C34878D82A}">
                    <a16:rowId xmlns:a16="http://schemas.microsoft.com/office/drawing/2014/main" val="10011"/>
                  </a:ext>
                </a:extLst>
              </a:tr>
              <a:tr h="324852">
                <a:tc>
                  <a:txBody>
                    <a:bodyPr/>
                    <a:lstStyle/>
                    <a:p>
                      <a:pPr marL="0" algn="ctr" rtl="0" eaLnBrk="1" fontAlgn="base" latinLnBrk="0" hangingPunct="1">
                        <a:spcBef>
                          <a:spcPts val="0"/>
                        </a:spcBef>
                        <a:spcAft>
                          <a:spcPts val="0"/>
                        </a:spcAft>
                      </a:pPr>
                      <a:r>
                        <a:rPr lang="en-US" sz="1100" b="0" kern="1200" dirty="0">
                          <a:effectLst/>
                          <a:latin typeface="MULISH REGULAR ROMAN"/>
                        </a:rPr>
                        <a:t>11</a:t>
                      </a:r>
                      <a:r>
                        <a:rPr lang="en-US" sz="1100" b="0" kern="1200" baseline="30000" dirty="0">
                          <a:effectLst/>
                          <a:latin typeface="MULISH REGULAR ROMAN"/>
                        </a:rPr>
                        <a:t>th</a:t>
                      </a:r>
                      <a:r>
                        <a:rPr lang="en-US" sz="1100" b="0" kern="1200" dirty="0">
                          <a:effectLst/>
                          <a:latin typeface="MULISH REGULAR ROMAN"/>
                        </a:rPr>
                        <a:t>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4</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a:solidFill>
                            <a:srgbClr val="000000"/>
                          </a:solidFill>
                          <a:effectLst/>
                          <a:latin typeface="MULISH REGULAR ROMAN"/>
                        </a:rPr>
                        <a:t>50%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50%</a:t>
                      </a:r>
                    </a:p>
                  </a:txBody>
                  <a:tcPr marL="9525" marR="9525" marT="9525" marB="0" anchor="ctr"/>
                </a:tc>
                <a:extLst>
                  <a:ext uri="{0D108BD9-81ED-4DB2-BD59-A6C34878D82A}">
                    <a16:rowId xmlns:a16="http://schemas.microsoft.com/office/drawing/2014/main" val="10012"/>
                  </a:ext>
                </a:extLst>
              </a:tr>
              <a:tr h="324852">
                <a:tc>
                  <a:txBody>
                    <a:bodyPr/>
                    <a:lstStyle/>
                    <a:p>
                      <a:pPr marL="0" algn="ctr" rtl="0">
                        <a:spcBef>
                          <a:spcPts val="0"/>
                        </a:spcBef>
                        <a:spcAft>
                          <a:spcPts val="0"/>
                        </a:spcAft>
                      </a:pPr>
                      <a:r>
                        <a:rPr lang="en-US" sz="1100" b="0" kern="1200" dirty="0">
                          <a:effectLst/>
                          <a:latin typeface="MULISH REGULAR ROMAN"/>
                        </a:rPr>
                        <a:t>D.C. Circuit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5</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a:solidFill>
                            <a:srgbClr val="000000"/>
                          </a:solidFill>
                          <a:effectLst/>
                          <a:latin typeface="MULISH REGULAR ROMAN"/>
                        </a:rPr>
                        <a:t>40%</a:t>
                      </a:r>
                    </a:p>
                  </a:txBody>
                  <a:tcPr marL="9525" marR="9525" marT="9525" marB="0" anchor="ctr"/>
                </a:tc>
                <a:tc>
                  <a:txBody>
                    <a:bodyPr/>
                    <a:lstStyle/>
                    <a:p>
                      <a:pPr algn="ctr" fontAlgn="b"/>
                      <a:r>
                        <a:rPr lang="en-US" sz="1100" b="0" i="0" u="none" strike="noStrike" dirty="0">
                          <a:solidFill>
                            <a:srgbClr val="000000"/>
                          </a:solidFill>
                          <a:effectLst/>
                          <a:latin typeface="MULISH REGULAR ROMAN"/>
                        </a:rPr>
                        <a:t>60%</a:t>
                      </a:r>
                    </a:p>
                  </a:txBody>
                  <a:tcPr marL="9525" marR="9525" marT="9525" marB="0" anchor="ctr"/>
                </a:tc>
                <a:extLst>
                  <a:ext uri="{0D108BD9-81ED-4DB2-BD59-A6C34878D82A}">
                    <a16:rowId xmlns:a16="http://schemas.microsoft.com/office/drawing/2014/main" val="10013"/>
                  </a:ext>
                </a:extLst>
              </a:tr>
              <a:tr h="324852">
                <a:tc>
                  <a:txBody>
                    <a:bodyPr/>
                    <a:lstStyle/>
                    <a:p>
                      <a:pPr marL="0" algn="ctr" rtl="0">
                        <a:spcBef>
                          <a:spcPts val="0"/>
                        </a:spcBef>
                        <a:spcAft>
                          <a:spcPts val="0"/>
                        </a:spcAft>
                      </a:pPr>
                      <a:r>
                        <a:rPr lang="en-US" sz="1100" b="0" kern="1200" dirty="0">
                          <a:latin typeface="MULISH REGULAR ROMAN"/>
                        </a:rPr>
                        <a:t>Fed. Circuit​</a:t>
                      </a:r>
                      <a:endParaRPr lang="en-US" sz="1100" b="0" dirty="0">
                        <a:effectLst/>
                        <a:latin typeface="MULISH REGULAR ROMAN"/>
                      </a:endParaRPr>
                    </a:p>
                  </a:txBody>
                  <a:tcPr marL="0" marR="0" marT="0"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1</a:t>
                      </a:r>
                    </a:p>
                  </a:txBody>
                  <a:tcPr marL="9525" marR="9525" marT="9525" marB="0" anchor="ctr"/>
                </a:tc>
                <a:tc>
                  <a:txBody>
                    <a:bodyPr/>
                    <a:lstStyle/>
                    <a:p>
                      <a:pPr algn="ctr" fontAlgn="b"/>
                      <a:r>
                        <a:rPr lang="en-US" sz="1100" b="0" i="0" u="none" strike="noStrike" dirty="0">
                          <a:solidFill>
                            <a:srgbClr val="000000"/>
                          </a:solidFill>
                          <a:effectLst/>
                          <a:latin typeface="MULISH REGULAR ROMAN"/>
                        </a:rPr>
                        <a:t>2</a:t>
                      </a:r>
                    </a:p>
                  </a:txBody>
                  <a:tcPr marL="9525" marR="9525" marT="9525" marB="0" anchor="ctr"/>
                </a:tc>
                <a:tc>
                  <a:txBody>
                    <a:bodyPr/>
                    <a:lstStyle/>
                    <a:p>
                      <a:pPr algn="ctr" fontAlgn="b"/>
                      <a:r>
                        <a:rPr lang="en-US" sz="1100" b="0" i="0" u="none" strike="noStrike">
                          <a:solidFill>
                            <a:srgbClr val="000000"/>
                          </a:solidFill>
                          <a:effectLst/>
                          <a:latin typeface="MULISH REGULAR ROMAN"/>
                        </a:rPr>
                        <a:t>33.3%</a:t>
                      </a:r>
                    </a:p>
                  </a:txBody>
                  <a:tcPr marL="9525" marR="9525" marT="9525" marB="0" anchor="ctr"/>
                </a:tc>
                <a:tc>
                  <a:txBody>
                    <a:bodyPr/>
                    <a:lstStyle/>
                    <a:p>
                      <a:pPr algn="ctr" fontAlgn="b"/>
                      <a:r>
                        <a:rPr lang="en-US" sz="1100" b="0" i="0" u="none" strike="noStrike" dirty="0">
                          <a:solidFill>
                            <a:srgbClr val="000000"/>
                          </a:solidFill>
                          <a:effectLst/>
                          <a:latin typeface="MULISH REGULAR ROMAN"/>
                        </a:rPr>
                        <a:t>66.7%</a:t>
                      </a:r>
                    </a:p>
                  </a:txBody>
                  <a:tcPr marL="9525" marR="9525" marT="9525" marB="0" anchor="ctr"/>
                </a:tc>
                <a:extLst>
                  <a:ext uri="{0D108BD9-81ED-4DB2-BD59-A6C34878D82A}">
                    <a16:rowId xmlns:a16="http://schemas.microsoft.com/office/drawing/2014/main" val="10014"/>
                  </a:ext>
                </a:extLst>
              </a:tr>
              <a:tr h="324852">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dirty="0">
                          <a:effectLst/>
                          <a:latin typeface="MULISH REGULAR ROMAN" pitchFamily="2" charset="77"/>
                        </a:rPr>
                        <a:t>62</a:t>
                      </a: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r>
                        <a:rPr lang="en-US" sz="1100" b="1" dirty="0">
                          <a:effectLst/>
                          <a:latin typeface="MULISH REGULAR ROMAN" pitchFamily="2" charset="77"/>
                        </a:rPr>
                        <a:t>59</a:t>
                      </a: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r>
                        <a:rPr lang="en-US" sz="1100" b="1" dirty="0">
                          <a:effectLst/>
                          <a:latin typeface="MULISH REGULAR ROMAN" pitchFamily="2" charset="77"/>
                        </a:rPr>
                        <a:t>15</a:t>
                      </a: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r>
                        <a:rPr lang="en-US" sz="1100" b="1" dirty="0">
                          <a:effectLst/>
                          <a:latin typeface="MULISH REGULAR ROMAN" pitchFamily="2" charset="77"/>
                        </a:rPr>
                        <a:t>44</a:t>
                      </a: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320847" y="6003935"/>
            <a:ext cx="10672816" cy="738664"/>
          </a:xfrm>
          <a:prstGeom prst="rect">
            <a:avLst/>
          </a:prstGeom>
          <a:noFill/>
          <a:ln>
            <a:solidFill>
              <a:schemeClr val="tx1"/>
            </a:solidFill>
          </a:ln>
        </p:spPr>
        <p:txBody>
          <a:bodyPr wrap="square" rtlCol="0">
            <a:spAutoFit/>
          </a:bodyPr>
          <a:lstStyle/>
          <a:p>
            <a:r>
              <a:rPr lang="en-US" sz="1050" dirty="0">
                <a:latin typeface="MULISH BLACK ROMAN"/>
                <a:cs typeface="Calibri" panose="020F0502020204030204"/>
              </a:rPr>
              <a:t>We treat consolidated cases emerging from the same lower court as single entries. Alternatively, we treat </a:t>
            </a:r>
            <a:r>
              <a:rPr lang="en-US" sz="1050" i="1" dirty="0">
                <a:latin typeface="MULISH BLACK ROMAN"/>
                <a:cs typeface="Calibri" panose="020F0502020204030204"/>
              </a:rPr>
              <a:t>Trump v. CASA</a:t>
            </a:r>
            <a:r>
              <a:rPr lang="en-US" sz="1050" dirty="0">
                <a:latin typeface="MULISH BLACK ROMAN"/>
                <a:cs typeface="Calibri" panose="020F0502020204030204"/>
              </a:rPr>
              <a:t> as three separate entries that reversed the U.S. Courts of Appeal for the First, Fourth, and Ninth Circuits. </a:t>
            </a:r>
          </a:p>
          <a:p>
            <a:endParaRPr lang="en-US" sz="1050" dirty="0">
              <a:latin typeface="MULISH BLACK ROMAN"/>
              <a:cs typeface="Calibri" panose="020F0502020204030204"/>
            </a:endParaRPr>
          </a:p>
          <a:p>
            <a:r>
              <a:rPr lang="en-US" sz="1050" dirty="0">
                <a:latin typeface="MULISH BLACK ROMAN"/>
                <a:cs typeface="Calibri" panose="020F0502020204030204"/>
              </a:rPr>
              <a:t>* Three cases from the U.S. Court of Appeals for the Ninth Circuit were dismissed as improvidently granted and are not recorded as having been affirmed or reversed. </a:t>
            </a: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17</a:t>
            </a:fld>
            <a:endParaRPr lang="en-US" dirty="0"/>
          </a:p>
        </p:txBody>
      </p:sp>
    </p:spTree>
    <p:extLst>
      <p:ext uri="{BB962C8B-B14F-4D97-AF65-F5344CB8AC3E}">
        <p14:creationId xmlns:p14="http://schemas.microsoft.com/office/powerpoint/2010/main" val="10335373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82556918"/>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Calibri" panose="020F0502020204030204" pitchFamily="34" charset="0"/>
                        </a:rPr>
                        <a:t>Skrmetti</a:t>
                      </a:r>
                      <a:endParaRPr lang="en-US" sz="1100" b="0" i="1"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197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12/04/2024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11/05/2024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04/29/2025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05/29/2025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10/08/2024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10/15/2024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04/02/2025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1537620183"/>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107.67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106.86</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93.83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91.67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98.5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109.29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124.86</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102.2</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107996"/>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a:t>
            </a:r>
          </a:p>
        </p:txBody>
      </p:sp>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18</a:t>
            </a:fld>
            <a:endParaRPr lang="en-US"/>
          </a:p>
        </p:txBody>
      </p:sp>
      <p:pic>
        <p:nvPicPr>
          <p:cNvPr id="4" name="Picture 3" descr="A graph with numbers and lines&#10;&#10;AI-generated content may be incorrect.">
            <a:extLst>
              <a:ext uri="{FF2B5EF4-FFF2-40B4-BE49-F238E27FC236}">
                <a16:creationId xmlns:a16="http://schemas.microsoft.com/office/drawing/2014/main" id="{0AC436F4-A748-447E-D11E-96635A4580E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33437" y="772253"/>
            <a:ext cx="5252900" cy="3151740"/>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1182959336"/>
              </p:ext>
            </p:extLst>
          </p:nvPr>
        </p:nvGraphicFramePr>
        <p:xfrm>
          <a:off x="224287" y="961859"/>
          <a:ext cx="11645661" cy="5351850"/>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Lackey</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Bufkin</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Waetzig</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Hungary</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Royal Canin</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Vanderstok</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E.M.D. Sales</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Bouarfa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Delligatti</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SF v. EPA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Velazquez</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Williams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Miller</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A.J.T.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BLOM Bank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Cunningham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Dewberry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Feliciano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Ames</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Perttu</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Soto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CC/Devas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Catholic Charities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Barnes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Martin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NRC</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Zuch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Rivers</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Riley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Parrish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Diamond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Hewitt</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Andrew</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TikTok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E.M.D. Sales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Wisconsin Bell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Thompson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Dewberry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TikTok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Ames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Cunningham</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Trump v. J.G.G.</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Barnes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Smith and Wesson</a:t>
                      </a:r>
                    </a:p>
                  </a:txBody>
                  <a:tcPr marL="9525" marR="9525" marT="952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Catholic Charities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Kousisis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A.A.R.P v. Trump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Catholic Charities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A.J.T.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Seven County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BLOM Bank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rgbClr val="000000"/>
                          </a:solidFill>
                          <a:effectLst/>
                          <a:latin typeface="MULISH BLACK ROMAN"/>
                        </a:rPr>
                        <a:t>Skrmetti</a:t>
                      </a:r>
                      <a:endParaRPr lang="en-US" sz="9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A.J.T.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Consumers’ Research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Parrish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Andrew</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Vanderstok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Delligatti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Glossip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Lackey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Williams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Skrmetti</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Miller</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Laboratory Corp.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SF v. EPA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Bufkin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Glossip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A.A.R.P v. Trump</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Diamond</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McLaughlin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Parrish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DOE v. CA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Vanderstok</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Riley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Free Speech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Zuch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Perttu</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Trump v. J.G.G.</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Hewitt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Calumet </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Advocate Christ Medical</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Velazquez</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Mahmoud</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NRC</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Feliciano</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Consumers’ Research</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Diamond</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DCAFF-35EF-A31C-3A79-383876C24CC9}"/>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429B786-8089-1690-EEDC-B162E02C5351}"/>
              </a:ext>
            </a:extLst>
          </p:cNvPr>
          <p:cNvGraphicFramePr>
            <a:graphicFrameLocks noGrp="1"/>
          </p:cNvGraphicFramePr>
          <p:nvPr>
            <p:extLst>
              <p:ext uri="{D42A27DB-BD31-4B8C-83A1-F6EECF244321}">
                <p14:modId xmlns:p14="http://schemas.microsoft.com/office/powerpoint/2010/main" val="2249456028"/>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dirty="0">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Fuld</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Calumet </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Mahmoud</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Consumers’ Research</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Medina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dirty="0">
                          <a:solidFill>
                            <a:srgbClr val="000000"/>
                          </a:solidFill>
                          <a:effectLst/>
                          <a:latin typeface="MULISH BLACK ROMAN"/>
                        </a:rPr>
                        <a:t>McLaughlin</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 R.J. Reynolds </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dirty="0">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Free Speech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Kennedy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Fuld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Martin</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Stanley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Consumers’ Research</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Medina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Esteras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Riley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Mahmoud</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Gutierrez</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dirty="0">
                          <a:solidFill>
                            <a:schemeClr val="tx1"/>
                          </a:solidFill>
                          <a:effectLst/>
                          <a:latin typeface="MULISH BLACK ROMAN"/>
                        </a:rPr>
                        <a:t>R.J. Reynolds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Kennedy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Medina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900" b="0" i="0" u="none" strike="noStrike">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BLACK ROMAN"/>
                        </a:rPr>
                        <a:t>Trump v. CASA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1" u="none" strike="noStrike" dirty="0">
                        <a:solidFill>
                          <a:schemeClr val="tx1"/>
                        </a:solidFill>
                        <a:effectLst/>
                        <a:latin typeface="MULISH BLACK ROMAN"/>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BLACK ROMAN"/>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9F183FF2-1AE8-6854-7729-AE3AD1BCDB4C}"/>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4" name="Slide Number Placeholder 3">
            <a:extLst>
              <a:ext uri="{FF2B5EF4-FFF2-40B4-BE49-F238E27FC236}">
                <a16:creationId xmlns:a16="http://schemas.microsoft.com/office/drawing/2014/main" id="{C7F68B7E-19AD-F0EC-1052-89ABB6D37898}"/>
              </a:ext>
            </a:extLst>
          </p:cNvPr>
          <p:cNvSpPr>
            <a:spLocks noGrp="1"/>
          </p:cNvSpPr>
          <p:nvPr>
            <p:ph type="sldNum" sz="quarter" idx="12"/>
          </p:nvPr>
        </p:nvSpPr>
        <p:spPr/>
        <p:txBody>
          <a:bodyPr/>
          <a:lstStyle/>
          <a:p>
            <a:fld id="{5E212BD6-99D2-4430-8307-3DFF6CB1AF68}" type="slidenum">
              <a:rPr lang="en-US" smtClean="0"/>
              <a:t>20</a:t>
            </a:fld>
            <a:endParaRPr lang="en-US"/>
          </a:p>
        </p:txBody>
      </p:sp>
    </p:spTree>
    <p:extLst>
      <p:ext uri="{BB962C8B-B14F-4D97-AF65-F5344CB8AC3E}">
        <p14:creationId xmlns:p14="http://schemas.microsoft.com/office/powerpoint/2010/main" val="4446128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21</a:t>
            </a:fld>
            <a:endParaRPr lang="en-US"/>
          </a:p>
        </p:txBody>
      </p:sp>
      <p:pic>
        <p:nvPicPr>
          <p:cNvPr id="8" name="Picture 7" descr="A graph with multiple colored squares&#10;&#10;AI-generated content may be incorrect.">
            <a:extLst>
              <a:ext uri="{FF2B5EF4-FFF2-40B4-BE49-F238E27FC236}">
                <a16:creationId xmlns:a16="http://schemas.microsoft.com/office/drawing/2014/main" id="{2BC38A5D-F62B-1370-6167-ABC0061D04E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989939279"/>
              </p:ext>
            </p:extLst>
          </p:nvPr>
        </p:nvGraphicFramePr>
        <p:xfrm>
          <a:off x="0" y="792698"/>
          <a:ext cx="12192000" cy="5429545"/>
        </p:xfrm>
        <a:graphic>
          <a:graphicData uri="http://schemas.openxmlformats.org/drawingml/2006/table">
            <a:tbl>
              <a:tblPr firstRow="1" bandRow="1">
                <a:tableStyleId>{C083E6E3-FA7D-4D7B-A595-EF9225AFEA82}</a:tableStyleId>
              </a:tblPr>
              <a:tblGrid>
                <a:gridCol w="1353671">
                  <a:extLst>
                    <a:ext uri="{9D8B030D-6E8A-4147-A177-3AD203B41FA5}">
                      <a16:colId xmlns:a16="http://schemas.microsoft.com/office/drawing/2014/main" val="20000"/>
                    </a:ext>
                  </a:extLst>
                </a:gridCol>
                <a:gridCol w="477096">
                  <a:extLst>
                    <a:ext uri="{9D8B030D-6E8A-4147-A177-3AD203B41FA5}">
                      <a16:colId xmlns:a16="http://schemas.microsoft.com/office/drawing/2014/main" val="20001"/>
                    </a:ext>
                  </a:extLst>
                </a:gridCol>
                <a:gridCol w="234678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2205318">
                  <a:extLst>
                    <a:ext uri="{9D8B030D-6E8A-4147-A177-3AD203B41FA5}">
                      <a16:colId xmlns:a16="http://schemas.microsoft.com/office/drawing/2014/main" val="20004"/>
                    </a:ext>
                  </a:extLst>
                </a:gridCol>
                <a:gridCol w="1132031">
                  <a:extLst>
                    <a:ext uri="{9D8B030D-6E8A-4147-A177-3AD203B41FA5}">
                      <a16:colId xmlns:a16="http://schemas.microsoft.com/office/drawing/2014/main" val="20005"/>
                    </a:ext>
                  </a:extLst>
                </a:gridCol>
                <a:gridCol w="1775602">
                  <a:extLst>
                    <a:ext uri="{9D8B030D-6E8A-4147-A177-3AD203B41FA5}">
                      <a16:colId xmlns:a16="http://schemas.microsoft.com/office/drawing/2014/main" val="20006"/>
                    </a:ext>
                  </a:extLst>
                </a:gridCol>
                <a:gridCol w="1987096">
                  <a:extLst>
                    <a:ext uri="{9D8B030D-6E8A-4147-A177-3AD203B41FA5}">
                      <a16:colId xmlns:a16="http://schemas.microsoft.com/office/drawing/2014/main" val="20007"/>
                    </a:ext>
                  </a:extLst>
                </a:gridCol>
              </a:tblGrid>
              <a:tr h="37290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18355">
                <a:tc rowSpan="5">
                  <a:txBody>
                    <a:bodyPr/>
                    <a:lstStyle/>
                    <a:p>
                      <a:pPr algn="ctr" fontAlgn="b"/>
                      <a:r>
                        <a:rPr lang="en-US" sz="1100" b="1" u="none" strike="noStrike" dirty="0">
                          <a:solidFill>
                            <a:schemeClr val="tx1"/>
                          </a:solidFill>
                          <a:effectLst/>
                          <a:latin typeface="MULISH REGULAR ROMAN" pitchFamily="2" charset="77"/>
                        </a:rPr>
                        <a:t>Shortest</a:t>
                      </a:r>
                      <a:br>
                        <a:rPr lang="en-US" sz="1100" b="1" u="none" strike="noStrike" dirty="0">
                          <a:solidFill>
                            <a:schemeClr val="tx1"/>
                          </a:solidFill>
                          <a:effectLst/>
                          <a:latin typeface="MULISH REGULAR ROMAN" pitchFamily="2" charset="77"/>
                        </a:rPr>
                      </a:br>
                      <a:r>
                        <a:rPr lang="en-US" sz="1100" b="1" u="none" strike="noStrike" dirty="0">
                          <a:solidFill>
                            <a:schemeClr val="tx1"/>
                          </a:solidFill>
                          <a:effectLst/>
                          <a:latin typeface="MULISH REGULAR ROMAN" pitchFamily="2" charset="77"/>
                        </a:rPr>
                        <a:t>(Individual Opinions)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NVIDIA</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12/11/2024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a:solidFill>
                            <a:srgbClr val="000000"/>
                          </a:solidFill>
                          <a:effectLst/>
                          <a:latin typeface="MULISH BLACK ROMAN"/>
                        </a:rPr>
                        <a:t>Facebook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1893">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a:solidFill>
                            <a:srgbClr val="000000"/>
                          </a:solidFill>
                          <a:effectLst/>
                          <a:latin typeface="MULISH BLACK ROMAN"/>
                        </a:rPr>
                        <a:t>Laboratory Corp.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 (8-1)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13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1835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a:solidFill>
                            <a:srgbClr val="000000"/>
                          </a:solidFill>
                          <a:effectLst/>
                          <a:latin typeface="MULISH BLACK ROMAN"/>
                        </a:rPr>
                        <a:t>Drummond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4-4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22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5/22/2025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823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Oklahoma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Concurrence</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Gorsuch</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8-0</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BLACK ROMAN"/>
                        </a:rPr>
                        <a:t>81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18355">
                <a:tc rowSpan="6">
                  <a:txBody>
                    <a:bodyPr/>
                    <a:lstStyle/>
                    <a:p>
                      <a:pPr algn="ctr" fontAlgn="b"/>
                      <a:r>
                        <a:rPr lang="en-US" sz="1100" b="1"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(Individual Opinions)</a:t>
                      </a:r>
                    </a:p>
                  </a:txBody>
                  <a:tcPr marL="3315" marR="3315" marT="3315"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Glossip</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Dissent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14,200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Wages and White Lion </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Majority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14,100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Trump v. CASA</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Dissent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≈13,800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06/27/2025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Kennedy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Majority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≈12,100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06/27/2025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316842">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Mahmoud</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Concurrence</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≈11,900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MULISH BLACK ROMAN"/>
                          <a:ea typeface="+mn-ea"/>
                          <a:cs typeface="+mn-cs"/>
                        </a:rPr>
                        <a:t>06/27/2025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358589">
                <a:tc rowSpan="5">
                  <a:txBody>
                    <a:bodyPr/>
                    <a:lstStyle/>
                    <a:p>
                      <a:pPr algn="ctr" fontAlgn="b"/>
                      <a:r>
                        <a:rPr lang="en-US" sz="1100" b="1" i="0"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(Total Combined)</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1" i="0" u="none" strike="noStrike" dirty="0">
                          <a:solidFill>
                            <a:schemeClr val="tx1"/>
                          </a:solidFill>
                          <a:effectLst/>
                          <a:latin typeface="MULISH REGULAR ROMAN" pitchFamily="2" charset="77"/>
                        </a:rPr>
                        <a:t>Rank</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Case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No. Opinions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Authors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Vote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Total Words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Decided</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extLst>
                  <a:ext uri="{0D108BD9-81ED-4DB2-BD59-A6C34878D82A}">
                    <a16:rowId xmlns:a16="http://schemas.microsoft.com/office/drawing/2014/main" val="820390063"/>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1</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Trump v. CASA</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Alito; Barrett; Jackson; Kavanaugh;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35,200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6/27/2025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4390266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Skrmetti</a:t>
                      </a:r>
                      <a:endParaRPr lang="en-US" sz="1100" b="0" i="1" u="none" strike="noStrike" dirty="0">
                        <a:solidFill>
                          <a:schemeClr val="tx1"/>
                        </a:solidFill>
                        <a:effectLst/>
                        <a:latin typeface="MULISH REGULAR ROMAN" pitchFamily="2" charset="77"/>
                      </a:endParaRP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Alito; Barrett; Kagan; Roberts;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30,400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6/18/2025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5629374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Mahmoud</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Alito;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≈26,000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6/27/2025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928595251"/>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Barrett; Sotomayor;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≈25,000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2/25/2025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17410"/>
                  </a:ext>
                </a:extLst>
              </a:tr>
              <a:tr h="218355">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Consumers’ Research</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REGULAR ROMAN"/>
                        </a:rPr>
                        <a:t>Gorsuch; Jackson; Kagan; Kavanaugh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≈24,000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6/27/2025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26509378"/>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22</a:t>
            </a:fld>
            <a:endParaRPr lang="en-US"/>
          </a:p>
        </p:txBody>
      </p:sp>
    </p:spTree>
    <p:extLst>
      <p:ext uri="{BB962C8B-B14F-4D97-AF65-F5344CB8AC3E}">
        <p14:creationId xmlns:p14="http://schemas.microsoft.com/office/powerpoint/2010/main" val="5787724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CACFA-7A5B-6BF4-4290-7A40F516FB2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5AC53D5-5A4B-E885-00C2-3FDD957DAD10}"/>
              </a:ext>
            </a:extLst>
          </p:cNvPr>
          <p:cNvSpPr>
            <a:spLocks/>
          </p:cNvSpPr>
          <p:nvPr/>
        </p:nvSpPr>
        <p:spPr>
          <a:xfrm>
            <a:off x="4105834" y="1196415"/>
            <a:ext cx="6973551" cy="4132288"/>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able 11">
            <a:extLst>
              <a:ext uri="{FF2B5EF4-FFF2-40B4-BE49-F238E27FC236}">
                <a16:creationId xmlns:a16="http://schemas.microsoft.com/office/drawing/2014/main" id="{0A5C8D90-3627-FABD-FB0B-9B412993E2E4}"/>
              </a:ext>
            </a:extLst>
          </p:cNvPr>
          <p:cNvGraphicFramePr>
            <a:graphicFrameLocks noGrp="1"/>
          </p:cNvGraphicFramePr>
          <p:nvPr>
            <p:extLst>
              <p:ext uri="{D42A27DB-BD31-4B8C-83A1-F6EECF244321}">
                <p14:modId xmlns:p14="http://schemas.microsoft.com/office/powerpoint/2010/main" val="4122474312"/>
              </p:ext>
            </p:extLst>
          </p:nvPr>
        </p:nvGraphicFramePr>
        <p:xfrm>
          <a:off x="545907" y="961858"/>
          <a:ext cx="2743200" cy="3559936"/>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88406">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392933">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308733">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4,700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733">
                <a:tc>
                  <a:txBody>
                    <a:bodyPr/>
                    <a:lstStyle/>
                    <a:p>
                      <a:pPr algn="ctr" fontAlgn="b"/>
                      <a:r>
                        <a:rPr lang="en-US" sz="1100" b="0" u="none" strike="noStrike" dirty="0">
                          <a:solidFill>
                            <a:srgbClr val="000000"/>
                          </a:solidFill>
                          <a:effectLst/>
                          <a:latin typeface="MULISH BLACK ROMAN"/>
                        </a:rPr>
                        <a:t>Thomas</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4,700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8733">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4,700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08733">
                <a:tc>
                  <a:txBody>
                    <a:bodyPr/>
                    <a:lstStyle/>
                    <a:p>
                      <a:pPr algn="ctr" fontAlgn="b"/>
                      <a:r>
                        <a:rPr lang="en-US" sz="1100" b="0" u="none" strike="noStrike" dirty="0">
                          <a:solidFill>
                            <a:srgbClr val="000000"/>
                          </a:solidFill>
                          <a:effectLst/>
                          <a:latin typeface="MULISH BLACK ROMAN"/>
                        </a:rPr>
                        <a:t>Sotomayor</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kern="1200" dirty="0">
                          <a:solidFill>
                            <a:srgbClr val="000000"/>
                          </a:solidFill>
                          <a:effectLst/>
                          <a:latin typeface="MULISH BLACK ROMAN"/>
                          <a:ea typeface="+mn-ea"/>
                          <a:cs typeface="+mn-cs"/>
                        </a:rPr>
                        <a:t>4,1</a:t>
                      </a:r>
                      <a:r>
                        <a:rPr lang="en-US" sz="1100" b="0" i="0" u="none" strike="noStrike" dirty="0">
                          <a:solidFill>
                            <a:srgbClr val="000000"/>
                          </a:solidFill>
                          <a:effectLst/>
                          <a:latin typeface="MULISH BLACK ROMAN"/>
                        </a:rPr>
                        <a:t>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308733">
                <a:tc>
                  <a:txBody>
                    <a:bodyPr/>
                    <a:lstStyle/>
                    <a:p>
                      <a:pPr algn="ctr" fontAlgn="b"/>
                      <a:r>
                        <a:rPr lang="en-US" sz="1100" b="0" u="none" strike="noStrike" dirty="0">
                          <a:solidFill>
                            <a:srgbClr val="000000"/>
                          </a:solidFill>
                          <a:effectLst/>
                          <a:latin typeface="MULISH BLACK ROMAN"/>
                        </a:rPr>
                        <a:t>Kagan</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kern="1200" dirty="0">
                          <a:solidFill>
                            <a:srgbClr val="000000"/>
                          </a:solidFill>
                          <a:effectLst/>
                          <a:latin typeface="MULISH BLACK ROMAN"/>
                          <a:ea typeface="+mn-ea"/>
                          <a:cs typeface="+mn-cs"/>
                        </a:rPr>
                        <a:t>4,3</a:t>
                      </a:r>
                      <a:r>
                        <a:rPr lang="en-US" sz="1100" b="0" i="0" u="none" strike="noStrike" dirty="0">
                          <a:solidFill>
                            <a:srgbClr val="000000"/>
                          </a:solidFill>
                          <a:effectLst/>
                          <a:latin typeface="MULISH BLACK ROMAN"/>
                        </a:rPr>
                        <a:t>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308733">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kern="1200" dirty="0">
                          <a:solidFill>
                            <a:srgbClr val="000000"/>
                          </a:solidFill>
                          <a:effectLst/>
                          <a:latin typeface="MULISH BLACK ROMAN"/>
                          <a:ea typeface="+mn-ea"/>
                          <a:cs typeface="+mn-cs"/>
                        </a:rPr>
                        <a:t>4,3</a:t>
                      </a:r>
                      <a:r>
                        <a:rPr lang="en-US" sz="1100" b="0" i="0" u="none" strike="noStrike" dirty="0">
                          <a:solidFill>
                            <a:srgbClr val="000000"/>
                          </a:solidFill>
                          <a:effectLst/>
                          <a:latin typeface="MULISH BLACK ROMAN"/>
                        </a:rPr>
                        <a:t>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308733">
                <a:tc>
                  <a:txBody>
                    <a:bodyPr/>
                    <a:lstStyle/>
                    <a:p>
                      <a:pPr algn="ctr" fontAlgn="b"/>
                      <a:r>
                        <a:rPr lang="en-US" sz="1100" b="0" u="none" strike="noStrike" dirty="0">
                          <a:solidFill>
                            <a:srgbClr val="000000"/>
                          </a:solidFill>
                          <a:effectLst/>
                          <a:latin typeface="MULISH BLACK ROMAN"/>
                        </a:rPr>
                        <a:t>Kavanaugh</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3,900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308733">
                <a:tc>
                  <a:txBody>
                    <a:bodyPr/>
                    <a:lstStyle/>
                    <a:p>
                      <a:pPr algn="ctr" fontAlgn="b"/>
                      <a:r>
                        <a:rPr lang="en-US" sz="1100" b="0" i="0" u="none" strike="noStrike" dirty="0">
                          <a:solidFill>
                            <a:srgbClr val="000000"/>
                          </a:solidFill>
                          <a:effectLst/>
                          <a:latin typeface="MULISH BLACK ROMAN"/>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kern="1200" dirty="0">
                          <a:solidFill>
                            <a:srgbClr val="000000"/>
                          </a:solidFill>
                          <a:effectLst/>
                          <a:latin typeface="MULISH BLACK ROMAN"/>
                          <a:ea typeface="+mn-ea"/>
                          <a:cs typeface="+mn-cs"/>
                        </a:rPr>
                        <a:t>3,800</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308733">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kern="1200" dirty="0">
                          <a:solidFill>
                            <a:schemeClr val="tx1"/>
                          </a:solidFill>
                          <a:effectLst/>
                          <a:latin typeface="MULISH BLACK ROMAN"/>
                          <a:ea typeface="+mn-ea"/>
                          <a:cs typeface="+mn-cs"/>
                        </a:rPr>
                        <a:t>≈</a:t>
                      </a:r>
                      <a:r>
                        <a:rPr lang="en-US" sz="1100" b="0" i="0" u="none" strike="noStrike" dirty="0">
                          <a:solidFill>
                            <a:srgbClr val="000000"/>
                          </a:solidFill>
                          <a:effectLst/>
                          <a:latin typeface="MULISH BLACK ROMAN"/>
                        </a:rPr>
                        <a:t>3,400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B58CB0A-1A00-0341-CBED-1A340D5B6E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 (Cont.)</a:t>
            </a:r>
          </a:p>
        </p:txBody>
      </p:sp>
      <p:sp>
        <p:nvSpPr>
          <p:cNvPr id="11" name="TextBox 10">
            <a:extLst>
              <a:ext uri="{FF2B5EF4-FFF2-40B4-BE49-F238E27FC236}">
                <a16:creationId xmlns:a16="http://schemas.microsoft.com/office/drawing/2014/main" id="{1DDF1A98-4954-F42F-6560-244F9F041761}"/>
              </a:ext>
            </a:extLst>
          </p:cNvPr>
          <p:cNvSpPr txBox="1"/>
          <p:nvPr/>
        </p:nvSpPr>
        <p:spPr>
          <a:xfrm>
            <a:off x="4876800" y="5399974"/>
            <a:ext cx="6202585" cy="430887"/>
          </a:xfrm>
          <a:prstGeom prst="rect">
            <a:avLst/>
          </a:prstGeom>
          <a:noFill/>
          <a:ln>
            <a:solidFill>
              <a:schemeClr val="tx1"/>
            </a:solidFill>
          </a:ln>
        </p:spPr>
        <p:txBody>
          <a:bodyPr wrap="square" rtlCol="0">
            <a:spAutoFit/>
          </a:bodyPr>
          <a:lstStyle/>
          <a:p>
            <a:r>
              <a:rPr lang="en-US" sz="1100" dirty="0">
                <a:latin typeface="MULISH REGULAR ROMAN"/>
              </a:rPr>
              <a:t>Figure shows the average length (in words) of opinions issued by the court by type between the 2016 and 2024 terms. </a:t>
            </a:r>
          </a:p>
        </p:txBody>
      </p:sp>
      <p:sp>
        <p:nvSpPr>
          <p:cNvPr id="7" name="Slide Number Placeholder 6">
            <a:extLst>
              <a:ext uri="{FF2B5EF4-FFF2-40B4-BE49-F238E27FC236}">
                <a16:creationId xmlns:a16="http://schemas.microsoft.com/office/drawing/2014/main" id="{EA02EBCD-4099-42FF-CC0F-A83E48E7078E}"/>
              </a:ext>
            </a:extLst>
          </p:cNvPr>
          <p:cNvSpPr>
            <a:spLocks noGrp="1"/>
          </p:cNvSpPr>
          <p:nvPr>
            <p:ph type="sldNum" sz="quarter" idx="12"/>
          </p:nvPr>
        </p:nvSpPr>
        <p:spPr/>
        <p:txBody>
          <a:bodyPr/>
          <a:lstStyle/>
          <a:p>
            <a:fld id="{5E212BD6-99D2-4430-8307-3DFF6CB1AF68}" type="slidenum">
              <a:rPr lang="en-US" smtClean="0"/>
              <a:t>23</a:t>
            </a:fld>
            <a:endParaRPr lang="en-US"/>
          </a:p>
        </p:txBody>
      </p:sp>
      <p:pic>
        <p:nvPicPr>
          <p:cNvPr id="15" name="Picture 14" descr="A graph of different types of graphs&#10;&#10;AI-generated content may be incorrect.">
            <a:extLst>
              <a:ext uri="{FF2B5EF4-FFF2-40B4-BE49-F238E27FC236}">
                <a16:creationId xmlns:a16="http://schemas.microsoft.com/office/drawing/2014/main" id="{3E2AEDC9-351B-539F-B512-F1047330A4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5834" y="1196416"/>
            <a:ext cx="6973551" cy="4184130"/>
          </a:xfrm>
          <a:prstGeom prst="rect">
            <a:avLst/>
          </a:prstGeom>
        </p:spPr>
      </p:pic>
    </p:spTree>
    <p:extLst>
      <p:ext uri="{BB962C8B-B14F-4D97-AF65-F5344CB8AC3E}">
        <p14:creationId xmlns:p14="http://schemas.microsoft.com/office/powerpoint/2010/main" val="24412472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6280420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Per Curiam</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24</a:t>
            </a:fld>
            <a:endParaRPr lang="en-US"/>
          </a:p>
        </p:txBody>
      </p:sp>
      <p:sp>
        <p:nvSpPr>
          <p:cNvPr id="2" name="TextBox 1">
            <a:extLst>
              <a:ext uri="{FF2B5EF4-FFF2-40B4-BE49-F238E27FC236}">
                <a16:creationId xmlns:a16="http://schemas.microsoft.com/office/drawing/2014/main" id="{F26D9EE1-F030-3FDD-2CF9-9A4D537F2255}"/>
              </a:ext>
            </a:extLst>
          </p:cNvPr>
          <p:cNvSpPr txBox="1"/>
          <p:nvPr/>
        </p:nvSpPr>
        <p:spPr>
          <a:xfrm>
            <a:off x="357712" y="6275365"/>
            <a:ext cx="10515599" cy="600164"/>
          </a:xfrm>
          <a:prstGeom prst="rect">
            <a:avLst/>
          </a:prstGeom>
          <a:noFill/>
        </p:spPr>
        <p:txBody>
          <a:bodyPr wrap="square" rtlCol="0">
            <a:spAutoFit/>
          </a:bodyPr>
          <a:lstStyle/>
          <a:p>
            <a:r>
              <a:rPr lang="en-US" sz="1100" dirty="0">
                <a:latin typeface="MULISH BLACK ROMAN"/>
              </a:rPr>
              <a:t>*  Justices Thomas and Gorsuch would vote to grant the petition and set the case for argument.</a:t>
            </a:r>
          </a:p>
          <a:p>
            <a:r>
              <a:rPr lang="en-US" sz="1100" dirty="0">
                <a:latin typeface="MULISH BLACK ROMAN"/>
              </a:rPr>
              <a:t>** Justice Barrett joined the majority but only with respect to Part II, authored a separate opinion concurring (</a:t>
            </a:r>
            <a:r>
              <a:rPr lang="en-US" sz="1100" i="1" dirty="0">
                <a:latin typeface="MULISH BLACK ROMAN"/>
              </a:rPr>
              <a:t>in part</a:t>
            </a:r>
            <a:r>
              <a:rPr lang="en-US" sz="1100" dirty="0">
                <a:latin typeface="MULISH BLACK ROMAN"/>
              </a:rPr>
              <a:t>) and dissenting (</a:t>
            </a:r>
            <a:r>
              <a:rPr lang="en-US" sz="1100" i="1" dirty="0">
                <a:latin typeface="MULISH BLACK ROMAN"/>
              </a:rPr>
              <a:t>in part</a:t>
            </a:r>
            <a:r>
              <a:rPr lang="en-US" sz="1100" dirty="0">
                <a:latin typeface="MULISH BLACK ROMAN"/>
              </a:rPr>
              <a:t>), and joined Justice Thomas’ dissent with respect to Parts IV-A-1, IV-A-2, and IV-A-3. </a:t>
            </a:r>
          </a:p>
        </p:txBody>
      </p:sp>
    </p:spTree>
    <p:extLst>
      <p:ext uri="{BB962C8B-B14F-4D97-AF65-F5344CB8AC3E}">
        <p14:creationId xmlns:p14="http://schemas.microsoft.com/office/powerpoint/2010/main" val="6198849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052947451"/>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Velazquez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430887"/>
          </a:xfrm>
          <a:prstGeom prst="rect">
            <a:avLst/>
          </a:prstGeom>
          <a:noFill/>
          <a:ln>
            <a:noFill/>
          </a:ln>
        </p:spPr>
        <p:txBody>
          <a:bodyPr wrap="square" rtlCol="0">
            <a:spAutoFit/>
          </a:bodyPr>
          <a:lstStyle/>
          <a:p>
            <a:r>
              <a:rPr lang="en-US" sz="1100" dirty="0">
                <a:latin typeface="MULISH BLACK ROMAN"/>
              </a:rPr>
              <a:t>* Chief Justice Roberts would have voted to deny the application.</a:t>
            </a:r>
            <a:br>
              <a:rPr lang="en-US" sz="1100" dirty="0">
                <a:latin typeface="MULISH BLACK ROMAN"/>
              </a:rPr>
            </a:br>
            <a:r>
              <a:rPr lang="en-US" sz="1100" dirty="0">
                <a:latin typeface="MULISH BLACK ROMAN"/>
              </a:rPr>
              <a:t>** Justice Barrett authored an opinion dissenting (</a:t>
            </a:r>
            <a:r>
              <a:rPr lang="en-US" sz="1100" i="1" dirty="0">
                <a:latin typeface="MULISH BLACK ROMAN"/>
              </a:rPr>
              <a:t>in part</a:t>
            </a:r>
            <a:r>
              <a:rPr lang="en-US" sz="1100" dirty="0">
                <a:latin typeface="MULISH BLACK ROMAN"/>
              </a:rPr>
              <a:t>) – this opinion is coded as a dissent since there was no additional concurrence (</a:t>
            </a:r>
            <a:r>
              <a:rPr lang="en-US" sz="1100" i="1" dirty="0">
                <a:latin typeface="MULISH BLACK ROMAN"/>
              </a:rPr>
              <a:t>in part</a:t>
            </a:r>
            <a:r>
              <a:rPr lang="en-US" sz="1100" dirty="0">
                <a:latin typeface="MULISH BLACK ROMAN"/>
              </a:rPr>
              <a:t>). </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25</a:t>
            </a:fld>
            <a:endParaRPr lang="en-US" dirty="0"/>
          </a:p>
        </p:txBody>
      </p:sp>
    </p:spTree>
    <p:extLst>
      <p:ext uri="{BB962C8B-B14F-4D97-AF65-F5344CB8AC3E}">
        <p14:creationId xmlns:p14="http://schemas.microsoft.com/office/powerpoint/2010/main" val="33742460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674966693"/>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 (8-1)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A.J.T.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Soto</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Parrish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Martin</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REGULAR ROMAN" pitchFamily="2" charset="77"/>
                        </a:rPr>
                        <a:t>Zuch</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noFill/>
          </a:ln>
        </p:spPr>
        <p:txBody>
          <a:bodyPr wrap="square" rtlCol="0">
            <a:spAutoFit/>
          </a:bodyPr>
          <a:lstStyle/>
          <a:p>
            <a:r>
              <a:rPr lang="en-US" sz="1100" i="1" dirty="0"/>
              <a:t>* Oklahoma Charter Schools v. Drummond </a:t>
            </a:r>
            <a:r>
              <a:rPr lang="en-US" sz="1100" dirty="0"/>
              <a:t>was decided </a:t>
            </a:r>
            <a:r>
              <a:rPr lang="en-US" sz="1100" i="1" dirty="0"/>
              <a:t>per </a:t>
            </a:r>
            <a:r>
              <a:rPr lang="en-US" sz="1100" i="1" dirty="0" err="1"/>
              <a:t>curiam</a:t>
            </a:r>
            <a:r>
              <a:rPr lang="en-US" sz="1100" dirty="0"/>
              <a:t> 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26</a:t>
            </a:fld>
            <a:endParaRPr lang="en-US"/>
          </a:p>
        </p:txBody>
      </p:sp>
    </p:spTree>
    <p:extLst>
      <p:ext uri="{BB962C8B-B14F-4D97-AF65-F5344CB8AC3E}">
        <p14:creationId xmlns:p14="http://schemas.microsoft.com/office/powerpoint/2010/main" val="16101980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12766641"/>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Rivers</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06/12/2025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Perttu</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96768621"/>
                  </a:ext>
                </a:extLst>
              </a:tr>
              <a:tr h="320040">
                <a:tc>
                  <a:txBody>
                    <a:bodyPr/>
                    <a:lstStyle/>
                    <a:p>
                      <a:r>
                        <a:rPr lang="en-US" sz="1100" dirty="0" err="1">
                          <a:latin typeface="MULISH REGULAR ROMAN" pitchFamily="2" charset="77"/>
                        </a:rPr>
                        <a:t>Skrmetti</a:t>
                      </a: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Oklahoma</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Calumet</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NRC</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Fuld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Stanley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Diamond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McLaughlin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Esteras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R.J. Reynolds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Hewitt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06/26/2025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(5-4)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Medina</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06/26/2025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(6-3)</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b="0" i="0" u="none" strike="noStrike" noProof="0" dirty="0">
                          <a:effectLst/>
                          <a:latin typeface="MULISH REGULAR ROMAN" pitchFamily="2" charset="77"/>
                        </a:rPr>
                        <a:t>Gutierrez</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06/26/2025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(6-3)</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27</a:t>
            </a:fld>
            <a:endParaRPr lang="en-US"/>
          </a:p>
        </p:txBody>
      </p:sp>
      <p:sp>
        <p:nvSpPr>
          <p:cNvPr id="4" name="TextBox 3">
            <a:extLst>
              <a:ext uri="{FF2B5EF4-FFF2-40B4-BE49-F238E27FC236}">
                <a16:creationId xmlns:a16="http://schemas.microsoft.com/office/drawing/2014/main" id="{758F79B8-432C-AF5F-D8AE-21653710D384}"/>
              </a:ext>
            </a:extLst>
          </p:cNvPr>
          <p:cNvSpPr txBox="1"/>
          <p:nvPr/>
        </p:nvSpPr>
        <p:spPr>
          <a:xfrm>
            <a:off x="339318" y="6275739"/>
            <a:ext cx="10669341" cy="600164"/>
          </a:xfrm>
          <a:prstGeom prst="rect">
            <a:avLst/>
          </a:prstGeom>
          <a:noFill/>
        </p:spPr>
        <p:txBody>
          <a:bodyPr wrap="square" rtlCol="0">
            <a:spAutoFit/>
          </a:bodyPr>
          <a:lstStyle/>
          <a:p>
            <a:r>
              <a:rPr lang="en-US" sz="1100" i="1" dirty="0">
                <a:latin typeface="MULISH BLACK ROMAN"/>
              </a:rPr>
              <a:t>* Stanley</a:t>
            </a:r>
            <a:r>
              <a:rPr lang="en-US" sz="1100" dirty="0">
                <a:latin typeface="MULISH BLACK ROMAN"/>
              </a:rPr>
              <a:t> represents a particularly fractured opinion with varying authors and coalitions forming across distinct parts. Given that Justice Jackson is the only justice to dissent in full, the decision is coded as (8-1). Furthermore, although Justice Sotomayor joined Justice Jackson’s dissent with respect to elements of Parts III and IV, she joined with the plurality of the court in not reversing the 11</a:t>
            </a:r>
            <a:r>
              <a:rPr lang="en-US" sz="1100" baseline="30000" dirty="0">
                <a:latin typeface="MULISH BLACK ROMAN"/>
              </a:rPr>
              <a:t>th</a:t>
            </a:r>
            <a:r>
              <a:rPr lang="en-US" sz="1100" dirty="0">
                <a:latin typeface="MULISH BLACK ROMAN"/>
              </a:rPr>
              <a:t> Circuit. </a:t>
            </a:r>
            <a:endParaRPr lang="en-US" sz="1100" dirty="0">
              <a:highlight>
                <a:srgbClr val="FFFF00"/>
              </a:highlight>
              <a:latin typeface="MULISH BLACK ROMAN"/>
            </a:endParaRPr>
          </a:p>
        </p:txBody>
      </p:sp>
    </p:spTree>
    <p:extLst>
      <p:ext uri="{BB962C8B-B14F-4D97-AF65-F5344CB8AC3E}">
        <p14:creationId xmlns:p14="http://schemas.microsoft.com/office/powerpoint/2010/main" val="18556569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C1F16-5A3E-F6DB-8734-F2DA2300600D}"/>
            </a:ext>
          </a:extLst>
        </p:cNvPr>
        <p:cNvGrpSpPr/>
        <p:nvPr/>
      </p:nvGrpSpPr>
      <p:grpSpPr>
        <a:xfrm>
          <a:off x="0" y="0"/>
          <a:ext cx="0" cy="0"/>
          <a:chOff x="0" y="0"/>
          <a:chExt cx="0" cy="0"/>
        </a:xfrm>
      </p:grpSpPr>
      <p:sp>
        <p:nvSpPr>
          <p:cNvPr id="5" name="Title 9">
            <a:extLst>
              <a:ext uri="{FF2B5EF4-FFF2-40B4-BE49-F238E27FC236}">
                <a16:creationId xmlns:a16="http://schemas.microsoft.com/office/drawing/2014/main" id="{61BB18CB-10A4-D734-CF1F-45CF69BD107E}"/>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A656CF48-091D-9B51-CB81-1A057A5F9DE2}"/>
              </a:ext>
            </a:extLst>
          </p:cNvPr>
          <p:cNvGraphicFramePr>
            <a:graphicFrameLocks noGrp="1"/>
          </p:cNvGraphicFramePr>
          <p:nvPr>
            <p:extLst>
              <p:ext uri="{D42A27DB-BD31-4B8C-83A1-F6EECF244321}">
                <p14:modId xmlns:p14="http://schemas.microsoft.com/office/powerpoint/2010/main" val="104852169"/>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Riley</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06/26/2025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Trump v. CASA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Kennedy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Consumers’ Research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Mahmoud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Free Speech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06/27/2025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81583391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705721243"/>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172497950"/>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2248342504"/>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051524791"/>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219908336"/>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58160031"/>
                  </a:ext>
                </a:extLst>
              </a:tr>
              <a:tr h="320040">
                <a:tc>
                  <a:txBody>
                    <a:bodyPr/>
                    <a:lstStyle/>
                    <a:p>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937818E2-E095-5285-A815-C00B3B210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AAE59901-2801-5AAB-7510-1ED226327EF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F6F74547-0150-0EFE-6C00-00FAA76C0B0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A6D0ECCB-F81B-7E9B-41C5-7C6B86D15F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7517C51E-9457-C0C0-42C9-F56983B2A65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8BAA772D-CDE7-B803-FAB4-EC649546370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FD1AD885-9327-16CB-2E34-CC268609512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4E8B2092-89F8-3905-ECFD-56947315717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52A4609D-F6AB-1800-BB8F-37E9AE3C0B81}"/>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B60AE888-DE28-69D1-35CD-0E479950E933}"/>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Joined Majority                    Joined Dissent                    Authored Special  (In Part)                             Did Not Participate                                  </a:t>
            </a:r>
            <a:br>
              <a:rPr lang="en-US" sz="1100" dirty="0">
                <a:latin typeface="MULISH BLACK ROMAN"/>
              </a:rPr>
            </a:br>
            <a:r>
              <a:rPr lang="en-US" sz="1100" dirty="0">
                <a:latin typeface="MULISH BLACK ROMAN"/>
              </a:rPr>
              <a:t>			                           Concurrence (or In judgment)</a:t>
            </a:r>
          </a:p>
        </p:txBody>
      </p:sp>
      <p:sp>
        <p:nvSpPr>
          <p:cNvPr id="7" name="Rectangle 6">
            <a:extLst>
              <a:ext uri="{FF2B5EF4-FFF2-40B4-BE49-F238E27FC236}">
                <a16:creationId xmlns:a16="http://schemas.microsoft.com/office/drawing/2014/main" id="{B1EF2CEF-F517-9FC4-CDD4-F82229572DF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7EA8CE1-ADDD-F482-146D-8A3BB0B07B57}"/>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ADCEE80-3603-E63B-A8E8-336C92E62E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7EABED-5287-C026-2C34-24AEC6C469E1}"/>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75D18796-EDE1-101A-B6DD-0208D20CFC11}"/>
              </a:ext>
            </a:extLst>
          </p:cNvPr>
          <p:cNvSpPr>
            <a:spLocks noGrp="1"/>
          </p:cNvSpPr>
          <p:nvPr>
            <p:ph type="sldNum" sz="quarter" idx="12"/>
          </p:nvPr>
        </p:nvSpPr>
        <p:spPr/>
        <p:txBody>
          <a:bodyPr/>
          <a:lstStyle/>
          <a:p>
            <a:fld id="{5E212BD6-99D2-4430-8307-3DFF6CB1AF68}" type="slidenum">
              <a:rPr lang="en-US" smtClean="0"/>
              <a:t>28</a:t>
            </a:fld>
            <a:endParaRPr lang="en-US"/>
          </a:p>
        </p:txBody>
      </p:sp>
    </p:spTree>
    <p:extLst>
      <p:ext uri="{BB962C8B-B14F-4D97-AF65-F5344CB8AC3E}">
        <p14:creationId xmlns:p14="http://schemas.microsoft.com/office/powerpoint/2010/main" val="18937854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3794408230"/>
              </p:ext>
            </p:extLst>
          </p:nvPr>
        </p:nvGraphicFramePr>
        <p:xfrm>
          <a:off x="304798" y="765228"/>
          <a:ext cx="11492146" cy="5915822"/>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9">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37770">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58514">
                <a:tc>
                  <a:txBody>
                    <a:bodyPr/>
                    <a:lstStyle/>
                    <a:p>
                      <a:pPr algn="l" fontAlgn="b"/>
                      <a:r>
                        <a:rPr lang="en-US" sz="900" b="0" i="1" u="none" strike="noStrike" dirty="0">
                          <a:solidFill>
                            <a:srgbClr val="000000"/>
                          </a:solidFill>
                          <a:effectLst/>
                          <a:latin typeface="MULISH BLACK ROMAN"/>
                        </a:rPr>
                        <a:t> Williams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SCAL</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58514">
                <a:tc>
                  <a:txBody>
                    <a:bodyPr/>
                    <a:lstStyle/>
                    <a:p>
                      <a:pPr algn="l" fontAlgn="b"/>
                      <a:r>
                        <a:rPr lang="en-US" sz="900" b="0" i="1" u="none" strike="noStrike" dirty="0">
                          <a:solidFill>
                            <a:srgbClr val="000000"/>
                          </a:solidFill>
                          <a:effectLst/>
                          <a:latin typeface="MULISH BLACK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rgbClr val="000000"/>
                          </a:solidFill>
                          <a:effectLst/>
                          <a:latin typeface="MULISH BLACK ROMAN"/>
                        </a:rPr>
                        <a:t>CA8</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58514">
                <a:tc>
                  <a:txBody>
                    <a:bodyPr/>
                    <a:lstStyle/>
                    <a:p>
                      <a:pPr algn="l" fontAlgn="b"/>
                      <a:r>
                        <a:rPr lang="en-US" sz="900" b="0" i="1" u="none" strike="noStrike" dirty="0">
                          <a:solidFill>
                            <a:srgbClr val="000000"/>
                          </a:solidFill>
                          <a:effectLst/>
                          <a:latin typeface="MULISH BLACK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58514">
                <a:tc>
                  <a:txBody>
                    <a:bodyPr/>
                    <a:lstStyle/>
                    <a:p>
                      <a:pPr algn="l" fontAlgn="b"/>
                      <a:r>
                        <a:rPr lang="en-US" sz="900" b="0" i="1" u="none" strike="noStrike" dirty="0">
                          <a:solidFill>
                            <a:srgbClr val="000000"/>
                          </a:solidFill>
                          <a:effectLst/>
                          <a:latin typeface="MULISH BLACK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197d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58514">
                <a:tc>
                  <a:txBody>
                    <a:bodyPr/>
                    <a:lstStyle/>
                    <a:p>
                      <a:pPr algn="l" fontAlgn="b"/>
                      <a:r>
                        <a:rPr lang="en-US" sz="900" b="0" i="1" u="none" strike="noStrike" dirty="0">
                          <a:solidFill>
                            <a:srgbClr val="000000"/>
                          </a:solidFill>
                          <a:effectLst/>
                          <a:latin typeface="MULISH BLACK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CCAOK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Velazquez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kern="1200" dirty="0">
                          <a:solidFill>
                            <a:schemeClr val="tx1"/>
                          </a:solidFill>
                          <a:effectLst/>
                          <a:latin typeface="MULISH BLACK ROMAN"/>
                          <a:ea typeface="+mn-ea"/>
                          <a:cs typeface="+mn-cs"/>
                        </a:rPr>
                        <a:t>Kousisis</a:t>
                      </a:r>
                      <a:endParaRPr lang="en-US" sz="900" i="1"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58514">
                <a:tc>
                  <a:txBody>
                    <a:bodyPr/>
                    <a:lstStyle/>
                    <a:p>
                      <a:pPr algn="l" fontAlgn="b"/>
                      <a:r>
                        <a:rPr lang="en-US" sz="900" b="0" i="1" u="none" strike="noStrike" dirty="0">
                          <a:solidFill>
                            <a:srgbClr val="000000"/>
                          </a:solidFill>
                          <a:effectLst/>
                          <a:latin typeface="MULISH BLACK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CAFED</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58514">
                <a:tc>
                  <a:txBody>
                    <a:bodyPr/>
                    <a:lstStyle/>
                    <a:p>
                      <a:pPr algn="l" fontAlgn="b"/>
                      <a:r>
                        <a:rPr lang="en-US" sz="900" b="0" i="1" u="none" strike="noStrike" dirty="0">
                          <a:solidFill>
                            <a:srgbClr val="000000"/>
                          </a:solidFill>
                          <a:effectLst/>
                          <a:latin typeface="MULISH BLACK ROMAN"/>
                        </a:rPr>
                        <a:t> Bouarfa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CA11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58514">
                <a:tc>
                  <a:txBody>
                    <a:bodyPr/>
                    <a:lstStyle/>
                    <a:p>
                      <a:pPr algn="l" fontAlgn="b"/>
                      <a:r>
                        <a:rPr lang="en-US" sz="900" b="0" i="1" u="none" strike="noStrike" dirty="0">
                          <a:solidFill>
                            <a:srgbClr val="000000"/>
                          </a:solidFill>
                          <a:effectLst/>
                          <a:latin typeface="MULISH BLACK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CAFED</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58514">
                <a:tc>
                  <a:txBody>
                    <a:bodyPr/>
                    <a:lstStyle/>
                    <a:p>
                      <a:pPr algn="l" fontAlgn="b"/>
                      <a:r>
                        <a:rPr lang="en-US" sz="900" b="0" i="1" u="none" strike="noStrike" dirty="0">
                          <a:solidFill>
                            <a:srgbClr val="000000"/>
                          </a:solidFill>
                          <a:effectLst/>
                          <a:latin typeface="MULISH BLACK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BLACK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rgbClr val="000000"/>
                          </a:solidFill>
                          <a:effectLst/>
                          <a:latin typeface="MULISH BLACK ROMAN"/>
                        </a:rPr>
                        <a:t>CA9</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58514">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165d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Gutierrez</a:t>
                      </a:r>
                    </a:p>
                  </a:txBody>
                  <a:tcPr marL="45720" marR="0" marT="0" marB="0" anchor="ctr"/>
                </a:tc>
                <a:tc>
                  <a:txBody>
                    <a:bodyPr/>
                    <a:lstStyle/>
                    <a:p>
                      <a:pPr lvl="0" algn="l">
                        <a:lnSpc>
                          <a:spcPct val="100000"/>
                        </a:lnSpc>
                        <a:spcBef>
                          <a:spcPts val="0"/>
                        </a:spcBef>
                        <a:spcAft>
                          <a:spcPts val="0"/>
                        </a:spcAft>
                        <a:buNone/>
                      </a:pPr>
                      <a:r>
                        <a:rPr lang="en-US" sz="900" b="0" i="0" u="none" strike="noStrike" noProof="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123d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gridSpan="5">
                  <a:txBody>
                    <a:bodyPr/>
                    <a:lstStyle/>
                    <a:p>
                      <a:pPr marL="0" algn="l" rtl="0" eaLnBrk="1" fontAlgn="base" latinLnBrk="0" hangingPunct="1">
                        <a:spcBef>
                          <a:spcPts val="0"/>
                        </a:spcBef>
                        <a:spcAft>
                          <a:spcPts val="0"/>
                        </a:spcAft>
                      </a:pPr>
                      <a:r>
                        <a:rPr lang="en-US" sz="900" i="1" dirty="0">
                          <a:effectLst/>
                          <a:latin typeface="MULISH REGULAR ROMAN" pitchFamily="2" charset="77"/>
                        </a:rPr>
                        <a:t>Slated for </a:t>
                      </a:r>
                      <a:r>
                        <a:rPr lang="en-US" sz="900" i="1" dirty="0" err="1">
                          <a:effectLst/>
                          <a:latin typeface="MULISH REGULAR ROMAN" pitchFamily="2" charset="77"/>
                        </a:rPr>
                        <a:t>reargument</a:t>
                      </a:r>
                      <a:endParaRPr lang="en-US" sz="900" i="1"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180119">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159d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5-4</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95d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7-2</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8-0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164d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6-3</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94d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67d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Jackson</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74d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A</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94d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Roberts</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81d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Gorsuch</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6-3</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58514">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68d</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algn="l" fontAlgn="b"/>
                      <a:r>
                        <a:rPr lang="en-US" sz="900" b="0" i="1" u="none" strike="noStrike" dirty="0">
                          <a:solidFill>
                            <a:srgbClr val="000000"/>
                          </a:solidFill>
                          <a:effectLst/>
                          <a:latin typeface="MULISH BLACK ROMAN"/>
                        </a:rPr>
                        <a:t>Hamm</a:t>
                      </a:r>
                    </a:p>
                  </a:txBody>
                  <a:tcPr marL="9525" marR="9525" marT="9525" marB="0" anchor="b"/>
                </a:tc>
                <a:tc>
                  <a:txBody>
                    <a:bodyPr/>
                    <a:lstStyle/>
                    <a:p>
                      <a:pPr marL="0" algn="l" rtl="0" eaLnBrk="1" fontAlgn="base"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BLACK ROMAN"/>
                        </a:rPr>
                        <a:t>9-0</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a:solidFill>
                            <a:srgbClr val="000000"/>
                          </a:solidFill>
                          <a:effectLst/>
                          <a:latin typeface="MULISH BLACK ROMAN"/>
                        </a:rPr>
                        <a:t>CA11</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Opinions of the Court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56</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58514">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r>
                        <a:rPr lang="en-US" sz="900" i="0" strike="noStrike" baseline="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53d</a:t>
                      </a:r>
                    </a:p>
                  </a:txBody>
                  <a:tcPr marL="45720" marR="0" marT="0" marB="0" anchor="ctr"/>
                </a:tc>
                <a:tc>
                  <a:txBody>
                    <a:bodyPr/>
                    <a:lstStyle/>
                    <a:p>
                      <a:pPr marL="0" algn="l" rtl="0" eaLnBrk="1" fontAlgn="base" latinLnBrk="0" hangingPunct="1">
                        <a:spcBef>
                          <a:spcPts val="0"/>
                        </a:spcBef>
                        <a:spcAft>
                          <a:spcPts val="0"/>
                        </a:spcAft>
                      </a:pPr>
                      <a:r>
                        <a:rPr lang="en-US" sz="900" i="0" strike="noStrike" baseline="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algn="l" fontAlgn="b"/>
                      <a:r>
                        <a:rPr lang="en-US" sz="900" b="0" i="1" u="none" strike="noStrike" dirty="0">
                          <a:solidFill>
                            <a:srgbClr val="000000"/>
                          </a:solidFill>
                          <a:effectLst/>
                          <a:latin typeface="MULISH BLACK ROMAN"/>
                        </a:rPr>
                        <a:t>Andrew</a:t>
                      </a:r>
                    </a:p>
                  </a:txBody>
                  <a:tcPr marL="9525" marR="9525" marT="9525" marB="0" anchor="b"/>
                </a:tc>
                <a:tc>
                  <a:txBody>
                    <a:bodyPr/>
                    <a:lstStyle/>
                    <a:p>
                      <a:pPr marL="0" algn="l" rtl="0" eaLnBrk="1" fontAlgn="base"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BLACK ROMAN"/>
                        </a:rPr>
                        <a:t>7-2</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a:solidFill>
                            <a:srgbClr val="000000"/>
                          </a:solidFill>
                          <a:effectLst/>
                          <a:latin typeface="MULISH BLACK ROMAN"/>
                        </a:rPr>
                        <a:t>CA10</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Opinions of the Court – Per Curiam</a:t>
                      </a: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10</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67d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algn="l" fontAlgn="b"/>
                      <a:r>
                        <a:rPr lang="en-US" sz="900" b="0" i="1" u="none" strike="noStrike">
                          <a:solidFill>
                            <a:srgbClr val="000000"/>
                          </a:solidFill>
                          <a:effectLst/>
                          <a:latin typeface="MULISH BLACK ROMAN"/>
                        </a:rPr>
                        <a:t>DOE v. CA</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G</a:t>
                      </a:r>
                    </a:p>
                  </a:txBody>
                  <a:tcPr marL="45720" marR="0" marT="0" marB="0" anchor="ctr"/>
                </a:tc>
                <a:tc>
                  <a:txBody>
                    <a:bodyPr/>
                    <a:lstStyle/>
                    <a:p>
                      <a:pPr algn="l" fontAlgn="b"/>
                      <a:r>
                        <a:rPr lang="en-US" sz="900" b="0" i="0" u="none" strike="noStrike">
                          <a:solidFill>
                            <a:srgbClr val="000000"/>
                          </a:solidFill>
                          <a:effectLst/>
                          <a:latin typeface="MULISH BLACK ROMAN"/>
                        </a:rPr>
                        <a:t>DCMA</a:t>
                      </a:r>
                    </a:p>
                  </a:txBody>
                  <a:tcPr marL="9525" marR="9525" marT="9525" marB="0" anchor="b"/>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66</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52d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algn="l" fontAlgn="b"/>
                      <a:r>
                        <a:rPr lang="en-US" sz="900" b="0" i="1" u="none" strike="noStrike" dirty="0">
                          <a:solidFill>
                            <a:srgbClr val="000000"/>
                          </a:solidFill>
                          <a:effectLst/>
                          <a:latin typeface="MULISH BLACK ROMAN"/>
                        </a:rPr>
                        <a:t>Trump v. J.G.G.</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dirty="0">
                          <a:solidFill>
                            <a:srgbClr val="000000"/>
                          </a:solidFill>
                          <a:effectLst/>
                          <a:latin typeface="MULISH BLACK ROMAN"/>
                        </a:rPr>
                        <a:t>DCDC</a:t>
                      </a:r>
                    </a:p>
                  </a:txBody>
                  <a:tcPr marL="9525" marR="9525" marT="9525" marB="0" anchor="b"/>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59d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algn="l" fontAlgn="b"/>
                      <a:r>
                        <a:rPr lang="en-US" sz="900" b="0" i="1" u="none" strike="noStrike" dirty="0">
                          <a:solidFill>
                            <a:srgbClr val="000000"/>
                          </a:solidFill>
                          <a:effectLst/>
                          <a:latin typeface="MULISH BLACK ROMAN"/>
                        </a:rPr>
                        <a:t>A.A.R.P. v. Trump</a:t>
                      </a:r>
                    </a:p>
                  </a:txBody>
                  <a:tcPr marL="9525" marR="9525" marT="9525" marB="0" anchor="b"/>
                </a:tc>
                <a:tc>
                  <a:txBody>
                    <a:bodyPr/>
                    <a:lstStyle/>
                    <a:p>
                      <a:pPr marL="0" algn="l" rtl="0" eaLnBrk="1" fontAlgn="auto" latinLnBrk="0" hangingPunct="1">
                        <a:spcBef>
                          <a:spcPts val="0"/>
                        </a:spcBef>
                        <a:spcAft>
                          <a:spcPts val="0"/>
                        </a:spcAft>
                      </a:pPr>
                      <a:r>
                        <a:rPr lang="en-US" sz="900" i="1" dirty="0">
                          <a:effectLst/>
                          <a:latin typeface="MULISH BLACK ROMAN"/>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BLACK ROMAN"/>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tc>
                <a:tc>
                  <a:txBody>
                    <a:bodyPr/>
                    <a:lstStyle/>
                    <a:p>
                      <a:pPr algn="l" fontAlgn="b"/>
                      <a:r>
                        <a:rPr lang="en-US" sz="900" b="0" i="0" u="none" strike="noStrike" dirty="0">
                          <a:solidFill>
                            <a:srgbClr val="000000"/>
                          </a:solidFill>
                          <a:effectLst/>
                          <a:latin typeface="MULISH BLACK ROMAN"/>
                        </a:rPr>
                        <a:t>CA5</a:t>
                      </a:r>
                    </a:p>
                  </a:txBody>
                  <a:tcPr marL="9525" marR="9525" marT="9525" marB="0" anchor="b"/>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62</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0</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45d</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67 </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266973">
                <a:tc>
                  <a:txBody>
                    <a:bodyPr/>
                    <a:lstStyle/>
                    <a:p>
                      <a:pPr marL="0" algn="l" rtl="0" eaLnBrk="1" fontAlgn="base" latinLnBrk="0" hangingPunct="1">
                        <a:spcBef>
                          <a:spcPts val="0"/>
                        </a:spcBef>
                        <a:spcAft>
                          <a:spcPts val="0"/>
                        </a:spcAft>
                      </a:pPr>
                      <a:r>
                        <a:rPr lang="en-US" sz="900" i="1" dirty="0">
                          <a:effectLst/>
                          <a:latin typeface="MULISH BLACK ROMAN"/>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r>
                        <a:rPr lang="en-US" sz="900" dirty="0">
                          <a:latin typeface="MULISH BLACK ROMAN"/>
                        </a:rPr>
                        <a:t>Barrett</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6-3</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44d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BLACK ROMAN"/>
                        </a:rPr>
                        <a:t>V</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BLACK ROMAN"/>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 Majority Opinion Author, Vote, Days Between Arguments and Opinion, judgment,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 Per Curiam</a:t>
            </a: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29</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35568</TotalTime>
  <Words>5040</Words>
  <Application>Microsoft Office PowerPoint</Application>
  <PresentationFormat>Widescreen</PresentationFormat>
  <Paragraphs>1783</Paragraphs>
  <Slides>29</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Aptos</vt:lpstr>
      <vt:lpstr>Arial</vt:lpstr>
      <vt:lpstr>Calibri</vt:lpstr>
      <vt:lpstr>Calibri Light</vt:lpstr>
      <vt:lpstr>MULISH BLACK ROMAN</vt:lpstr>
      <vt:lpstr>MULISH BOLD ROMAN</vt:lpstr>
      <vt:lpstr>MULISH EXTRABOLD ROMAN</vt:lpstr>
      <vt:lpstr>MULISH ITALIC</vt:lpstr>
      <vt:lpstr>MULISH REGULAR ROMAN</vt:lpstr>
      <vt:lpstr>MULISH SEMIBOLD ROMAN</vt:lpstr>
      <vt:lpstr>Office Theme</vt:lpstr>
      <vt:lpstr>Final Stat Pack for the 2024-25 term  Updated June 27, 2025  </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564</cp:revision>
  <cp:lastPrinted>2019-06-28T21:02:00Z</cp:lastPrinted>
  <dcterms:created xsi:type="dcterms:W3CDTF">2019-02-07T19:44:00Z</dcterms:created>
  <dcterms:modified xsi:type="dcterms:W3CDTF">2025-06-27T22:57:11Z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