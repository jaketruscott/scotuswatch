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handoutMasterIdLst>
    <p:handoutMasterId r:id="rId31"/>
  </p:handoutMasterIdLst>
  <p:sldIdLst>
    <p:sldId id="392" r:id="rId2"/>
    <p:sldId id="269" r:id="rId3"/>
    <p:sldId id="393" r:id="rId4"/>
    <p:sldId id="391" r:id="rId5"/>
    <p:sldId id="345" r:id="rId6"/>
    <p:sldId id="411" r:id="rId7"/>
    <p:sldId id="404" r:id="rId8"/>
    <p:sldId id="395" r:id="rId9"/>
    <p:sldId id="407" r:id="rId10"/>
    <p:sldId id="396" r:id="rId11"/>
    <p:sldId id="350" r:id="rId12"/>
    <p:sldId id="413" r:id="rId13"/>
    <p:sldId id="324" r:id="rId14"/>
    <p:sldId id="383" r:id="rId15"/>
    <p:sldId id="340" r:id="rId16"/>
    <p:sldId id="406" r:id="rId17"/>
    <p:sldId id="410" r:id="rId18"/>
    <p:sldId id="409" r:id="rId19"/>
    <p:sldId id="381" r:id="rId20"/>
    <p:sldId id="390" r:id="rId21"/>
    <p:sldId id="299" r:id="rId22"/>
    <p:sldId id="343" r:id="rId23"/>
    <p:sldId id="412" r:id="rId24"/>
    <p:sldId id="398" r:id="rId25"/>
    <p:sldId id="399" r:id="rId26"/>
    <p:sldId id="400" r:id="rId27"/>
    <p:sldId id="401" r:id="rId28"/>
    <p:sldId id="402" r:id="rId29"/>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350"/>
            <p14:sldId id="413"/>
            <p14:sldId id="324"/>
            <p14:sldId id="383"/>
            <p14:sldId id="340"/>
            <p14:sldId id="406"/>
            <p14:sldId id="410"/>
            <p14:sldId id="409"/>
            <p14:sldId id="381"/>
            <p14:sldId id="390"/>
            <p14:sldId id="299"/>
            <p14:sldId id="343"/>
            <p14:sldId id="412"/>
            <p14:sldId id="398"/>
            <p14:sldId id="399"/>
            <p14:sldId id="400"/>
            <p14:sldId id="401"/>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5B9BD5"/>
    <a:srgbClr val="4E478A"/>
    <a:srgbClr val="0F9147"/>
    <a:srgbClr val="FDD532"/>
    <a:srgbClr val="4F4789"/>
    <a:srgbClr val="0469A9"/>
    <a:srgbClr val="4FEDED"/>
    <a:srgbClr val="A90404"/>
    <a:srgbClr val="D2DEE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61" autoAdjust="0"/>
    <p:restoredTop sz="93220" autoAdjust="0"/>
  </p:normalViewPr>
  <p:slideViewPr>
    <p:cSldViewPr snapToGrid="0">
      <p:cViewPr varScale="1">
        <p:scale>
          <a:sx n="107" d="100"/>
          <a:sy n="107" d="100"/>
        </p:scale>
        <p:origin x="984" y="102"/>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6/10/2025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6/6/2025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18</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24</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6/10/2025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6/10/2025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6/10/2025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10,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3178210718"/>
              </p:ext>
            </p:extLst>
          </p:nvPr>
        </p:nvGraphicFramePr>
        <p:xfrm>
          <a:off x="304800" y="923675"/>
          <a:ext cx="11582400" cy="55692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Merits Docket</a:t>
                      </a:r>
                      <a:r>
                        <a:rPr lang="en-US" sz="1400" b="0" dirty="0">
                          <a:solidFill>
                            <a:schemeClr val="tx1"/>
                          </a:solidFill>
                          <a:latin typeface="MULISH BLACK ROMAN"/>
                        </a:rPr>
                        <a:t> …………………………………………………………………………………………………………………………………………………………………………………</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the Majority (All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Breaking Ranks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1254701"/>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the Majority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Merits 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Judicial Review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31041859"/>
                  </a:ext>
                </a:extLst>
              </a:tr>
              <a:tr h="327600">
                <a:tc>
                  <a:txBody>
                    <a:bodyPr/>
                    <a:lstStyle/>
                    <a:p>
                      <a:r>
                        <a:rPr lang="en-US" sz="1400" dirty="0">
                          <a:latin typeface="MULISH BLACK ROMAN"/>
                        </a:rPr>
                        <a:t>Coalition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35613698"/>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Curiam</a:t>
            </a:r>
            <a:r>
              <a:rPr lang="en-US" sz="1200" dirty="0">
                <a:latin typeface="MULISH REGULAR ROMAN"/>
              </a:rPr>
              <a:t> are coded as a Majority Opinion.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8" name="Picture 7" descr="A graph of different colored squares&#10;&#10;AI-generated content may be incorrect.">
            <a:extLst>
              <a:ext uri="{FF2B5EF4-FFF2-40B4-BE49-F238E27FC236}">
                <a16:creationId xmlns:a16="http://schemas.microsoft.com/office/drawing/2014/main" id="{A368D452-14DB-E36C-7005-616A4E0E3AD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6" y="883645"/>
            <a:ext cx="8442160" cy="5065296"/>
          </a:xfrm>
          <a:prstGeom prst="rect">
            <a:avLst/>
          </a:prstGeom>
        </p:spPr>
      </p:pic>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a:p>
        </p:txBody>
      </p:sp>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2083649185"/>
              </p:ext>
            </p:extLst>
          </p:nvPr>
        </p:nvGraphicFramePr>
        <p:xfrm>
          <a:off x="320850" y="796386"/>
          <a:ext cx="11550300" cy="5473153"/>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Misleading vs. false statements under Â§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Bankruptcy clawback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These include decisions reached </a:t>
            </a:r>
            <a:r>
              <a:rPr lang="en-US" sz="1200" i="1" dirty="0"/>
              <a:t>per </a:t>
            </a:r>
            <a:r>
              <a:rPr lang="en-US" sz="1200" i="1" dirty="0" err="1"/>
              <a:t>curiam</a:t>
            </a:r>
            <a:r>
              <a:rPr lang="en-US" sz="1200" dirty="0"/>
              <a:t> without any noted dissents.  </a:t>
            </a:r>
            <a:endParaRPr lang="en-US" sz="1200" dirty="0">
              <a:latin typeface="MULISH REGULAR ROMAN"/>
            </a:endParaRPr>
          </a:p>
        </p:txBody>
      </p:sp>
      <p:pic>
        <p:nvPicPr>
          <p:cNvPr id="6" name="Picture 5" descr="A graph with numbers and lines&#10;&#10;AI-generated content may be incorrect.">
            <a:extLst>
              <a:ext uri="{FF2B5EF4-FFF2-40B4-BE49-F238E27FC236}">
                <a16:creationId xmlns:a16="http://schemas.microsoft.com/office/drawing/2014/main" id="{56AA89EB-590F-AAF4-DAB4-B6786F95CC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1" y="1147658"/>
            <a:ext cx="9144018" cy="5486410"/>
          </a:xfrm>
          <a:prstGeom prst="rect">
            <a:avLst/>
          </a:prstGeom>
        </p:spPr>
      </p:pic>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pic>
        <p:nvPicPr>
          <p:cNvPr id="6" name="Picture 5" descr="A group of people in a row&#10;&#10;AI-generated content may be incorrect.">
            <a:extLst>
              <a:ext uri="{FF2B5EF4-FFF2-40B4-BE49-F238E27FC236}">
                <a16:creationId xmlns:a16="http://schemas.microsoft.com/office/drawing/2014/main" id="{5AF574D2-0E32-67F9-26B6-7C29B3CBCE7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5" y="827825"/>
            <a:ext cx="8705775" cy="5223465"/>
          </a:xfrm>
          <a:prstGeom prst="rect">
            <a:avLst/>
          </a:prstGeom>
        </p:spPr>
      </p:pic>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a:p>
        </p:txBody>
      </p:sp>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pic>
        <p:nvPicPr>
          <p:cNvPr id="8" name="Picture 7" descr="A group of people standing in front of a graph&#10;&#10;AI-generated content may be incorrect.">
            <a:extLst>
              <a:ext uri="{FF2B5EF4-FFF2-40B4-BE49-F238E27FC236}">
                <a16:creationId xmlns:a16="http://schemas.microsoft.com/office/drawing/2014/main" id="{E79867E3-7120-5B8C-86B9-961009F07EC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59610"/>
            <a:ext cx="8705776" cy="5223465"/>
          </a:xfrm>
          <a:prstGeom prst="rect">
            <a:avLst/>
          </a:prstGeom>
        </p:spPr>
      </p:pic>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pic>
        <p:nvPicPr>
          <p:cNvPr id="6" name="Picture 5" descr="A group of people standing in front of a graph&#10;&#10;AI-generated content may be incorrect.">
            <a:extLst>
              <a:ext uri="{FF2B5EF4-FFF2-40B4-BE49-F238E27FC236}">
                <a16:creationId xmlns:a16="http://schemas.microsoft.com/office/drawing/2014/main" id="{870A191A-CA80-9040-CBCA-46F6742B57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62697E2-5ABB-843F-62F3-D838370F29A2}"/>
              </a:ext>
            </a:extLst>
          </p:cNvPr>
          <p:cNvSpPr>
            <a:spLocks noGrp="1" noRot="1" noMove="1" noResize="1" noEditPoints="1" noAdjustHandles="1" noChangeArrowheads="1" noChangeShapeType="1"/>
          </p:cNvSpPr>
          <p:nvPr/>
        </p:nvSpPr>
        <p:spPr>
          <a:xfrm>
            <a:off x="1006639" y="1200410"/>
            <a:ext cx="9144019" cy="545407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behaviors of Republican-appointed Justices in non-unanimous cases during the 2020-2024 terms. The </a:t>
            </a:r>
            <a:r>
              <a:rPr lang="en-US" sz="1200" dirty="0">
                <a:solidFill>
                  <a:schemeClr val="bg1"/>
                </a:solidFill>
                <a:highlight>
                  <a:srgbClr val="808080"/>
                </a:highlight>
              </a:rPr>
              <a:t>DARK GREY</a:t>
            </a:r>
            <a:r>
              <a:rPr lang="en-US" sz="1200" dirty="0">
                <a:solidFill>
                  <a:schemeClr val="bg1"/>
                </a:solidFill>
              </a:rPr>
              <a:t> </a:t>
            </a:r>
            <a:r>
              <a:rPr lang="en-US" sz="1200" dirty="0"/>
              <a:t>bars represent the percentage of cases where a Justice joined a majority coalition consisting of all the Democratic appointees. Alternatively, the </a:t>
            </a:r>
            <a:r>
              <a:rPr lang="en-US" sz="1200" b="1" dirty="0">
                <a:highlight>
                  <a:srgbClr val="C0C0C0"/>
                </a:highlight>
              </a:rPr>
              <a:t>LIGHT GREY</a:t>
            </a:r>
            <a:r>
              <a:rPr lang="en-US" sz="1200" dirty="0"/>
              <a:t> bars indicate the percentage of cases where the Justice was the lone dissenter from a majority consisting of the remaining Republican appointees. </a:t>
            </a:r>
            <a:endParaRPr lang="en-US" sz="1200" dirty="0">
              <a:latin typeface="MULISH REGULAR ROMAN"/>
            </a:endParaRPr>
          </a:p>
        </p:txBody>
      </p:sp>
      <p:sp>
        <p:nvSpPr>
          <p:cNvPr id="6" name="Slide Number Placeholder 5">
            <a:extLst>
              <a:ext uri="{FF2B5EF4-FFF2-40B4-BE49-F238E27FC236}">
                <a16:creationId xmlns:a16="http://schemas.microsoft.com/office/drawing/2014/main" id="{8D5EE303-FE0A-1A83-4436-CD8EA6DF072D}"/>
              </a:ext>
            </a:extLst>
          </p:cNvPr>
          <p:cNvSpPr>
            <a:spLocks noGrp="1"/>
          </p:cNvSpPr>
          <p:nvPr>
            <p:ph type="sldNum" sz="quarter" idx="12"/>
          </p:nvPr>
        </p:nvSpPr>
        <p:spPr/>
        <p:txBody>
          <a:bodyPr/>
          <a:lstStyle/>
          <a:p>
            <a:fld id="{5E212BD6-99D2-4430-8307-3DFF6CB1AF68}" type="slidenum">
              <a:rPr lang="en-US" smtClean="0"/>
              <a:t>11</a:t>
            </a:fld>
            <a:endParaRPr lang="en-US"/>
          </a:p>
        </p:txBody>
      </p:sp>
      <p:pic>
        <p:nvPicPr>
          <p:cNvPr id="9" name="Picture 8" descr="A group of people standing in front of a graph&#10;&#10;AI-generated content may be incorrect.">
            <a:extLst>
              <a:ext uri="{FF2B5EF4-FFF2-40B4-BE49-F238E27FC236}">
                <a16:creationId xmlns:a16="http://schemas.microsoft.com/office/drawing/2014/main" id="{CD753FB8-5897-A35A-E612-4589B0D2D7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39" y="1168070"/>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6" name="Picture 5" descr="A group of people in a graph&#10;&#10;AI-generated content may be incorrect.">
            <a:extLst>
              <a:ext uri="{FF2B5EF4-FFF2-40B4-BE49-F238E27FC236}">
                <a16:creationId xmlns:a16="http://schemas.microsoft.com/office/drawing/2014/main" id="{982D3079-FE63-653B-524C-DBA7750D33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40901"/>
            <a:ext cx="7075372" cy="5896144"/>
          </a:xfrm>
          <a:prstGeom prst="rect">
            <a:avLst/>
          </a:prstGeom>
        </p:spPr>
      </p:pic>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12</a:t>
            </a:fld>
            <a:endParaRPr lang="en-US"/>
          </a:p>
        </p:txBody>
      </p:sp>
    </p:spTree>
    <p:extLst>
      <p:ext uri="{BB962C8B-B14F-4D97-AF65-F5344CB8AC3E}">
        <p14:creationId xmlns:p14="http://schemas.microsoft.com/office/powerpoint/2010/main" val="11001373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6" name="Picture 5" descr="A group of people in a graph&#10;&#10;AI-generated content may be incorrect.">
            <a:extLst>
              <a:ext uri="{FF2B5EF4-FFF2-40B4-BE49-F238E27FC236}">
                <a16:creationId xmlns:a16="http://schemas.microsoft.com/office/drawing/2014/main" id="{617E5069-9633-8E4C-8506-7D1E497B0C9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49" y="961855"/>
            <a:ext cx="7075373" cy="5896145"/>
          </a:xfrm>
          <a:prstGeom prst="rect">
            <a:avLst/>
          </a:prstGeom>
        </p:spPr>
      </p:pic>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13</a:t>
            </a:fld>
            <a:endParaRPr lang="en-US"/>
          </a:p>
        </p:txBody>
      </p:sp>
    </p:spTree>
    <p:extLst>
      <p:ext uri="{BB962C8B-B14F-4D97-AF65-F5344CB8AC3E}">
        <p14:creationId xmlns:p14="http://schemas.microsoft.com/office/powerpoint/2010/main" val="25729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475334097"/>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7.67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rgbClr val="000000"/>
                          </a:solidFill>
                          <a:effectLst/>
                          <a:latin typeface="MULISH BLACK ROMAN"/>
                        </a:rPr>
                        <a:t>4</a:t>
                      </a:r>
                    </a:p>
                  </a:txBody>
                  <a:tcPr marL="9525" marR="9525" marT="9525" marB="0" anchor="b">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8.67</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98672879"/>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67%</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438897821"/>
              </p:ext>
            </p:extLst>
          </p:nvPr>
        </p:nvGraphicFramePr>
        <p:xfrm>
          <a:off x="4656537" y="4156187"/>
          <a:ext cx="6179914" cy="2513061"/>
        </p:xfrm>
        <a:graphic>
          <a:graphicData uri="http://schemas.openxmlformats.org/drawingml/2006/table">
            <a:tbl>
              <a:tblPr firstRow="1" bandRow="1">
                <a:tableStyleId>{C083E6E3-FA7D-4D7B-A595-EF9225AFEA82}</a:tableStyleId>
              </a:tblPr>
              <a:tblGrid>
                <a:gridCol w="1364897">
                  <a:extLst>
                    <a:ext uri="{9D8B030D-6E8A-4147-A177-3AD203B41FA5}">
                      <a16:colId xmlns:a16="http://schemas.microsoft.com/office/drawing/2014/main" val="20000"/>
                    </a:ext>
                  </a:extLst>
                </a:gridCol>
                <a:gridCol w="924970">
                  <a:extLst>
                    <a:ext uri="{9D8B030D-6E8A-4147-A177-3AD203B41FA5}">
                      <a16:colId xmlns:a16="http://schemas.microsoft.com/office/drawing/2014/main" val="20001"/>
                    </a:ext>
                  </a:extLst>
                </a:gridCol>
                <a:gridCol w="2864419">
                  <a:extLst>
                    <a:ext uri="{9D8B030D-6E8A-4147-A177-3AD203B41FA5}">
                      <a16:colId xmlns:a16="http://schemas.microsoft.com/office/drawing/2014/main" val="4268982242"/>
                    </a:ext>
                  </a:extLst>
                </a:gridCol>
                <a:gridCol w="1025628">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14</a:t>
            </a:fld>
            <a:endParaRPr lang="en-US"/>
          </a:p>
        </p:txBody>
      </p:sp>
    </p:spTree>
    <p:extLst>
      <p:ext uri="{BB962C8B-B14F-4D97-AF65-F5344CB8AC3E}">
        <p14:creationId xmlns:p14="http://schemas.microsoft.com/office/powerpoint/2010/main" val="11040160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pic>
        <p:nvPicPr>
          <p:cNvPr id="3" name="Picture 2" descr="A group of pie charts&#10;&#10;AI-generated content may be incorrect.">
            <a:extLst>
              <a:ext uri="{FF2B5EF4-FFF2-40B4-BE49-F238E27FC236}">
                <a16:creationId xmlns:a16="http://schemas.microsoft.com/office/drawing/2014/main" id="{AD65764E-6ACA-B3FB-93E3-321E17D2FD9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3" name="Picture 2" descr="A diagram of a pie chart&#10;&#10;AI-generated content may be incorrect.">
            <a:extLst>
              <a:ext uri="{FF2B5EF4-FFF2-40B4-BE49-F238E27FC236}">
                <a16:creationId xmlns:a16="http://schemas.microsoft.com/office/drawing/2014/main" id="{9BD56634-DAF6-05D2-E49F-6D1BB407F62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16</a:t>
            </a:fld>
            <a:endParaRPr lang="en-US"/>
          </a:p>
        </p:txBody>
      </p:sp>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0111935-5CCF-3164-7956-FE2B732E2171}"/>
              </a:ext>
            </a:extLst>
          </p:cNvPr>
          <p:cNvSpPr>
            <a:spLocks noGrp="1" noRot="1" noMove="1" noResize="1" noEditPoints="1" noAdjustHandles="1" noChangeArrowheads="1" noChangeShapeType="1"/>
          </p:cNvSpPr>
          <p:nvPr/>
        </p:nvSpPr>
        <p:spPr>
          <a:xfrm>
            <a:off x="1874920" y="1060165"/>
            <a:ext cx="8684856" cy="5789904"/>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pic>
        <p:nvPicPr>
          <p:cNvPr id="7" name="Picture 6" descr="Several different types of graphs&#10;&#10;AI-generated content may be incorrect.">
            <a:extLst>
              <a:ext uri="{FF2B5EF4-FFF2-40B4-BE49-F238E27FC236}">
                <a16:creationId xmlns:a16="http://schemas.microsoft.com/office/drawing/2014/main" id="{472080D0-F0F1-91F9-3172-1F4E77EEE9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74919" y="1068095"/>
            <a:ext cx="8684857" cy="5789905"/>
          </a:xfrm>
          <a:prstGeom prst="rect">
            <a:avLst/>
          </a:prstGeom>
        </p:spPr>
      </p:pic>
      <p:sp>
        <p:nvSpPr>
          <p:cNvPr id="5" name="Slide Number Placeholder 4">
            <a:extLst>
              <a:ext uri="{FF2B5EF4-FFF2-40B4-BE49-F238E27FC236}">
                <a16:creationId xmlns:a16="http://schemas.microsoft.com/office/drawing/2014/main" id="{70464E93-9C16-5AB8-19AF-43670B2F9D05}"/>
              </a:ext>
            </a:extLst>
          </p:cNvPr>
          <p:cNvSpPr>
            <a:spLocks noGrp="1"/>
          </p:cNvSpPr>
          <p:nvPr>
            <p:ph type="sldNum" sz="quarter" idx="12"/>
          </p:nvPr>
        </p:nvSpPr>
        <p:spPr/>
        <p:txBody>
          <a:bodyPr/>
          <a:lstStyle/>
          <a:p>
            <a:fld id="{5E212BD6-99D2-4430-8307-3DFF6CB1AF68}" type="slidenum">
              <a:rPr lang="en-US" smtClean="0"/>
              <a:t>17</a:t>
            </a:fld>
            <a:endParaRPr lang="en-US"/>
          </a:p>
        </p:txBody>
      </p:sp>
    </p:spTree>
    <p:extLst>
      <p:ext uri="{BB962C8B-B14F-4D97-AF65-F5344CB8AC3E}">
        <p14:creationId xmlns:p14="http://schemas.microsoft.com/office/powerpoint/2010/main" val="40259217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3367022051"/>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200" dirty="0">
                          <a:effectLst/>
                          <a:latin typeface="MULISH REGULAR ROMAN"/>
                        </a:rPr>
                        <a:t>Roberts, Sotomayor, Kagan, Gorsuch, Kavanaugh, Barrett, Jackson</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Vanderstok; A.A.R.P v. Trump</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DOE v. VA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3384874663"/>
              </p:ext>
            </p:extLst>
          </p:nvPr>
        </p:nvGraphicFramePr>
        <p:xfrm>
          <a:off x="327329" y="2765393"/>
          <a:ext cx="11538586" cy="3515395"/>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34.9</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
        <p:nvSpPr>
          <p:cNvPr id="6" name="Slide Number Placeholder 5">
            <a:extLst>
              <a:ext uri="{FF2B5EF4-FFF2-40B4-BE49-F238E27FC236}">
                <a16:creationId xmlns:a16="http://schemas.microsoft.com/office/drawing/2014/main" id="{6F917167-D351-D9FE-0CDF-BD9E92B3FF87}"/>
              </a:ext>
            </a:extLst>
          </p:cNvPr>
          <p:cNvSpPr>
            <a:spLocks noGrp="1"/>
          </p:cNvSpPr>
          <p:nvPr>
            <p:ph type="sldNum" sz="quarter" idx="12"/>
          </p:nvPr>
        </p:nvSpPr>
        <p:spPr/>
        <p:txBody>
          <a:bodyPr/>
          <a:lstStyle/>
          <a:p>
            <a:fld id="{5E212BD6-99D2-4430-8307-3DFF6CB1AF68}" type="slidenum">
              <a:rPr lang="en-US" smtClean="0"/>
              <a:t>18</a:t>
            </a:fld>
            <a:endParaRPr lang="en-US" dirty="0"/>
          </a:p>
        </p:txBody>
      </p:sp>
      <p:sp>
        <p:nvSpPr>
          <p:cNvPr id="9" name="TextBox 8">
            <a:extLst>
              <a:ext uri="{FF2B5EF4-FFF2-40B4-BE49-F238E27FC236}">
                <a16:creationId xmlns:a16="http://schemas.microsoft.com/office/drawing/2014/main" id="{610E4D12-C6EA-6236-4D21-152B25F48D98}"/>
              </a:ext>
            </a:extLst>
          </p:cNvPr>
          <p:cNvSpPr txBox="1"/>
          <p:nvPr/>
        </p:nvSpPr>
        <p:spPr>
          <a:xfrm>
            <a:off x="5788324" y="186909"/>
            <a:ext cx="6071111" cy="553998"/>
          </a:xfrm>
          <a:prstGeom prst="rect">
            <a:avLst/>
          </a:prstGeom>
          <a:noFill/>
          <a:ln>
            <a:solidFill>
              <a:schemeClr val="tx1"/>
            </a:solidFill>
          </a:ln>
        </p:spPr>
        <p:txBody>
          <a:bodyPr wrap="square">
            <a:spAutoFit/>
          </a:bodyPr>
          <a:lstStyle/>
          <a:p>
            <a:r>
              <a:rPr lang="en-US" sz="1000" b="0" u="none" strike="noStrike" dirty="0">
                <a:solidFill>
                  <a:srgbClr val="000000"/>
                </a:solidFill>
                <a:effectLst/>
                <a:latin typeface="MULISH REGULAR ROMAN"/>
              </a:rPr>
              <a:t>* Ideological splits represent instances where Justices representing divergent ideological orientations (i.e., </a:t>
            </a:r>
            <a:r>
              <a:rPr lang="en-US" sz="1000" b="0" i="1" u="none" strike="noStrike" dirty="0">
                <a:solidFill>
                  <a:srgbClr val="000000"/>
                </a:solidFill>
                <a:effectLst/>
                <a:latin typeface="MULISH REGULAR ROMAN"/>
              </a:rPr>
              <a:t>Liberal or Conservative</a:t>
            </a:r>
            <a:r>
              <a:rPr lang="en-US" sz="1000" b="0" i="0" u="none" strike="noStrike" dirty="0">
                <a:solidFill>
                  <a:srgbClr val="000000"/>
                </a:solidFill>
                <a:effectLst/>
                <a:latin typeface="MULISH REGULAR ROMAN"/>
              </a:rPr>
              <a:t>) according to </a:t>
            </a:r>
            <a:r>
              <a:rPr lang="en-US" sz="1000" dirty="0">
                <a:latin typeface="MULISH REGULAR ROMAN"/>
              </a:rPr>
              <a:t> </a:t>
            </a:r>
            <a:r>
              <a:rPr lang="en-US" sz="1000" dirty="0">
                <a:latin typeface="MULISH REGULAR ROMAN"/>
                <a:hlinkClick r:id="rId3"/>
              </a:rPr>
              <a:t>Martin-Quinn</a:t>
            </a:r>
            <a:r>
              <a:rPr lang="en-US" sz="1000" dirty="0">
                <a:latin typeface="MULISH REGULAR ROMAN"/>
              </a:rPr>
              <a:t> populate the Majority and Dissenting Coalitions</a:t>
            </a:r>
            <a:r>
              <a:rPr lang="en-US" sz="1000" b="0" i="0" u="none" strike="noStrike" dirty="0">
                <a:solidFill>
                  <a:srgbClr val="000000"/>
                </a:solidFill>
                <a:effectLst/>
                <a:latin typeface="MULISH REGULAR ROMAN"/>
              </a:rPr>
              <a:t>. For OT10-OT19, this represents a (5-4) all-Conservative majority – Since OT20, this represents an all-Conservative (6-3) majority. </a:t>
            </a:r>
            <a:endParaRPr lang="en-US" sz="1000" dirty="0"/>
          </a:p>
        </p:txBody>
      </p:sp>
    </p:spTree>
    <p:extLst>
      <p:ext uri="{BB962C8B-B14F-4D97-AF65-F5344CB8AC3E}">
        <p14:creationId xmlns:p14="http://schemas.microsoft.com/office/powerpoint/2010/main" val="2607526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758562583"/>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b">
                    <a:lnT w="12700" cmpd="sng">
                      <a:noFill/>
                    </a:lnT>
                  </a:tcPr>
                </a:tc>
                <a:tc>
                  <a:txBody>
                    <a:bodyPr/>
                    <a:lstStyle/>
                    <a:p>
                      <a:pPr algn="ctr" fontAlgn="b"/>
                      <a:r>
                        <a:rPr lang="en-US" sz="1100" b="0" i="0" u="none" strike="noStrike" dirty="0">
                          <a:solidFill>
                            <a:srgbClr val="000000"/>
                          </a:solidFill>
                          <a:effectLst/>
                          <a:latin typeface="MULISH BLACK ROMAN"/>
                        </a:rPr>
                        <a:t>1.5%</a:t>
                      </a:r>
                    </a:p>
                  </a:txBody>
                  <a:tcPr marL="9525" marR="9525" marT="9525" marB="0" anchor="b">
                    <a:lnT w="12700" cmpd="sng">
                      <a:noFill/>
                    </a:lnT>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b">
                    <a:lnT w="12700" cmpd="sng">
                      <a:noFill/>
                    </a:lnT>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b">
                    <a:lnT w="12700" cmpd="sng">
                      <a:noFill/>
                    </a:lnT>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b">
                    <a:lnT w="12700" cmpd="sng">
                      <a:noFill/>
                    </a:lnT>
                  </a:tcPr>
                </a:tc>
                <a:tc>
                  <a:txBody>
                    <a:bodyPr/>
                    <a:lstStyle/>
                    <a:p>
                      <a:pPr algn="ctr" fontAlgn="b"/>
                      <a:r>
                        <a:rPr lang="en-US" sz="1100" b="0" i="0" u="none" strike="noStrike" dirty="0">
                          <a:solidFill>
                            <a:srgbClr val="000000"/>
                          </a:solidFill>
                          <a:effectLst/>
                          <a:latin typeface="MULISH BLACK ROMAN"/>
                        </a:rPr>
                        <a:t>100%</a:t>
                      </a:r>
                    </a:p>
                  </a:txBody>
                  <a:tcPr marL="9525" marR="9525" marT="9525" marB="0" anchor="b">
                    <a:lnT w="12700" cmpd="sng">
                      <a:noFill/>
                    </a:lnT>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b">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6</a:t>
                      </a:r>
                    </a:p>
                  </a:txBody>
                  <a:tcPr marL="9525" marR="9525" marT="9525" marB="0" anchor="b"/>
                </a:tc>
                <a:tc>
                  <a:txBody>
                    <a:bodyPr/>
                    <a:lstStyle/>
                    <a:p>
                      <a:pPr algn="ctr" fontAlgn="b"/>
                      <a:r>
                        <a:rPr lang="en-US" sz="1100" b="0" i="0" u="none" strike="noStrike" dirty="0">
                          <a:solidFill>
                            <a:srgbClr val="000000"/>
                          </a:solidFill>
                          <a:effectLst/>
                          <a:latin typeface="MULISH BLACK ROMAN"/>
                        </a:rPr>
                        <a:t>9%</a:t>
                      </a:r>
                    </a:p>
                  </a:txBody>
                  <a:tcPr marL="9525" marR="9525" marT="9525" marB="0" anchor="b"/>
                </a:tc>
                <a:tc>
                  <a:txBody>
                    <a:bodyPr/>
                    <a:lstStyle/>
                    <a:p>
                      <a:pPr algn="ctr" fontAlgn="b"/>
                      <a:r>
                        <a:rPr lang="en-US" sz="1100" b="0" i="0" u="none" strike="noStrike" dirty="0">
                          <a:solidFill>
                            <a:srgbClr val="000000"/>
                          </a:solidFill>
                          <a:effectLst/>
                          <a:latin typeface="MULISH BLACK ROMAN"/>
                        </a:rPr>
                        <a:t>5</a:t>
                      </a:r>
                    </a:p>
                  </a:txBody>
                  <a:tcPr marL="9525" marR="9525" marT="9525" marB="0" anchor="b"/>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60%</a:t>
                      </a:r>
                    </a:p>
                  </a:txBody>
                  <a:tcPr marL="9525" marR="9525" marT="9525" marB="0" anchor="b"/>
                </a:tc>
                <a:tc>
                  <a:txBody>
                    <a:bodyPr/>
                    <a:lstStyle/>
                    <a:p>
                      <a:pPr algn="ctr" fontAlgn="b"/>
                      <a:r>
                        <a:rPr lang="en-US" sz="1100" b="0" i="0" u="none" strike="noStrike" dirty="0">
                          <a:solidFill>
                            <a:srgbClr val="000000"/>
                          </a:solidFill>
                          <a:effectLst/>
                          <a:latin typeface="MULISH BLACK ROMAN"/>
                        </a:rPr>
                        <a:t>40%</a:t>
                      </a:r>
                    </a:p>
                  </a:txBody>
                  <a:tcPr marL="9525" marR="9525" marT="9525" marB="0" anchor="b"/>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100%</a:t>
                      </a:r>
                    </a:p>
                  </a:txBody>
                  <a:tcPr marL="9525" marR="9525" marT="9525" marB="0" anchor="b"/>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8</a:t>
                      </a:r>
                    </a:p>
                  </a:txBody>
                  <a:tcPr marL="9525" marR="9525" marT="9525" marB="0" anchor="b"/>
                </a:tc>
                <a:tc>
                  <a:txBody>
                    <a:bodyPr/>
                    <a:lstStyle/>
                    <a:p>
                      <a:pPr algn="ctr" fontAlgn="b"/>
                      <a:r>
                        <a:rPr lang="en-US" sz="1100" b="0" i="0" u="none" strike="noStrike" dirty="0">
                          <a:solidFill>
                            <a:srgbClr val="000000"/>
                          </a:solidFill>
                          <a:effectLst/>
                          <a:latin typeface="MULISH BLACK ROMAN"/>
                        </a:rPr>
                        <a:t>11.9%</a:t>
                      </a:r>
                    </a:p>
                  </a:txBody>
                  <a:tcPr marL="9525" marR="9525" marT="9525" marB="0" anchor="b"/>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100%</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13</a:t>
                      </a:r>
                    </a:p>
                  </a:txBody>
                  <a:tcPr marL="9525" marR="9525" marT="9525" marB="0" anchor="b"/>
                </a:tc>
                <a:tc>
                  <a:txBody>
                    <a:bodyPr/>
                    <a:lstStyle/>
                    <a:p>
                      <a:pPr algn="ctr" fontAlgn="b"/>
                      <a:r>
                        <a:rPr lang="en-US" sz="1100" b="0" i="0" u="none" strike="noStrike" dirty="0">
                          <a:solidFill>
                            <a:srgbClr val="000000"/>
                          </a:solidFill>
                          <a:effectLst/>
                          <a:latin typeface="MULISH BLACK ROMAN"/>
                        </a:rPr>
                        <a:t>19.4%</a:t>
                      </a:r>
                    </a:p>
                  </a:txBody>
                  <a:tcPr marL="9525" marR="9525" marT="9525" marB="0" anchor="b"/>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100%</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4</a:t>
                      </a:r>
                    </a:p>
                  </a:txBody>
                  <a:tcPr marL="9525" marR="9525" marT="9525" marB="0" anchor="b"/>
                </a:tc>
                <a:tc>
                  <a:txBody>
                    <a:bodyPr/>
                    <a:lstStyle/>
                    <a:p>
                      <a:pPr algn="ctr" fontAlgn="b"/>
                      <a:r>
                        <a:rPr lang="en-US" sz="1100" b="0" i="0" u="none" strike="noStrike" dirty="0">
                          <a:solidFill>
                            <a:srgbClr val="000000"/>
                          </a:solidFill>
                          <a:effectLst/>
                          <a:latin typeface="MULISH BLACK ROMAN"/>
                        </a:rPr>
                        <a:t>6%</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100%</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50%</a:t>
                      </a:r>
                    </a:p>
                  </a:txBody>
                  <a:tcPr marL="9525" marR="9525" marT="9525" marB="0" anchor="b"/>
                </a:tc>
                <a:tc>
                  <a:txBody>
                    <a:bodyPr/>
                    <a:lstStyle/>
                    <a:p>
                      <a:pPr algn="ctr" fontAlgn="b"/>
                      <a:r>
                        <a:rPr lang="en-US" sz="1100" b="0" i="0" u="none" strike="noStrike" dirty="0">
                          <a:solidFill>
                            <a:srgbClr val="000000"/>
                          </a:solidFill>
                          <a:effectLst/>
                          <a:latin typeface="MULISH BLACK ROMAN"/>
                        </a:rPr>
                        <a:t>50%</a:t>
                      </a:r>
                    </a:p>
                  </a:txBody>
                  <a:tcPr marL="9525" marR="9525" marT="9525" marB="0" anchor="b"/>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100%</a:t>
                      </a:r>
                    </a:p>
                  </a:txBody>
                  <a:tcPr marL="9525" marR="9525" marT="9525" marB="0" anchor="b"/>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6</a:t>
                      </a:r>
                    </a:p>
                  </a:txBody>
                  <a:tcPr marL="9525" marR="9525" marT="9525" marB="0" anchor="b"/>
                </a:tc>
                <a:tc>
                  <a:txBody>
                    <a:bodyPr/>
                    <a:lstStyle/>
                    <a:p>
                      <a:pPr algn="ctr" fontAlgn="b"/>
                      <a:r>
                        <a:rPr lang="en-US" sz="1100" b="0" i="0" u="none" strike="noStrike" dirty="0">
                          <a:solidFill>
                            <a:srgbClr val="000000"/>
                          </a:solidFill>
                          <a:effectLst/>
                          <a:latin typeface="MULISH BLACK ROMAN"/>
                        </a:rPr>
                        <a:t>9%</a:t>
                      </a:r>
                    </a:p>
                  </a:txBody>
                  <a:tcPr marL="9525" marR="9525" marT="9525" marB="0" anchor="b"/>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100%</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4</a:t>
                      </a:r>
                    </a:p>
                  </a:txBody>
                  <a:tcPr marL="9525" marR="9525" marT="9525" marB="0" anchor="b"/>
                </a:tc>
                <a:tc>
                  <a:txBody>
                    <a:bodyPr/>
                    <a:lstStyle/>
                    <a:p>
                      <a:pPr algn="ctr" fontAlgn="b"/>
                      <a:r>
                        <a:rPr lang="en-US" sz="1100" b="0" i="0" u="none" strike="noStrike" dirty="0">
                          <a:solidFill>
                            <a:srgbClr val="000000"/>
                          </a:solidFill>
                          <a:effectLst/>
                          <a:latin typeface="MULISH BLACK ROMAN"/>
                        </a:rPr>
                        <a:t>6%</a:t>
                      </a:r>
                    </a:p>
                  </a:txBody>
                  <a:tcPr marL="9525" marR="9525" marT="9525" marB="0" anchor="b"/>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100%</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4</a:t>
                      </a:r>
                    </a:p>
                  </a:txBody>
                  <a:tcPr marL="9525" marR="9525" marT="9525" marB="0" anchor="b"/>
                </a:tc>
                <a:tc>
                  <a:txBody>
                    <a:bodyPr/>
                    <a:lstStyle/>
                    <a:p>
                      <a:pPr algn="ctr" fontAlgn="b"/>
                      <a:r>
                        <a:rPr lang="en-US" sz="1100" b="0" i="0" u="none" strike="noStrike" dirty="0">
                          <a:solidFill>
                            <a:srgbClr val="000000"/>
                          </a:solidFill>
                          <a:effectLst/>
                          <a:latin typeface="MULISH BLACK ROMAN"/>
                        </a:rPr>
                        <a:t>6%</a:t>
                      </a:r>
                    </a:p>
                  </a:txBody>
                  <a:tcPr marL="9525" marR="9525" marT="9525" marB="0" anchor="b"/>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50%</a:t>
                      </a:r>
                    </a:p>
                  </a:txBody>
                  <a:tcPr marL="9525" marR="9525" marT="9525" marB="0" anchor="b"/>
                </a:tc>
                <a:tc>
                  <a:txBody>
                    <a:bodyPr/>
                    <a:lstStyle/>
                    <a:p>
                      <a:pPr algn="ctr" fontAlgn="b"/>
                      <a:r>
                        <a:rPr lang="en-US" sz="1100" b="0" i="0" u="none" strike="noStrike" dirty="0">
                          <a:solidFill>
                            <a:srgbClr val="000000"/>
                          </a:solidFill>
                          <a:effectLst/>
                          <a:latin typeface="MULISH BLACK ROMAN"/>
                        </a:rPr>
                        <a:t>50%</a:t>
                      </a:r>
                    </a:p>
                  </a:txBody>
                  <a:tcPr marL="9525" marR="9525" marT="9525" marB="0" anchor="b"/>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5</a:t>
                      </a:r>
                    </a:p>
                  </a:txBody>
                  <a:tcPr marL="9525" marR="9525" marT="9525" marB="0" anchor="b"/>
                </a:tc>
                <a:tc>
                  <a:txBody>
                    <a:bodyPr/>
                    <a:lstStyle/>
                    <a:p>
                      <a:pPr algn="ctr" fontAlgn="b"/>
                      <a:r>
                        <a:rPr lang="en-US" sz="1100" b="0" i="0" u="none" strike="noStrike" dirty="0">
                          <a:solidFill>
                            <a:srgbClr val="000000"/>
                          </a:solidFill>
                          <a:effectLst/>
                          <a:latin typeface="MULISH BLACK ROMAN"/>
                        </a:rPr>
                        <a:t>7.5%</a:t>
                      </a:r>
                    </a:p>
                  </a:txBody>
                  <a:tcPr marL="9525" marR="9525" marT="9525" marB="0" anchor="b"/>
                </a:tc>
                <a:tc>
                  <a:txBody>
                    <a:bodyPr/>
                    <a:lstStyle/>
                    <a:p>
                      <a:pPr algn="ctr" fontAlgn="b"/>
                      <a:r>
                        <a:rPr lang="en-US" sz="1100" b="0" i="0" u="none" strike="noStrike" dirty="0">
                          <a:solidFill>
                            <a:srgbClr val="000000"/>
                          </a:solidFill>
                          <a:effectLst/>
                          <a:latin typeface="MULISH BLACK ROMAN"/>
                        </a:rPr>
                        <a:t>4</a:t>
                      </a:r>
                    </a:p>
                  </a:txBody>
                  <a:tcPr marL="9525" marR="9525" marT="9525" marB="0" anchor="b"/>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50%</a:t>
                      </a:r>
                    </a:p>
                  </a:txBody>
                  <a:tcPr marL="9525" marR="9525" marT="9525" marB="0" anchor="b"/>
                </a:tc>
                <a:tc>
                  <a:txBody>
                    <a:bodyPr/>
                    <a:lstStyle/>
                    <a:p>
                      <a:pPr algn="ctr" fontAlgn="b"/>
                      <a:r>
                        <a:rPr lang="en-US" sz="1100" b="0" i="0" u="none" strike="noStrike" dirty="0">
                          <a:solidFill>
                            <a:srgbClr val="000000"/>
                          </a:solidFill>
                          <a:effectLst/>
                          <a:latin typeface="MULISH BLACK ROMAN"/>
                        </a:rPr>
                        <a:t>50%</a:t>
                      </a:r>
                    </a:p>
                  </a:txBody>
                  <a:tcPr marL="9525" marR="9525" marT="9525" marB="0" anchor="b"/>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4.5%</a:t>
                      </a:r>
                    </a:p>
                  </a:txBody>
                  <a:tcPr marL="9525" marR="9525" marT="9525" marB="0" anchor="b"/>
                </a:tc>
                <a:tc>
                  <a:txBody>
                    <a:bodyPr/>
                    <a:lstStyle/>
                    <a:p>
                      <a:pPr algn="ctr" fontAlgn="b"/>
                      <a:r>
                        <a:rPr lang="en-US" sz="1100" b="0" i="0" u="none" strike="noStrike" dirty="0">
                          <a:solidFill>
                            <a:srgbClr val="000000"/>
                          </a:solidFill>
                          <a:effectLst/>
                          <a:latin typeface="MULISH BLACK ROMAN"/>
                        </a:rPr>
                        <a:t>2</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50%</a:t>
                      </a:r>
                    </a:p>
                  </a:txBody>
                  <a:tcPr marL="9525" marR="9525" marT="9525" marB="0" anchor="b"/>
                </a:tc>
                <a:tc>
                  <a:txBody>
                    <a:bodyPr/>
                    <a:lstStyle/>
                    <a:p>
                      <a:pPr algn="ctr" fontAlgn="b"/>
                      <a:r>
                        <a:rPr lang="en-US" sz="1100" b="0" i="0" u="none" strike="noStrike" dirty="0">
                          <a:solidFill>
                            <a:srgbClr val="000000"/>
                          </a:solidFill>
                          <a:effectLst/>
                          <a:latin typeface="MULISH BLACK ROMAN"/>
                        </a:rPr>
                        <a:t>50%</a:t>
                      </a:r>
                    </a:p>
                  </a:txBody>
                  <a:tcPr marL="9525" marR="9525" marT="9525" marB="0" anchor="b"/>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4</a:t>
                      </a:r>
                    </a:p>
                  </a:txBody>
                  <a:tcPr marL="9525" marR="9525" marT="9525" marB="0" anchor="b"/>
                </a:tc>
                <a:tc>
                  <a:txBody>
                    <a:bodyPr/>
                    <a:lstStyle/>
                    <a:p>
                      <a:pPr algn="ctr" fontAlgn="b"/>
                      <a:r>
                        <a:rPr lang="en-US" sz="1100" b="0" i="0" u="none" strike="noStrike" dirty="0">
                          <a:solidFill>
                            <a:srgbClr val="000000"/>
                          </a:solidFill>
                          <a:effectLst/>
                          <a:latin typeface="MULISH BLACK ROMAN"/>
                        </a:rPr>
                        <a:t>6%</a:t>
                      </a:r>
                    </a:p>
                  </a:txBody>
                  <a:tcPr marL="9525" marR="9525" marT="9525" marB="0" anchor="b"/>
                </a:tc>
                <a:tc>
                  <a:txBody>
                    <a:bodyPr/>
                    <a:lstStyle/>
                    <a:p>
                      <a:pPr algn="ctr" fontAlgn="b"/>
                      <a:r>
                        <a:rPr lang="en-US" sz="1100" b="0" i="0" u="none" strike="noStrike" dirty="0">
                          <a:solidFill>
                            <a:srgbClr val="000000"/>
                          </a:solidFill>
                          <a:effectLst/>
                          <a:latin typeface="MULISH BLACK ROMAN"/>
                        </a:rPr>
                        <a:t>4</a:t>
                      </a:r>
                    </a:p>
                  </a:txBody>
                  <a:tcPr marL="9525" marR="9525" marT="9525" marB="0" anchor="b"/>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1</a:t>
                      </a:r>
                    </a:p>
                  </a:txBody>
                  <a:tcPr marL="9525" marR="9525" marT="9525" marB="0" anchor="b"/>
                </a:tc>
                <a:tc>
                  <a:txBody>
                    <a:bodyPr/>
                    <a:lstStyle/>
                    <a:p>
                      <a:pPr algn="ctr" fontAlgn="b"/>
                      <a:r>
                        <a:rPr lang="en-US" sz="1100" b="0" i="0" u="none" strike="noStrike" dirty="0">
                          <a:solidFill>
                            <a:srgbClr val="000000"/>
                          </a:solidFill>
                          <a:effectLst/>
                          <a:latin typeface="MULISH BLACK ROMAN"/>
                        </a:rPr>
                        <a:t>75%</a:t>
                      </a:r>
                    </a:p>
                  </a:txBody>
                  <a:tcPr marL="9525" marR="9525" marT="9525" marB="0" anchor="b"/>
                </a:tc>
                <a:tc>
                  <a:txBody>
                    <a:bodyPr/>
                    <a:lstStyle/>
                    <a:p>
                      <a:pPr algn="ctr" fontAlgn="b"/>
                      <a:r>
                        <a:rPr lang="en-US" sz="1100" b="0" i="0" u="none" strike="noStrike" dirty="0">
                          <a:solidFill>
                            <a:srgbClr val="000000"/>
                          </a:solidFill>
                          <a:effectLst/>
                          <a:latin typeface="MULISH BLACK ROMAN"/>
                        </a:rPr>
                        <a:t>25%</a:t>
                      </a:r>
                    </a:p>
                  </a:txBody>
                  <a:tcPr marL="9525" marR="9525" marT="9525" marB="0" anchor="b"/>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3</a:t>
                      </a:r>
                    </a:p>
                  </a:txBody>
                  <a:tcPr marL="9525" marR="9525" marT="9525" marB="0" anchor="b"/>
                </a:tc>
                <a:tc>
                  <a:txBody>
                    <a:bodyPr/>
                    <a:lstStyle/>
                    <a:p>
                      <a:pPr algn="ctr" fontAlgn="b"/>
                      <a:r>
                        <a:rPr lang="en-US" sz="1100" b="0" i="0" u="none" strike="noStrike" dirty="0">
                          <a:solidFill>
                            <a:srgbClr val="000000"/>
                          </a:solidFill>
                          <a:effectLst/>
                          <a:latin typeface="MULISH BLACK ROMAN"/>
                        </a:rPr>
                        <a:t>4.5%</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r>
                        <a:rPr lang="en-US" sz="1100" b="0" i="0" u="none" strike="noStrike" dirty="0">
                          <a:solidFill>
                            <a:srgbClr val="000000"/>
                          </a:solidFill>
                          <a:effectLst/>
                          <a:latin typeface="MULISH BLACK ROMAN"/>
                        </a:rPr>
                        <a:t>0</a:t>
                      </a:r>
                    </a:p>
                  </a:txBody>
                  <a:tcPr marL="9525" marR="9525" marT="9525" marB="0" anchor="b"/>
                </a:tc>
                <a:tc>
                  <a:txBody>
                    <a:bodyPr/>
                    <a:lstStyle/>
                    <a:p>
                      <a:pPr algn="ctr" fontAlgn="b"/>
                      <a:endParaRPr lang="en-US" sz="1100" b="0" i="0" u="none" strike="noStrike" dirty="0">
                        <a:solidFill>
                          <a:srgbClr val="000000"/>
                        </a:solidFill>
                        <a:effectLst/>
                        <a:latin typeface="MULISH BLACK ROMAN"/>
                      </a:endParaRPr>
                    </a:p>
                  </a:txBody>
                  <a:tcPr marL="9525" marR="9525" marT="9525" marB="0" anchor="b"/>
                </a:tc>
                <a:tc>
                  <a:txBody>
                    <a:bodyPr/>
                    <a:lstStyle/>
                    <a:p>
                      <a:pPr algn="ctr" fontAlgn="b"/>
                      <a:endParaRPr lang="en-US" sz="1100" b="0" i="0" u="none" strike="noStrike" dirty="0">
                        <a:solidFill>
                          <a:srgbClr val="000000"/>
                        </a:solidFill>
                        <a:effectLst/>
                        <a:latin typeface="MULISH BLACK ROMAN"/>
                      </a:endParaRPr>
                    </a:p>
                  </a:txBody>
                  <a:tcPr marL="9525" marR="9525" marT="9525" marB="0" anchor="b"/>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4718649" y="128140"/>
            <a:ext cx="6762151" cy="707886"/>
          </a:xfrm>
          <a:prstGeom prst="rect">
            <a:avLst/>
          </a:prstGeom>
          <a:noFill/>
          <a:ln>
            <a:solidFill>
              <a:schemeClr val="tx1"/>
            </a:solidFill>
          </a:ln>
        </p:spPr>
        <p:txBody>
          <a:bodyPr wrap="square" rtlCol="0">
            <a:spAutoFit/>
          </a:bodyPr>
          <a:lstStyle/>
          <a:p>
            <a:r>
              <a:rPr lang="en-US" sz="1000" dirty="0">
                <a:latin typeface="MULISH BLACK ROMAN"/>
                <a:cs typeface="Calibri" panose="020F0502020204030204"/>
              </a:rPr>
              <a:t>For the Circuit Scorecard, we treat consolidated cases emerging from different courts below as separate entries. For example, a consolidated case emerging from conflicting decisions in the Fifth and Ninth U.S. Circuit Courts of Appeal are coded as two independent entries. Alternatively, consolidated cases emerging from the same court below (e.g., both emerging from the Fifth Circuit) are treated as a single entry.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19</a:t>
            </a:fld>
            <a:endParaRPr lang="en-US"/>
          </a:p>
        </p:txBody>
      </p:sp>
    </p:spTree>
    <p:extLst>
      <p:ext uri="{BB962C8B-B14F-4D97-AF65-F5344CB8AC3E}">
        <p14:creationId xmlns:p14="http://schemas.microsoft.com/office/powerpoint/2010/main" val="10335373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2745200703"/>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Seven County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MULISH BLACK ROMAN"/>
                        </a:rPr>
                        <a:t>Kouisisis</a:t>
                      </a:r>
                      <a:endParaRPr lang="en-US" sz="1100" b="0" i="1" u="none" strike="noStrike" dirty="0">
                        <a:solidFill>
                          <a:srgbClr val="000000"/>
                        </a:solidFill>
                        <a:effectLst/>
                        <a:latin typeface="MULISH BLACK ROMAN"/>
                      </a:endParaRP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165</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12/09/2024</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05/22/2025</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2779489319"/>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122</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93.5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158.33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170.33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90.67</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446550"/>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pic>
        <p:nvPicPr>
          <p:cNvPr id="7" name="Picture 6" descr="A graph with numbers and lines&#10;&#10;AI-generated content may be incorrect.">
            <a:extLst>
              <a:ext uri="{FF2B5EF4-FFF2-40B4-BE49-F238E27FC236}">
                <a16:creationId xmlns:a16="http://schemas.microsoft.com/office/drawing/2014/main" id="{E3409D07-E0AA-D3C4-90BB-9665068206A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96000" y="794442"/>
            <a:ext cx="5258165" cy="3129551"/>
          </a:xfrm>
          <a:prstGeom prst="rect">
            <a:avLst/>
          </a:prstGeom>
        </p:spPr>
      </p:pic>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20</a:t>
            </a:fld>
            <a:endParaRPr lang="en-US"/>
          </a:p>
        </p:txBody>
      </p:sp>
    </p:spTree>
    <p:extLst>
      <p:ext uri="{BB962C8B-B14F-4D97-AF65-F5344CB8AC3E}">
        <p14:creationId xmlns:p14="http://schemas.microsoft.com/office/powerpoint/2010/main" val="6050187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858621578"/>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CC/Devas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4" name="Picture 3" descr="A graph with different colored squares&#10;&#10;AI-generated content may be incorrect.">
            <a:extLst>
              <a:ext uri="{FF2B5EF4-FFF2-40B4-BE49-F238E27FC236}">
                <a16:creationId xmlns:a16="http://schemas.microsoft.com/office/drawing/2014/main" id="{A1A87933-5D5D-6A24-6C3D-6F179C2C055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3" y="1035392"/>
            <a:ext cx="9604086" cy="4802043"/>
          </a:xfrm>
          <a:prstGeom prst="rect">
            <a:avLst/>
          </a:prstGeom>
        </p:spPr>
      </p:pic>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22</a:t>
            </a:fld>
            <a:endParaRPr lang="en-US"/>
          </a:p>
        </p:txBody>
      </p:sp>
    </p:spTree>
    <p:extLst>
      <p:ext uri="{BB962C8B-B14F-4D97-AF65-F5344CB8AC3E}">
        <p14:creationId xmlns:p14="http://schemas.microsoft.com/office/powerpoint/2010/main" val="41628591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845C80D-8C0C-274C-7C9C-C0B644388436}"/>
              </a:ext>
            </a:extLst>
          </p:cNvPr>
          <p:cNvSpPr>
            <a:spLocks/>
          </p:cNvSpPr>
          <p:nvPr/>
        </p:nvSpPr>
        <p:spPr>
          <a:xfrm>
            <a:off x="5384800" y="230909"/>
            <a:ext cx="6046595" cy="3540280"/>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1656288459"/>
              </p:ext>
            </p:extLst>
          </p:nvPr>
        </p:nvGraphicFramePr>
        <p:xfrm>
          <a:off x="288396" y="3902035"/>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Laboratory Corp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06/05/2025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115072971"/>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5050.73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3907.4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3446.55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3476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3824.88</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2441.4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3888.17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2912.5</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459192" y="1123062"/>
            <a:ext cx="1846054"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536830" y="1415450"/>
            <a:ext cx="1690777" cy="1277273"/>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pic>
        <p:nvPicPr>
          <p:cNvPr id="5" name="Picture 4" descr="A graph of different types of graphs&#10;&#10;AI-generated content may be incorrect.">
            <a:extLst>
              <a:ext uri="{FF2B5EF4-FFF2-40B4-BE49-F238E27FC236}">
                <a16:creationId xmlns:a16="http://schemas.microsoft.com/office/drawing/2014/main" id="{CDE99BBF-7F0D-DB74-83BA-2DCE4D0D09E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82884" y="200551"/>
            <a:ext cx="6046595" cy="3570638"/>
          </a:xfrm>
          <a:prstGeom prst="rect">
            <a:avLst/>
          </a:prstGeom>
        </p:spPr>
      </p:pic>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23</a:t>
            </a:fld>
            <a:endParaRPr lang="en-US"/>
          </a:p>
        </p:txBody>
      </p:sp>
    </p:spTree>
    <p:extLst>
      <p:ext uri="{BB962C8B-B14F-4D97-AF65-F5344CB8AC3E}">
        <p14:creationId xmlns:p14="http://schemas.microsoft.com/office/powerpoint/2010/main" val="5787724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36459982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24</a:t>
            </a:fld>
            <a:endParaRPr lang="en-US"/>
          </a:p>
        </p:txBody>
      </p:sp>
    </p:spTree>
    <p:extLst>
      <p:ext uri="{BB962C8B-B14F-4D97-AF65-F5344CB8AC3E}">
        <p14:creationId xmlns:p14="http://schemas.microsoft.com/office/powerpoint/2010/main" val="6198849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95250619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25</a:t>
            </a:fld>
            <a:endParaRPr lang="en-US"/>
          </a:p>
        </p:txBody>
      </p:sp>
    </p:spTree>
    <p:extLst>
      <p:ext uri="{BB962C8B-B14F-4D97-AF65-F5344CB8AC3E}">
        <p14:creationId xmlns:p14="http://schemas.microsoft.com/office/powerpoint/2010/main" val="33742460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59795699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Counties</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a:t>* Oklahoma </a:t>
            </a:r>
            <a:r>
              <a:rPr lang="en-US" sz="1100" i="1" dirty="0"/>
              <a:t>Charter Schools v. Drummond </a:t>
            </a:r>
            <a:r>
              <a:rPr lang="en-US" sz="1100" dirty="0"/>
              <a:t>was decided </a:t>
            </a:r>
            <a:r>
              <a:rPr lang="en-US" sz="1100" i="1" dirty="0"/>
              <a:t>Per 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26</a:t>
            </a:fld>
            <a:endParaRPr lang="en-US"/>
          </a:p>
        </p:txBody>
      </p:sp>
    </p:spTree>
    <p:extLst>
      <p:ext uri="{BB962C8B-B14F-4D97-AF65-F5344CB8AC3E}">
        <p14:creationId xmlns:p14="http://schemas.microsoft.com/office/powerpoint/2010/main" val="1610198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27</a:t>
            </a:fld>
            <a:endParaRPr lang="en-US"/>
          </a:p>
        </p:txBody>
      </p:sp>
    </p:spTree>
    <p:extLst>
      <p:ext uri="{BB962C8B-B14F-4D97-AF65-F5344CB8AC3E}">
        <p14:creationId xmlns:p14="http://schemas.microsoft.com/office/powerpoint/2010/main" val="18556569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595401598"/>
              </p:ext>
            </p:extLst>
          </p:nvPr>
        </p:nvGraphicFramePr>
        <p:xfrm>
          <a:off x="304798" y="765227"/>
          <a:ext cx="11492145" cy="6056418"/>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8">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44314">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28</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26336</TotalTime>
  <Words>3974</Words>
  <Application>Microsoft Office PowerPoint</Application>
  <PresentationFormat>Widescreen</PresentationFormat>
  <Paragraphs>1453</Paragraphs>
  <Slides>28</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10,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301</cp:revision>
  <cp:lastPrinted>2019-06-28T21:02:00Z</cp:lastPrinted>
  <dcterms:created xsi:type="dcterms:W3CDTF">2019-02-07T19:44:00Z</dcterms:created>
  <dcterms:modified xsi:type="dcterms:W3CDTF">2025-06-10T16:53:38Z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