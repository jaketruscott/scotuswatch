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handoutMasterIdLst>
    <p:handoutMasterId r:id="rId31"/>
  </p:handoutMasterIdLst>
  <p:sldIdLst>
    <p:sldId id="392" r:id="rId2"/>
    <p:sldId id="269" r:id="rId3"/>
    <p:sldId id="393" r:id="rId4"/>
    <p:sldId id="391" r:id="rId5"/>
    <p:sldId id="345" r:id="rId6"/>
    <p:sldId id="411" r:id="rId7"/>
    <p:sldId id="404" r:id="rId8"/>
    <p:sldId id="395" r:id="rId9"/>
    <p:sldId id="407" r:id="rId10"/>
    <p:sldId id="396" r:id="rId11"/>
    <p:sldId id="413" r:id="rId12"/>
    <p:sldId id="324" r:id="rId13"/>
    <p:sldId id="383" r:id="rId14"/>
    <p:sldId id="340" r:id="rId15"/>
    <p:sldId id="406" r:id="rId16"/>
    <p:sldId id="381" r:id="rId17"/>
    <p:sldId id="390" r:id="rId18"/>
    <p:sldId id="299" r:id="rId19"/>
    <p:sldId id="414" r:id="rId20"/>
    <p:sldId id="343" r:id="rId21"/>
    <p:sldId id="412" r:id="rId22"/>
    <p:sldId id="415" r:id="rId23"/>
    <p:sldId id="398" r:id="rId24"/>
    <p:sldId id="399" r:id="rId25"/>
    <p:sldId id="400" r:id="rId26"/>
    <p:sldId id="401" r:id="rId27"/>
    <p:sldId id="416" r:id="rId28"/>
    <p:sldId id="402"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413"/>
            <p14:sldId id="324"/>
            <p14:sldId id="383"/>
            <p14:sldId id="340"/>
            <p14:sldId id="406"/>
            <p14:sldId id="381"/>
            <p14:sldId id="390"/>
            <p14:sldId id="299"/>
            <p14:sldId id="414"/>
            <p14:sldId id="343"/>
            <p14:sldId id="412"/>
            <p14:sldId id="415"/>
            <p14:sldId id="398"/>
            <p14:sldId id="399"/>
            <p14:sldId id="400"/>
            <p14:sldId id="401"/>
            <p14:sldId id="416"/>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D0CECE"/>
    <a:srgbClr val="FFFFFF"/>
    <a:srgbClr val="5B9BD5"/>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509" autoAdjust="0"/>
    <p:restoredTop sz="93220" autoAdjust="0"/>
  </p:normalViewPr>
  <p:slideViewPr>
    <p:cSldViewPr snapToGrid="0">
      <p:cViewPr varScale="1">
        <p:scale>
          <a:sx n="107" d="100"/>
          <a:sy n="107" d="100"/>
        </p:scale>
        <p:origin x="984" y="10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6/26/2025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6/26/2025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19</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270274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626B0-9FA2-B25B-45C1-0643DDB99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8D297-41AF-8233-FB75-665F598DE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ACE5C-C44E-FBA9-59AE-264455420B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959D40-C205-23B2-931A-4664C7D448F1}"/>
              </a:ext>
            </a:extLst>
          </p:cNvPr>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99575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27,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627018597"/>
              </p:ext>
            </p:extLst>
          </p:nvPr>
        </p:nvGraphicFramePr>
        <p:xfrm>
          <a:off x="304800" y="923675"/>
          <a:ext cx="11582400" cy="45864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Opinions of the Court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a:t>
                      </a:r>
                      <a:r>
                        <a:rPr lang="en-US" sz="1400">
                          <a:latin typeface="MULISH BLACK ROMAN"/>
                        </a:rPr>
                        <a:t>the Majority </a:t>
                      </a:r>
                      <a:r>
                        <a:rPr lang="en-US" sz="1400" dirty="0">
                          <a:latin typeface="MULISH BLACK ROMAN"/>
                        </a:rPr>
                        <a:t>(All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a:t>
                      </a:r>
                      <a:r>
                        <a:rPr lang="en-US" sz="1400">
                          <a:latin typeface="MULISH BLACK ROMAN"/>
                        </a:rPr>
                        <a:t>the Majority </a:t>
                      </a:r>
                      <a:r>
                        <a:rPr lang="en-US" sz="1400" dirty="0">
                          <a:latin typeface="MULISH BLACK ROMAN"/>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a:solidFill>
                  <a:srgbClr val="A90404"/>
                </a:solidFill>
                <a:latin typeface="MULISH BOLD ROMAN" pitchFamily="2" charset="77"/>
              </a:rPr>
              <a:t>TOTAL OPINIONS OVER TIME</a:t>
            </a:r>
            <a:endParaRPr lang="en-US" sz="3600" dirty="0">
              <a:solidFill>
                <a:srgbClr val="A90404"/>
              </a:solidFill>
              <a:latin typeface="MULISH BOLD ROMAN" pitchFamily="2" charset="77"/>
            </a:endParaRP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a:t>
            </a:r>
            <a:r>
              <a:rPr lang="en-US" sz="1200" i="1" dirty="0" err="1">
                <a:latin typeface="MULISH REGULAR ROMAN"/>
              </a:rPr>
              <a:t>curiam</a:t>
            </a:r>
            <a:r>
              <a:rPr lang="en-US" sz="1200" dirty="0">
                <a:latin typeface="MULISH REGULAR ROMAN"/>
              </a:rPr>
              <a:t> are coded as a majority opinion, while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both coded as concurrences. </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dirty="0"/>
          </a:p>
        </p:txBody>
      </p:sp>
      <p:sp>
        <p:nvSpPr>
          <p:cNvPr id="4" name="TextBox 3">
            <a:extLst>
              <a:ext uri="{FF2B5EF4-FFF2-40B4-BE49-F238E27FC236}">
                <a16:creationId xmlns:a16="http://schemas.microsoft.com/office/drawing/2014/main" id="{5DBF1D46-C7EC-10E8-7883-4F62A4250A19}"/>
              </a:ext>
            </a:extLst>
          </p:cNvPr>
          <p:cNvSpPr txBox="1"/>
          <p:nvPr/>
        </p:nvSpPr>
        <p:spPr>
          <a:xfrm>
            <a:off x="7080449" y="212390"/>
            <a:ext cx="4273351" cy="600164"/>
          </a:xfrm>
          <a:prstGeom prst="rect">
            <a:avLst/>
          </a:prstGeom>
          <a:noFill/>
          <a:ln>
            <a:solidFill>
              <a:schemeClr val="tx1"/>
            </a:solidFill>
          </a:ln>
        </p:spPr>
        <p:txBody>
          <a:bodyPr wrap="square">
            <a:spAutoFit/>
          </a:bodyPr>
          <a:lstStyle/>
          <a:p>
            <a:r>
              <a:rPr lang="en-US" sz="1100" dirty="0">
                <a:latin typeface="MULISH REGULAR ROMAN"/>
              </a:rPr>
              <a:t>Please note that the Stat Pack only focuses on “Opinions of the Court” and not "Opinions Relating to Orders," the latter which includes several of the cases on the so-called emergency/shadow docket</a:t>
            </a:r>
            <a:endParaRPr lang="en-US" sz="1100" dirty="0"/>
          </a:p>
        </p:txBody>
      </p:sp>
      <p:pic>
        <p:nvPicPr>
          <p:cNvPr id="9" name="Picture 8" descr="A graph of different colored bars&#10;&#10;AI-generated content may be incorrect.">
            <a:extLst>
              <a:ext uri="{FF2B5EF4-FFF2-40B4-BE49-F238E27FC236}">
                <a16:creationId xmlns:a16="http://schemas.microsoft.com/office/drawing/2014/main" id="{2BD08AF5-DFB5-20ED-7D5D-54C70C2C23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OPINIONS OF THE COURT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15503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OPINIONS OF THE COURT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816042712"/>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Velazquez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dirty="0">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dirty="0">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Misleading vs. false statements under §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dirty="0">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r>
              <a:rPr lang="en-US" sz="1200" dirty="0">
                <a:solidFill>
                  <a:srgbClr val="FF0000"/>
                </a:solidFill>
              </a:rPr>
              <a:t>Dashed red </a:t>
            </a:r>
            <a:r>
              <a:rPr lang="en-US" sz="1200" dirty="0"/>
              <a:t>line represent longitudinal average (44.5%).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8" name="Picture 7" descr="A graph with numbers and lines&#10;&#10;AI-generated content may be incorrect.">
            <a:extLst>
              <a:ext uri="{FF2B5EF4-FFF2-40B4-BE49-F238E27FC236}">
                <a16:creationId xmlns:a16="http://schemas.microsoft.com/office/drawing/2014/main" id="{DAAB8057-C304-CF16-26D2-76DB4BF33B3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6"/>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320850" y="6083077"/>
            <a:ext cx="10401300" cy="646331"/>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that they participated in (including those decided unanimously, </a:t>
            </a:r>
            <a:r>
              <a:rPr lang="en-US" sz="1200" i="1" dirty="0">
                <a:latin typeface="MULISH REGULAR ROMAN"/>
              </a:rPr>
              <a:t>per </a:t>
            </a:r>
            <a:r>
              <a:rPr lang="en-US" sz="1200" i="1" dirty="0" err="1">
                <a:latin typeface="MULISH REGULAR ROMAN"/>
              </a:rPr>
              <a:t>curiam</a:t>
            </a:r>
            <a:r>
              <a:rPr lang="en-US" sz="1200" i="1" dirty="0">
                <a:latin typeface="MULISH REGULAR ROMAN"/>
              </a:rPr>
              <a:t>, </a:t>
            </a:r>
            <a:r>
              <a:rPr lang="en-US" sz="1200" dirty="0">
                <a:latin typeface="MULISH REGULAR ROMAN"/>
              </a:rPr>
              <a:t>or </a:t>
            </a:r>
            <a:r>
              <a:rPr lang="en-US" sz="1200" i="1" dirty="0">
                <a:latin typeface="MULISH REGULAR ROMAN"/>
              </a:rPr>
              <a:t>dismissed as improvidently granted</a:t>
            </a:r>
            <a:r>
              <a:rPr lang="en-US" sz="1200" dirty="0">
                <a:latin typeface="MULISH REGULAR ROMAN"/>
              </a:rPr>
              <a:t>). </a:t>
            </a:r>
            <a:r>
              <a:rPr lang="en-US" sz="1200" b="1" i="1" dirty="0">
                <a:latin typeface="MULISH REGULAR ROMAN"/>
              </a:rPr>
              <a:t>Note</a:t>
            </a:r>
            <a:r>
              <a:rPr lang="en-US" sz="1200" i="1" dirty="0">
                <a:latin typeface="MULISH REGULAR ROMAN"/>
              </a:rPr>
              <a:t>: </a:t>
            </a:r>
            <a:r>
              <a:rPr lang="en-US" sz="1200" dirty="0">
                <a:latin typeface="MULISH REGULAR ROMAN"/>
              </a:rPr>
              <a:t>Given that majority and dissenting votes were not indicated, these percentages </a:t>
            </a:r>
            <a:r>
              <a:rPr lang="en-US" sz="1200" u="sng" dirty="0">
                <a:latin typeface="MULISH REGULAR ROMAN"/>
              </a:rPr>
              <a:t>do not</a:t>
            </a:r>
            <a:r>
              <a:rPr lang="en-US" sz="1200" dirty="0">
                <a:latin typeface="MULISH REGULAR ROMAN"/>
              </a:rPr>
              <a:t> include any votes from the court’s equally divided decision in </a:t>
            </a:r>
            <a:r>
              <a:rPr lang="en-US" sz="1200" i="1" dirty="0">
                <a:latin typeface="MULISH REGULAR ROMAN"/>
              </a:rPr>
              <a:t>Drummond.</a:t>
            </a:r>
            <a:endParaRPr lang="en-US" sz="1200" dirty="0">
              <a:latin typeface="MULISH REGULAR ROMAN"/>
            </a:endParaRP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dirty="0"/>
          </a:p>
        </p:txBody>
      </p:sp>
      <p:pic>
        <p:nvPicPr>
          <p:cNvPr id="4" name="Picture 3" descr="A group of people in a row&#10;&#10;AI-generated content may be incorrect.">
            <a:extLst>
              <a:ext uri="{FF2B5EF4-FFF2-40B4-BE49-F238E27FC236}">
                <a16:creationId xmlns:a16="http://schemas.microsoft.com/office/drawing/2014/main" id="{E4A4258A-5AC9-9692-FAB5-2F2A69CA03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17267"/>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212688"/>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6" name="Picture 5" descr="A group of people in a row&#10;&#10;AI-generated content may be incorrect.">
            <a:extLst>
              <a:ext uri="{FF2B5EF4-FFF2-40B4-BE49-F238E27FC236}">
                <a16:creationId xmlns:a16="http://schemas.microsoft.com/office/drawing/2014/main" id="{1A1D5901-7C13-725F-01D0-61BA2C4ABB5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17267"/>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4" name="Picture 3" descr="A group of people standing in front of a graph&#10;&#10;AI-generated content may be incorrect.">
            <a:extLst>
              <a:ext uri="{FF2B5EF4-FFF2-40B4-BE49-F238E27FC236}">
                <a16:creationId xmlns:a16="http://schemas.microsoft.com/office/drawing/2014/main" id="{2C0E1584-087E-99E5-A86F-87BB4556D6D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11</a:t>
            </a:fld>
            <a:endParaRPr lang="en-US"/>
          </a:p>
        </p:txBody>
      </p:sp>
      <p:pic>
        <p:nvPicPr>
          <p:cNvPr id="4" name="Picture 3" descr="A group of people in suits&#10;&#10;AI-generated content may be incorrect.">
            <a:extLst>
              <a:ext uri="{FF2B5EF4-FFF2-40B4-BE49-F238E27FC236}">
                <a16:creationId xmlns:a16="http://schemas.microsoft.com/office/drawing/2014/main" id="{0C4DF61A-1B35-C115-3F09-C470E3246FB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754326"/>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4" name="Picture 3" descr="A group of people in a graph&#10;&#10;AI-generated content may be incorrect.">
            <a:extLst>
              <a:ext uri="{FF2B5EF4-FFF2-40B4-BE49-F238E27FC236}">
                <a16:creationId xmlns:a16="http://schemas.microsoft.com/office/drawing/2014/main" id="{3E736751-6A6D-0E13-4BD8-8BD945ED8B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065568214"/>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7.71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4192218082"/>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612656217"/>
              </p:ext>
            </p:extLst>
          </p:nvPr>
        </p:nvGraphicFramePr>
        <p:xfrm>
          <a:off x="4656536" y="4156187"/>
          <a:ext cx="6505995" cy="2513061"/>
        </p:xfrm>
        <a:graphic>
          <a:graphicData uri="http://schemas.openxmlformats.org/drawingml/2006/table">
            <a:tbl>
              <a:tblPr firstRow="1" bandRow="1">
                <a:tableStyleId>{C083E6E3-FA7D-4D7B-A595-EF9225AFEA82}</a:tableStyleId>
              </a:tblPr>
              <a:tblGrid>
                <a:gridCol w="1722841">
                  <a:extLst>
                    <a:ext uri="{9D8B030D-6E8A-4147-A177-3AD203B41FA5}">
                      <a16:colId xmlns:a16="http://schemas.microsoft.com/office/drawing/2014/main" val="20000"/>
                    </a:ext>
                  </a:extLst>
                </a:gridCol>
                <a:gridCol w="1167543">
                  <a:extLst>
                    <a:ext uri="{9D8B030D-6E8A-4147-A177-3AD203B41FA5}">
                      <a16:colId xmlns:a16="http://schemas.microsoft.com/office/drawing/2014/main" val="20001"/>
                    </a:ext>
                  </a:extLst>
                </a:gridCol>
                <a:gridCol w="3615611">
                  <a:extLst>
                    <a:ext uri="{9D8B030D-6E8A-4147-A177-3AD203B41FA5}">
                      <a16:colId xmlns:a16="http://schemas.microsoft.com/office/drawing/2014/main" val="4268982242"/>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Laboratory Corp.</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2" name="TextBox 1">
            <a:extLst>
              <a:ext uri="{FF2B5EF4-FFF2-40B4-BE49-F238E27FC236}">
                <a16:creationId xmlns:a16="http://schemas.microsoft.com/office/drawing/2014/main" id="{9DE224FF-55AD-FCBC-8A44-28C5566A10DB}"/>
              </a:ext>
            </a:extLst>
          </p:cNvPr>
          <p:cNvSpPr txBox="1"/>
          <p:nvPr/>
        </p:nvSpPr>
        <p:spPr>
          <a:xfrm>
            <a:off x="6096000" y="345170"/>
            <a:ext cx="5066531" cy="400110"/>
          </a:xfrm>
          <a:prstGeom prst="rect">
            <a:avLst/>
          </a:prstGeom>
          <a:noFill/>
          <a:ln>
            <a:solidFill>
              <a:schemeClr val="tx1"/>
            </a:solidFill>
          </a:ln>
        </p:spPr>
        <p:txBody>
          <a:bodyPr wrap="square">
            <a:spAutoFit/>
          </a:bodyPr>
          <a:lstStyle/>
          <a:p>
            <a:r>
              <a:rPr lang="en-US" sz="1000" dirty="0"/>
              <a:t>Only cases with a signed majority opinion are included in this analysis – cases decided </a:t>
            </a:r>
            <a:r>
              <a:rPr lang="en-US" sz="1000" i="1" dirty="0"/>
              <a:t>per </a:t>
            </a:r>
            <a:r>
              <a:rPr lang="en-US" sz="1000" i="1" dirty="0" err="1"/>
              <a:t>curiam</a:t>
            </a:r>
            <a:r>
              <a:rPr lang="en-US" sz="1000" dirty="0"/>
              <a:t> with no signed majority opinion are omitted. </a:t>
            </a:r>
          </a:p>
        </p:txBody>
      </p:sp>
    </p:spTree>
    <p:extLst>
      <p:ext uri="{BB962C8B-B14F-4D97-AF65-F5344CB8AC3E}">
        <p14:creationId xmlns:p14="http://schemas.microsoft.com/office/powerpoint/2010/main" val="11040160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14</a:t>
            </a:fld>
            <a:endParaRPr lang="en-US"/>
          </a:p>
        </p:txBody>
      </p:sp>
      <p:pic>
        <p:nvPicPr>
          <p:cNvPr id="6" name="Picture 5" descr="A group of pie charts&#10;&#10;AI-generated content may be incorrect.">
            <a:extLst>
              <a:ext uri="{FF2B5EF4-FFF2-40B4-BE49-F238E27FC236}">
                <a16:creationId xmlns:a16="http://schemas.microsoft.com/office/drawing/2014/main" id="{0603DA49-720D-B6F2-C526-CFFD84938DA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7" name="Picture 6" descr="A diagram of a pie chart&#10;&#10;AI-generated content may be incorrect.">
            <a:extLst>
              <a:ext uri="{FF2B5EF4-FFF2-40B4-BE49-F238E27FC236}">
                <a16:creationId xmlns:a16="http://schemas.microsoft.com/office/drawing/2014/main" id="{2E4ECF13-EAB8-5255-A8F2-350714973AC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056959863"/>
              </p:ext>
            </p:extLst>
          </p:nvPr>
        </p:nvGraphicFramePr>
        <p:xfrm>
          <a:off x="344807" y="918414"/>
          <a:ext cx="10648855" cy="4872780"/>
        </p:xfrm>
        <a:graphic>
          <a:graphicData uri="http://schemas.openxmlformats.org/drawingml/2006/table">
            <a:tbl>
              <a:tblPr firstRow="1" bandRow="1">
                <a:tableStyleId>{C083E6E3-FA7D-4D7B-A595-EF9225AFEA82}</a:tableStyleId>
              </a:tblPr>
              <a:tblGrid>
                <a:gridCol w="1521265">
                  <a:extLst>
                    <a:ext uri="{9D8B030D-6E8A-4147-A177-3AD203B41FA5}">
                      <a16:colId xmlns:a16="http://schemas.microsoft.com/office/drawing/2014/main" val="20000"/>
                    </a:ext>
                  </a:extLst>
                </a:gridCol>
                <a:gridCol w="1521265">
                  <a:extLst>
                    <a:ext uri="{9D8B030D-6E8A-4147-A177-3AD203B41FA5}">
                      <a16:colId xmlns:a16="http://schemas.microsoft.com/office/drawing/2014/main" val="20001"/>
                    </a:ext>
                  </a:extLst>
                </a:gridCol>
                <a:gridCol w="1521265">
                  <a:extLst>
                    <a:ext uri="{9D8B030D-6E8A-4147-A177-3AD203B41FA5}">
                      <a16:colId xmlns:a16="http://schemas.microsoft.com/office/drawing/2014/main" val="1275153510"/>
                    </a:ext>
                  </a:extLst>
                </a:gridCol>
                <a:gridCol w="1521265">
                  <a:extLst>
                    <a:ext uri="{9D8B030D-6E8A-4147-A177-3AD203B41FA5}">
                      <a16:colId xmlns:a16="http://schemas.microsoft.com/office/drawing/2014/main" val="20004"/>
                    </a:ext>
                  </a:extLst>
                </a:gridCol>
                <a:gridCol w="1521265">
                  <a:extLst>
                    <a:ext uri="{9D8B030D-6E8A-4147-A177-3AD203B41FA5}">
                      <a16:colId xmlns:a16="http://schemas.microsoft.com/office/drawing/2014/main" val="20005"/>
                    </a:ext>
                  </a:extLst>
                </a:gridCol>
                <a:gridCol w="1521265">
                  <a:extLst>
                    <a:ext uri="{9D8B030D-6E8A-4147-A177-3AD203B41FA5}">
                      <a16:colId xmlns:a16="http://schemas.microsoft.com/office/drawing/2014/main" val="20006"/>
                    </a:ext>
                  </a:extLst>
                </a:gridCol>
                <a:gridCol w="1521265">
                  <a:extLst>
                    <a:ext uri="{9D8B030D-6E8A-4147-A177-3AD203B41FA5}">
                      <a16:colId xmlns:a16="http://schemas.microsoft.com/office/drawing/2014/main" val="20007"/>
                    </a:ext>
                  </a:extLst>
                </a:gridCol>
              </a:tblGrid>
              <a:tr h="324852">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US" sz="1100" b="1" kern="1200" dirty="0">
                          <a:effectLst/>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1</a:t>
                      </a:r>
                      <a:r>
                        <a:rPr lang="en-US" sz="1100" b="0" kern="1200" baseline="30000" dirty="0">
                          <a:latin typeface="MULISH REGULAR ROMAN"/>
                        </a:rPr>
                        <a:t>st</a:t>
                      </a:r>
                      <a:r>
                        <a:rPr lang="en-US" sz="1100" b="0" kern="1200" dirty="0">
                          <a:latin typeface="MULISH REGULAR ROMAN"/>
                        </a:rPr>
                        <a:t> Circuit</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REGULAR ROMAN"/>
                        </a:rPr>
                        <a:t>100%</a:t>
                      </a:r>
                    </a:p>
                  </a:txBody>
                  <a:tcPr marL="9525" marR="9525" marT="9525" marB="0" anchor="ctr">
                    <a:lnT w="12700" cmpd="sng">
                      <a:noFill/>
                    </a:lnT>
                  </a:tcPr>
                </a:tc>
                <a:extLst>
                  <a:ext uri="{0D108BD9-81ED-4DB2-BD59-A6C34878D82A}">
                    <a16:rowId xmlns:a16="http://schemas.microsoft.com/office/drawing/2014/main" val="10002"/>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2</a:t>
                      </a:r>
                      <a:r>
                        <a:rPr lang="en-US" sz="1100" b="0" kern="1200" baseline="30000" dirty="0">
                          <a:effectLst/>
                          <a:latin typeface="MULISH REGULAR ROMAN"/>
                        </a:rPr>
                        <a:t>nd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a:solidFill>
                            <a:srgbClr val="000000"/>
                          </a:solidFill>
                          <a:effectLst/>
                          <a:latin typeface="MULISH REGULAR ROMAN"/>
                        </a:rPr>
                        <a:t>40%</a:t>
                      </a:r>
                    </a:p>
                  </a:txBody>
                  <a:tcPr marL="9525" marR="9525" marT="9525" marB="0" anchor="ctr"/>
                </a:tc>
                <a:tc>
                  <a:txBody>
                    <a:bodyPr/>
                    <a:lstStyle/>
                    <a:p>
                      <a:pPr algn="ctr" fontAlgn="b"/>
                      <a:r>
                        <a:rPr lang="en-US" sz="1100" b="0" i="0" u="none" strike="noStrike">
                          <a:solidFill>
                            <a:srgbClr val="000000"/>
                          </a:solidFill>
                          <a:effectLst/>
                          <a:latin typeface="MULISH REGULAR ROMAN"/>
                        </a:rPr>
                        <a:t>60%</a:t>
                      </a:r>
                    </a:p>
                  </a:txBody>
                  <a:tcPr marL="9525" marR="9525" marT="9525" marB="0" anchor="ctr"/>
                </a:tc>
                <a:extLst>
                  <a:ext uri="{0D108BD9-81ED-4DB2-BD59-A6C34878D82A}">
                    <a16:rowId xmlns:a16="http://schemas.microsoft.com/office/drawing/2014/main" val="10003"/>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3</a:t>
                      </a:r>
                      <a:r>
                        <a:rPr lang="en-US" sz="1100" b="0" kern="1200" baseline="30000" dirty="0">
                          <a:effectLst/>
                          <a:latin typeface="MULISH REGULAR ROMAN"/>
                        </a:rPr>
                        <a:t>rd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4"/>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4</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5"/>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5</a:t>
                      </a:r>
                      <a:r>
                        <a:rPr lang="en-US" sz="1100" b="0" kern="1200" baseline="30000" dirty="0">
                          <a:effectLst/>
                          <a:latin typeface="MULISH REGULAR ROMAN"/>
                        </a:rPr>
                        <a:t>th</a:t>
                      </a:r>
                      <a:r>
                        <a:rPr lang="en-US" sz="1100" b="0" kern="1200" dirty="0">
                          <a:effectLst/>
                          <a:latin typeface="MULISH REGULAR ROMAN"/>
                        </a:rPr>
                        <a:t> </a:t>
                      </a:r>
                      <a:r>
                        <a:rPr lang="en-US" sz="1100" b="0" kern="1200" baseline="30000" dirty="0">
                          <a:effectLst/>
                          <a:latin typeface="MULISH REGULAR ROMAN"/>
                        </a:rPr>
                        <a:t> </a:t>
                      </a:r>
                      <a:r>
                        <a:rPr lang="en-US" sz="1100" b="0" kern="1200" dirty="0">
                          <a:effectLst/>
                          <a:latin typeface="MULISH REGULAR ROMAN"/>
                        </a:rPr>
                        <a:t>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13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10</a:t>
                      </a:r>
                    </a:p>
                  </a:txBody>
                  <a:tcPr marL="9525" marR="9525" marT="9525" marB="0" anchor="ctr"/>
                </a:tc>
                <a:tc>
                  <a:txBody>
                    <a:bodyPr/>
                    <a:lstStyle/>
                    <a:p>
                      <a:pPr algn="ctr" fontAlgn="b"/>
                      <a:r>
                        <a:rPr lang="en-US" sz="1100" b="0" i="0" u="none" strike="noStrike">
                          <a:solidFill>
                            <a:srgbClr val="000000"/>
                          </a:solidFill>
                          <a:effectLst/>
                          <a:latin typeface="MULISH REGULAR ROMAN"/>
                        </a:rPr>
                        <a:t>23.1%</a:t>
                      </a:r>
                    </a:p>
                  </a:txBody>
                  <a:tcPr marL="9525" marR="9525" marT="9525" marB="0" anchor="ctr"/>
                </a:tc>
                <a:tc>
                  <a:txBody>
                    <a:bodyPr/>
                    <a:lstStyle/>
                    <a:p>
                      <a:pPr algn="ctr" fontAlgn="b"/>
                      <a:r>
                        <a:rPr lang="en-US" sz="1100" b="0" i="0" u="none" strike="noStrike">
                          <a:solidFill>
                            <a:srgbClr val="000000"/>
                          </a:solidFill>
                          <a:effectLst/>
                          <a:latin typeface="MULISH REGULAR ROMAN"/>
                        </a:rPr>
                        <a:t>76.9%</a:t>
                      </a:r>
                    </a:p>
                  </a:txBody>
                  <a:tcPr marL="9525" marR="9525" marT="9525" marB="0" anchor="ctr"/>
                </a:tc>
                <a:extLst>
                  <a:ext uri="{0D108BD9-81ED-4DB2-BD59-A6C34878D82A}">
                    <a16:rowId xmlns:a16="http://schemas.microsoft.com/office/drawing/2014/main" val="10006"/>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6</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7"/>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7</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8</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9"/>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9</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7*</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10"/>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10</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11"/>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11</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324852">
                <a:tc>
                  <a:txBody>
                    <a:bodyPr/>
                    <a:lstStyle/>
                    <a:p>
                      <a:pPr marL="0" algn="ctr" rtl="0">
                        <a:spcBef>
                          <a:spcPts val="0"/>
                        </a:spcBef>
                        <a:spcAft>
                          <a:spcPts val="0"/>
                        </a:spcAft>
                      </a:pPr>
                      <a:r>
                        <a:rPr lang="en-US" sz="1100" b="0" kern="1200" dirty="0">
                          <a:effectLst/>
                          <a:latin typeface="MULISH REGULAR ROMAN"/>
                        </a:rPr>
                        <a:t>D.C.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a:solidFill>
                            <a:srgbClr val="000000"/>
                          </a:solidFill>
                          <a:effectLst/>
                          <a:latin typeface="MULISH REGULAR ROMAN"/>
                        </a:rPr>
                        <a:t>40%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60%</a:t>
                      </a:r>
                    </a:p>
                  </a:txBody>
                  <a:tcPr marL="9525" marR="9525" marT="9525" marB="0" anchor="ctr"/>
                </a:tc>
                <a:extLst>
                  <a:ext uri="{0D108BD9-81ED-4DB2-BD59-A6C34878D82A}">
                    <a16:rowId xmlns:a16="http://schemas.microsoft.com/office/drawing/2014/main" val="10013"/>
                  </a:ext>
                </a:extLst>
              </a:tr>
              <a:tr h="324852">
                <a:tc>
                  <a:txBody>
                    <a:bodyPr/>
                    <a:lstStyle/>
                    <a:p>
                      <a:pPr marL="0" algn="ctr" rtl="0">
                        <a:spcBef>
                          <a:spcPts val="0"/>
                        </a:spcBef>
                        <a:spcAft>
                          <a:spcPts val="0"/>
                        </a:spcAft>
                      </a:pPr>
                      <a:r>
                        <a:rPr lang="en-US" sz="1100" b="0" kern="1200" dirty="0">
                          <a:latin typeface="MULISH REGULAR ROMAN"/>
                        </a:rPr>
                        <a:t>Fed.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33.3%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66.7%</a:t>
                      </a:r>
                    </a:p>
                  </a:txBody>
                  <a:tcPr marL="9525" marR="9525" marT="9525" marB="0" anchor="ctr"/>
                </a:tc>
                <a:extLst>
                  <a:ext uri="{0D108BD9-81ED-4DB2-BD59-A6C34878D82A}">
                    <a16:rowId xmlns:a16="http://schemas.microsoft.com/office/drawing/2014/main" val="10014"/>
                  </a:ext>
                </a:extLst>
              </a:tr>
              <a:tr h="324852">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dirty="0">
                          <a:effectLst/>
                          <a:latin typeface="MULISH REGULAR ROMAN" pitchFamily="2" charset="77"/>
                        </a:rPr>
                        <a:t>62</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59</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15</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44</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47" y="6003935"/>
            <a:ext cx="10672816" cy="738664"/>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We treat consolidated cases emerging from the same lower court as single entries. Alternatively, we treat </a:t>
            </a:r>
            <a:r>
              <a:rPr lang="en-US" sz="1050" i="1" dirty="0">
                <a:latin typeface="MULISH BLACK ROMAN"/>
                <a:cs typeface="Calibri" panose="020F0502020204030204"/>
              </a:rPr>
              <a:t>Trump v. CASA</a:t>
            </a:r>
            <a:r>
              <a:rPr lang="en-US" sz="1050" dirty="0">
                <a:latin typeface="MULISH BLACK ROMAN"/>
                <a:cs typeface="Calibri" panose="020F0502020204030204"/>
              </a:rPr>
              <a:t> as three separate entries that reversed the U.S. Courts of Appeal for the First, Fourth, and Ninth Circuits. </a:t>
            </a:r>
          </a:p>
          <a:p>
            <a:endParaRPr lang="en-US" sz="1050" dirty="0">
              <a:latin typeface="MULISH BLACK ROMAN"/>
              <a:cs typeface="Calibri" panose="020F0502020204030204"/>
            </a:endParaRPr>
          </a:p>
          <a:p>
            <a:r>
              <a:rPr lang="en-US" sz="1050" dirty="0">
                <a:latin typeface="MULISH BLACK ROMAN"/>
                <a:cs typeface="Calibri" panose="020F0502020204030204"/>
              </a:rPr>
              <a:t>* Three cases from the U.S. Court of Appeals for the Ninth Circuit were dismissed as improvidently granted and are not recorded as having been affirmed or reversed.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16</a:t>
            </a:fld>
            <a:endParaRPr lang="en-US" dirty="0"/>
          </a:p>
        </p:txBody>
      </p:sp>
    </p:spTree>
    <p:extLst>
      <p:ext uri="{BB962C8B-B14F-4D97-AF65-F5344CB8AC3E}">
        <p14:creationId xmlns:p14="http://schemas.microsoft.com/office/powerpoint/2010/main" val="1033537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825569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1537620183"/>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107.67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106.86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93.83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91.67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109.29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124.86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102.2</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4" name="Picture 3" descr="A graph with numbers and lines&#10;&#10;AI-generated content may be incorrect.">
            <a:extLst>
              <a:ext uri="{FF2B5EF4-FFF2-40B4-BE49-F238E27FC236}">
                <a16:creationId xmlns:a16="http://schemas.microsoft.com/office/drawing/2014/main" id="{0AC436F4-A748-447E-D11E-96635A4580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7" y="772253"/>
            <a:ext cx="5252900" cy="3151740"/>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1182959336"/>
              </p:ext>
            </p:extLst>
          </p:nvPr>
        </p:nvGraphicFramePr>
        <p:xfrm>
          <a:off x="224287" y="961859"/>
          <a:ext cx="11645661" cy="5351850"/>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Waetzig</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Hungary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Royal Canin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Bouarfa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Delligatti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Feliciano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Perttu</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Soto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CC/Devas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Catholic Charities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NRC</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Rivers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Diamond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Hewitt</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Trump v. J.G.G.</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Delligatti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Laboratory Corp.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McLaughlin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Free Speech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Perttu</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Hewitt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Calumet </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Advocate Christ Medical</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NRC</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Feliciano</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3850712737"/>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Fuld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Calumet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rgbClr val="000000"/>
                          </a:solidFill>
                          <a:effectLst/>
                          <a:latin typeface="MULISH BLACK ROMAN"/>
                        </a:rPr>
                        <a:t>McLaughlin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 R.J. Reynolds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Free Speech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Kennedy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Fuld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MULISH BLACK ROMAN"/>
                        </a:rPr>
                        <a:t>R.J. Reynolds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Kennedy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1"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444612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8" name="Picture 7" descr="A graph with multiple colored squares&#10;&#10;AI-generated content may be incorrect.">
            <a:extLst>
              <a:ext uri="{FF2B5EF4-FFF2-40B4-BE49-F238E27FC236}">
                <a16:creationId xmlns:a16="http://schemas.microsoft.com/office/drawing/2014/main" id="{2BC38A5D-F62B-1370-6167-ABC0061D04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4246662885"/>
              </p:ext>
            </p:extLst>
          </p:nvPr>
        </p:nvGraphicFramePr>
        <p:xfrm>
          <a:off x="0" y="792698"/>
          <a:ext cx="12192000" cy="5303095"/>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NVIDIA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12/11/2024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Facebook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Laboratory Corp.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 (8-1)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Drummond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22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5/22/2025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Concurrence</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Gorsuch</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8-0</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14,200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14,100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Kennedy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≈12,100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06/27/2025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Mahmoud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Concurrence</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≈11,900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MULISH BLACK ROMAN"/>
                          <a:ea typeface="+mn-ea"/>
                          <a:cs typeface="+mn-cs"/>
                        </a:rPr>
                        <a:t>06/27/2025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Mahmoud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≈10,700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MULISH BLACK ROMAN"/>
                          <a:ea typeface="+mn-ea"/>
                          <a:cs typeface="+mn-cs"/>
                        </a:rPr>
                        <a:t>06/27/2025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Alito; Barrett; Kagan; Roberts;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30,400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06/18/2025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Mahmoud</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Alito;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≈26,000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06/27/2025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Barrett;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≈25,000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Consumers’ Research</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Gorsuch; Jackson; Kagan; Kavanaugh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≈24,000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06/27/2025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Kennedy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Kavanaugh;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≈22,600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21</a:t>
            </a:fld>
            <a:endParaRPr lang="en-US"/>
          </a:p>
        </p:txBody>
      </p:sp>
    </p:spTree>
    <p:extLst>
      <p:ext uri="{BB962C8B-B14F-4D97-AF65-F5344CB8AC3E}">
        <p14:creationId xmlns:p14="http://schemas.microsoft.com/office/powerpoint/2010/main" val="5787724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4159171173"/>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4,700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4,800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4,900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3,600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4,3</a:t>
                      </a:r>
                      <a:r>
                        <a:rPr lang="en-US" sz="1100" b="0" i="0" u="none" strike="noStrike" dirty="0">
                          <a:solidFill>
                            <a:srgbClr val="000000"/>
                          </a:solidFill>
                          <a:effectLst/>
                          <a:latin typeface="MULISH BLACK ROMAN"/>
                        </a:rPr>
                        <a:t>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4,3</a:t>
                      </a:r>
                      <a:r>
                        <a:rPr lang="en-US" sz="1100" b="0" i="0" u="none" strike="noStrike" dirty="0">
                          <a:solidFill>
                            <a:srgbClr val="000000"/>
                          </a:solidFill>
                          <a:effectLst/>
                          <a:latin typeface="MULISH BLACK ROMAN"/>
                        </a:rPr>
                        <a:t>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3,900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3,400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3,200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4876800" y="5399974"/>
            <a:ext cx="6202585" cy="430887"/>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22</a:t>
            </a:fld>
            <a:endParaRPr lang="en-US"/>
          </a:p>
        </p:txBody>
      </p:sp>
      <p:pic>
        <p:nvPicPr>
          <p:cNvPr id="4" name="Picture 3" descr="A graph of different types of graphs&#10;&#10;AI-generated content may be incorrect.">
            <a:extLst>
              <a:ext uri="{FF2B5EF4-FFF2-40B4-BE49-F238E27FC236}">
                <a16:creationId xmlns:a16="http://schemas.microsoft.com/office/drawing/2014/main" id="{8FB0C0AD-D50A-B617-2D6C-80576B3A36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4" y="1125144"/>
            <a:ext cx="6973551" cy="4203559"/>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6280420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23</a:t>
            </a:fld>
            <a:endParaRPr lang="en-US"/>
          </a:p>
        </p:txBody>
      </p:sp>
      <p:sp>
        <p:nvSpPr>
          <p:cNvPr id="2" name="TextBox 1">
            <a:extLst>
              <a:ext uri="{FF2B5EF4-FFF2-40B4-BE49-F238E27FC236}">
                <a16:creationId xmlns:a16="http://schemas.microsoft.com/office/drawing/2014/main" id="{F26D9EE1-F030-3FDD-2CF9-9A4D537F2255}"/>
              </a:ext>
            </a:extLst>
          </p:cNvPr>
          <p:cNvSpPr txBox="1"/>
          <p:nvPr/>
        </p:nvSpPr>
        <p:spPr>
          <a:xfrm>
            <a:off x="357712" y="6275365"/>
            <a:ext cx="10515599" cy="600164"/>
          </a:xfrm>
          <a:prstGeom prst="rect">
            <a:avLst/>
          </a:prstGeom>
          <a:noFill/>
        </p:spPr>
        <p:txBody>
          <a:bodyPr wrap="square" rtlCol="0">
            <a:spAutoFit/>
          </a:bodyPr>
          <a:lstStyle/>
          <a:p>
            <a:r>
              <a:rPr lang="en-US" sz="1100" dirty="0">
                <a:latin typeface="MULISH BLACK ROMAN"/>
              </a:rPr>
              <a:t>*  Justices Thomas and Gorsuch would vote to grant the petition and set the case for argument.</a:t>
            </a:r>
          </a:p>
          <a:p>
            <a:r>
              <a:rPr lang="en-US" sz="1100" dirty="0">
                <a:latin typeface="MULISH BLACK ROMAN"/>
              </a:rPr>
              <a:t>** Justice Barrett joined the majority but only with respect to Part II, authored a separate opinion concurring (</a:t>
            </a:r>
            <a:r>
              <a:rPr lang="en-US" sz="1100" i="1" dirty="0">
                <a:latin typeface="MULISH BLACK ROMAN"/>
              </a:rPr>
              <a:t>in part</a:t>
            </a:r>
            <a:r>
              <a:rPr lang="en-US" sz="1100" dirty="0">
                <a:latin typeface="MULISH BLACK ROMAN"/>
              </a:rPr>
              <a:t>) and dissenting (</a:t>
            </a:r>
            <a:r>
              <a:rPr lang="en-US" sz="1100" i="1" dirty="0">
                <a:latin typeface="MULISH BLACK ROMAN"/>
              </a:rPr>
              <a:t>in part</a:t>
            </a:r>
            <a:r>
              <a:rPr lang="en-US" sz="1100" dirty="0">
                <a:latin typeface="MULISH BLACK ROMAN"/>
              </a:rPr>
              <a:t>), and joined Justice Thomas’ dissent with respect to Parts IV-A-1, IV-A-2, and IV-A-3. </a:t>
            </a:r>
          </a:p>
        </p:txBody>
      </p:sp>
    </p:spTree>
    <p:extLst>
      <p:ext uri="{BB962C8B-B14F-4D97-AF65-F5344CB8AC3E}">
        <p14:creationId xmlns:p14="http://schemas.microsoft.com/office/powerpoint/2010/main" val="619884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05294745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Velazquez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430887"/>
          </a:xfrm>
          <a:prstGeom prst="rect">
            <a:avLst/>
          </a:prstGeom>
          <a:noFill/>
        </p:spPr>
        <p:txBody>
          <a:bodyPr wrap="square" rtlCol="0">
            <a:spAutoFit/>
          </a:bodyPr>
          <a:lstStyle/>
          <a:p>
            <a:r>
              <a:rPr lang="en-US" sz="1100" dirty="0">
                <a:latin typeface="MULISH BLACK ROMAN"/>
              </a:rPr>
              <a:t>* Chief Justice Roberts would have voted to deny the application.</a:t>
            </a:r>
            <a:br>
              <a:rPr lang="en-US" sz="1100" dirty="0">
                <a:latin typeface="MULISH BLACK ROMAN"/>
              </a:rPr>
            </a:br>
            <a:r>
              <a:rPr lang="en-US" sz="1100" dirty="0">
                <a:latin typeface="MULISH BLACK ROMAN"/>
              </a:rPr>
              <a:t>** Justice Barrett authored an opinion dissenting (</a:t>
            </a:r>
            <a:r>
              <a:rPr lang="en-US" sz="1100" i="1" dirty="0">
                <a:latin typeface="MULISH BLACK ROMAN"/>
              </a:rPr>
              <a:t>in part</a:t>
            </a:r>
            <a:r>
              <a:rPr lang="en-US" sz="1100" dirty="0">
                <a:latin typeface="MULISH BLACK ROMAN"/>
              </a:rPr>
              <a:t>) – this opinion is coded as a dissent since there was no additional concurrence (</a:t>
            </a:r>
            <a:r>
              <a:rPr lang="en-US" sz="1100" i="1" dirty="0">
                <a:latin typeface="MULISH BLACK ROMAN"/>
              </a:rPr>
              <a:t>in part</a:t>
            </a:r>
            <a:r>
              <a:rPr lang="en-US" sz="1100" dirty="0">
                <a:latin typeface="MULISH BLACK ROMAN"/>
              </a:rPr>
              <a:t>). </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24</a:t>
            </a:fld>
            <a:endParaRPr lang="en-US" dirty="0"/>
          </a:p>
        </p:txBody>
      </p:sp>
    </p:spTree>
    <p:extLst>
      <p:ext uri="{BB962C8B-B14F-4D97-AF65-F5344CB8AC3E}">
        <p14:creationId xmlns:p14="http://schemas.microsoft.com/office/powerpoint/2010/main" val="33742460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24944705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 (8-1)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dirty="0"/>
              <a:t>* Oklahoma Charter Schools v. Drummond </a:t>
            </a:r>
            <a:r>
              <a:rPr lang="en-US" sz="1100" dirty="0"/>
              <a:t>was decided </a:t>
            </a:r>
            <a:r>
              <a:rPr lang="en-US" sz="1100" i="1" dirty="0"/>
              <a:t>per </a:t>
            </a:r>
            <a:r>
              <a:rPr lang="en-US" sz="1100" i="1" dirty="0" err="1"/>
              <a:t>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1610198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276664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Hewitt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(5-4)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Medina</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(6-3)</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b="0" i="0" u="none" strike="noStrike" noProof="0" dirty="0">
                          <a:effectLst/>
                          <a:latin typeface="MULISH REGULAR ROMAN" pitchFamily="2" charset="77"/>
                        </a:rPr>
                        <a:t>Gutierrez</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(6-3)</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justice to dissent in full, the decision is coded as (8-1). Furthermore, although Justice Sotomayor joined Justice Jackson’s dissent with respect to elements of Parts III and IV, she joined with the plurality of the court in not reversing the 11</a:t>
            </a:r>
            <a:r>
              <a:rPr lang="en-US" sz="1100" baseline="30000" dirty="0">
                <a:latin typeface="MULISH BLACK ROMAN"/>
              </a:rPr>
              <a:t>th</a:t>
            </a:r>
            <a:r>
              <a:rPr lang="en-US" sz="1100" dirty="0">
                <a:latin typeface="MULISH BLACK ROMAN"/>
              </a:rPr>
              <a:t> Circuit. </a:t>
            </a:r>
            <a:endParaRPr lang="en-US" sz="1100" dirty="0">
              <a:highlight>
                <a:srgbClr val="FFFF00"/>
              </a:highlight>
              <a:latin typeface="MULISH BLACK ROMAN"/>
            </a:endParaRPr>
          </a:p>
        </p:txBody>
      </p:sp>
    </p:spTree>
    <p:extLst>
      <p:ext uri="{BB962C8B-B14F-4D97-AF65-F5344CB8AC3E}">
        <p14:creationId xmlns:p14="http://schemas.microsoft.com/office/powerpoint/2010/main" val="18556569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C1F16-5A3E-F6DB-8734-F2DA2300600D}"/>
            </a:ext>
          </a:extLst>
        </p:cNvPr>
        <p:cNvGrpSpPr/>
        <p:nvPr/>
      </p:nvGrpSpPr>
      <p:grpSpPr>
        <a:xfrm>
          <a:off x="0" y="0"/>
          <a:ext cx="0" cy="0"/>
          <a:chOff x="0" y="0"/>
          <a:chExt cx="0" cy="0"/>
        </a:xfrm>
      </p:grpSpPr>
      <p:sp>
        <p:nvSpPr>
          <p:cNvPr id="5" name="Title 9">
            <a:extLst>
              <a:ext uri="{FF2B5EF4-FFF2-40B4-BE49-F238E27FC236}">
                <a16:creationId xmlns:a16="http://schemas.microsoft.com/office/drawing/2014/main" id="{61BB18CB-10A4-D734-CF1F-45CF69BD107E}"/>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A656CF48-091D-9B51-CB81-1A057A5F9DE2}"/>
              </a:ext>
            </a:extLst>
          </p:cNvPr>
          <p:cNvGraphicFramePr>
            <a:graphicFrameLocks noGrp="1"/>
          </p:cNvGraphicFramePr>
          <p:nvPr>
            <p:extLst>
              <p:ext uri="{D42A27DB-BD31-4B8C-83A1-F6EECF244321}">
                <p14:modId xmlns:p14="http://schemas.microsoft.com/office/powerpoint/2010/main" val="104852169"/>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Riley</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06/26/2025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Trump v. CASA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Kennedy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Consumers’ Research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Mahmoud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Free Speech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81583391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705721243"/>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2248342504"/>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05152479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21990833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5816003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937818E2-E095-5285-A815-C00B3B210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AAE59901-2801-5AAB-7510-1ED226327E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F6F74547-0150-0EFE-6C00-00FAA76C0B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A6D0ECCB-F81B-7E9B-41C5-7C6B86D15F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7517C51E-9457-C0C0-42C9-F56983B2A65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8BAA772D-CDE7-B803-FAB4-EC649546370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FD1AD885-9327-16CB-2E34-CC268609512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4E8B2092-89F8-3905-ECFD-56947315717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52A4609D-F6AB-1800-BB8F-37E9AE3C0B81}"/>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B60AE888-DE28-69D1-35CD-0E479950E933}"/>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B1EF2CEF-F517-9FC4-CDD4-F82229572DF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7EA8CE1-ADDD-F482-146D-8A3BB0B07B57}"/>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ADCEE80-3603-E63B-A8E8-336C92E62E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7EABED-5287-C026-2C34-24AEC6C469E1}"/>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75D18796-EDE1-101A-B6DD-0208D20CFC11}"/>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18937854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2611632187"/>
              </p:ext>
            </p:extLst>
          </p:nvPr>
        </p:nvGraphicFramePr>
        <p:xfrm>
          <a:off x="304798" y="765228"/>
          <a:ext cx="11492146" cy="5915822"/>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37770">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58514">
                <a:tc>
                  <a:txBody>
                    <a:bodyPr/>
                    <a:lstStyle/>
                    <a:p>
                      <a:pPr algn="l" fontAlgn="b"/>
                      <a:r>
                        <a:rPr lang="en-US" sz="900" b="0" i="1" u="none" strike="noStrike" dirty="0">
                          <a:solidFill>
                            <a:srgbClr val="000000"/>
                          </a:solidFill>
                          <a:effectLst/>
                          <a:latin typeface="MULISH BLACK ROMAN"/>
                        </a:rPr>
                        <a:t> Williams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58514">
                <a:tc>
                  <a:txBody>
                    <a:bodyPr/>
                    <a:lstStyle/>
                    <a:p>
                      <a:pPr algn="l" fontAlgn="b"/>
                      <a:r>
                        <a:rPr lang="en-US" sz="900" b="0" i="1" u="none" strike="noStrike" dirty="0">
                          <a:solidFill>
                            <a:srgbClr val="000000"/>
                          </a:solidFill>
                          <a:effectLst/>
                          <a:latin typeface="MULISH BLACK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a:solidFill>
                            <a:srgbClr val="000000"/>
                          </a:solidFill>
                          <a:effectLst/>
                          <a:latin typeface="MULISH BLACK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58514">
                <a:tc>
                  <a:txBody>
                    <a:bodyPr/>
                    <a:lstStyle/>
                    <a:p>
                      <a:pPr algn="l" fontAlgn="b"/>
                      <a:r>
                        <a:rPr lang="en-US" sz="900" b="0" i="1" u="none" strike="noStrike" dirty="0">
                          <a:solidFill>
                            <a:srgbClr val="000000"/>
                          </a:solidFill>
                          <a:effectLst/>
                          <a:latin typeface="MULISH BLACK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58514">
                <a:tc>
                  <a:txBody>
                    <a:bodyPr/>
                    <a:lstStyle/>
                    <a:p>
                      <a:pPr algn="l" fontAlgn="b"/>
                      <a:r>
                        <a:rPr lang="en-US" sz="900" b="0" i="1" u="none" strike="noStrike" dirty="0">
                          <a:solidFill>
                            <a:srgbClr val="000000"/>
                          </a:solidFill>
                          <a:effectLst/>
                          <a:latin typeface="MULISH BLACK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58514">
                <a:tc>
                  <a:txBody>
                    <a:bodyPr/>
                    <a:lstStyle/>
                    <a:p>
                      <a:pPr algn="l" fontAlgn="b"/>
                      <a:r>
                        <a:rPr lang="en-US" sz="900" b="0" i="1" u="none" strike="noStrike" dirty="0">
                          <a:solidFill>
                            <a:srgbClr val="000000"/>
                          </a:solidFill>
                          <a:effectLst/>
                          <a:latin typeface="MULISH BLACK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Velazquez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kern="1200" dirty="0">
                          <a:solidFill>
                            <a:schemeClr val="tx1"/>
                          </a:solidFill>
                          <a:effectLst/>
                          <a:latin typeface="MULISH BLACK ROMAN"/>
                          <a:ea typeface="+mn-ea"/>
                          <a:cs typeface="+mn-cs"/>
                        </a:rPr>
                        <a:t>Kousisis</a:t>
                      </a:r>
                      <a:endParaRPr lang="en-US" sz="900" i="1"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58514">
                <a:tc>
                  <a:txBody>
                    <a:bodyPr/>
                    <a:lstStyle/>
                    <a:p>
                      <a:pPr algn="l" fontAlgn="b"/>
                      <a:r>
                        <a:rPr lang="en-US" sz="900" b="0" i="1" u="none" strike="noStrike" dirty="0">
                          <a:solidFill>
                            <a:srgbClr val="000000"/>
                          </a:solidFill>
                          <a:effectLst/>
                          <a:latin typeface="MULISH BLACK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CAFED</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58514">
                <a:tc>
                  <a:txBody>
                    <a:bodyPr/>
                    <a:lstStyle/>
                    <a:p>
                      <a:pPr algn="l" fontAlgn="b"/>
                      <a:r>
                        <a:rPr lang="en-US" sz="900" b="0" i="1" u="none" strike="noStrike" dirty="0">
                          <a:solidFill>
                            <a:srgbClr val="000000"/>
                          </a:solidFill>
                          <a:effectLst/>
                          <a:latin typeface="MULISH BLACK ROMAN"/>
                        </a:rPr>
                        <a:t> Bouarfa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58514">
                <a:tc>
                  <a:txBody>
                    <a:bodyPr/>
                    <a:lstStyle/>
                    <a:p>
                      <a:pPr algn="l" fontAlgn="b"/>
                      <a:r>
                        <a:rPr lang="en-US" sz="900" b="0" i="1" u="none" strike="noStrike" dirty="0">
                          <a:solidFill>
                            <a:srgbClr val="000000"/>
                          </a:solidFill>
                          <a:effectLst/>
                          <a:latin typeface="MULISH BLACK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CAFED</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58514">
                <a:tc>
                  <a:txBody>
                    <a:bodyPr/>
                    <a:lstStyle/>
                    <a:p>
                      <a:pPr algn="l" fontAlgn="b"/>
                      <a:r>
                        <a:rPr lang="en-US" sz="900" b="0" i="1" u="none" strike="noStrike" dirty="0">
                          <a:solidFill>
                            <a:srgbClr val="000000"/>
                          </a:solidFill>
                          <a:effectLst/>
                          <a:latin typeface="MULISH BLACK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58514">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165d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Gutierrez</a:t>
                      </a:r>
                    </a:p>
                  </a:txBody>
                  <a:tcPr marL="45720" marR="0" marT="0" marB="0" anchor="ctr"/>
                </a:tc>
                <a:tc>
                  <a:txBody>
                    <a:bodyPr/>
                    <a:lstStyle/>
                    <a:p>
                      <a:pPr lvl="0" algn="l">
                        <a:lnSpc>
                          <a:spcPct val="100000"/>
                        </a:lnSpc>
                        <a:spcBef>
                          <a:spcPts val="0"/>
                        </a:spcBef>
                        <a:spcAft>
                          <a:spcPts val="0"/>
                        </a:spcAft>
                        <a:buNone/>
                      </a:pPr>
                      <a:r>
                        <a:rPr lang="en-US" sz="900" b="0" i="0" u="none" strike="noStrike" noProof="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123d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gridSpan="5">
                  <a:txBody>
                    <a:bodyPr/>
                    <a:lstStyle/>
                    <a:p>
                      <a:pPr marL="0" algn="l" rtl="0" eaLnBrk="1" fontAlgn="base" latinLnBrk="0" hangingPunct="1">
                        <a:spcBef>
                          <a:spcPts val="0"/>
                        </a:spcBef>
                        <a:spcAft>
                          <a:spcPts val="0"/>
                        </a:spcAft>
                      </a:pPr>
                      <a:r>
                        <a:rPr lang="en-US" sz="900" i="1" dirty="0">
                          <a:effectLst/>
                          <a:latin typeface="MULISH REGULAR ROMAN" pitchFamily="2" charset="77"/>
                        </a:rPr>
                        <a:t>Slated for </a:t>
                      </a:r>
                      <a:r>
                        <a:rPr lang="en-US" sz="900" i="1" dirty="0" err="1">
                          <a:effectLst/>
                          <a:latin typeface="MULISH REGULAR ROMAN" pitchFamily="2" charset="77"/>
                        </a:rPr>
                        <a:t>reargument</a:t>
                      </a:r>
                      <a:endParaRPr lang="en-US" sz="900" i="1"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80119">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5-4</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95d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6-3</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94d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Gorsuch</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6-3</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58514">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68d</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algn="l" fontAlgn="b"/>
                      <a:r>
                        <a:rPr lang="en-US" sz="900" b="0" i="1" u="none" strike="noStrike" dirty="0">
                          <a:solidFill>
                            <a:srgbClr val="000000"/>
                          </a:solidFill>
                          <a:effectLst/>
                          <a:latin typeface="MULISH BLACK ROMAN"/>
                        </a:rPr>
                        <a:t>Hamm</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CA11</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of the Court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56</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58514">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0"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0"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dirty="0">
                          <a:solidFill>
                            <a:srgbClr val="000000"/>
                          </a:solidFill>
                          <a:effectLst/>
                          <a:latin typeface="MULISH BLACK ROMAN"/>
                        </a:rPr>
                        <a:t>Andrew</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CA10</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of the Court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67d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a:solidFill>
                            <a:srgbClr val="000000"/>
                          </a:solidFill>
                          <a:effectLst/>
                          <a:latin typeface="MULISH BLACK ROMAN"/>
                        </a:rPr>
                        <a:t>DOE v. CA</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G</a:t>
                      </a:r>
                    </a:p>
                  </a:txBody>
                  <a:tcPr marL="45720" marR="0" marT="0" marB="0" anchor="ctr"/>
                </a:tc>
                <a:tc>
                  <a:txBody>
                    <a:bodyPr/>
                    <a:lstStyle/>
                    <a:p>
                      <a:pPr algn="l" fontAlgn="b"/>
                      <a:r>
                        <a:rPr lang="en-US" sz="900" b="0" i="0" u="none" strike="noStrike">
                          <a:solidFill>
                            <a:srgbClr val="000000"/>
                          </a:solidFill>
                          <a:effectLst/>
                          <a:latin typeface="MULISH BLACK ROMAN"/>
                        </a:rPr>
                        <a:t>DCMA</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66</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algn="l" fontAlgn="b"/>
                      <a:r>
                        <a:rPr lang="en-US" sz="900" b="0" i="1" u="none" strike="noStrike" dirty="0">
                          <a:solidFill>
                            <a:srgbClr val="000000"/>
                          </a:solidFill>
                          <a:effectLst/>
                          <a:latin typeface="MULISH BLACK ROMAN"/>
                        </a:rPr>
                        <a:t>Trump v. J.G.G.</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DCDC</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algn="l" fontAlgn="b"/>
                      <a:r>
                        <a:rPr lang="en-US" sz="900" b="0" i="1" u="none" strike="noStrike" dirty="0">
                          <a:solidFill>
                            <a:srgbClr val="000000"/>
                          </a:solidFill>
                          <a:effectLst/>
                          <a:latin typeface="MULISH BLACK ROMAN"/>
                        </a:rPr>
                        <a:t>A.A.R.P v. Trump</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CA5</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0</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67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266973">
                <a:tc>
                  <a:txBody>
                    <a:bodyPr/>
                    <a:lstStyle/>
                    <a:p>
                      <a:pPr marL="0" algn="l" rtl="0" eaLnBrk="1" fontAlgn="base" latinLnBrk="0" hangingPunct="1">
                        <a:spcBef>
                          <a:spcPts val="0"/>
                        </a:spcBef>
                        <a:spcAft>
                          <a:spcPts val="0"/>
                        </a:spcAft>
                      </a:pPr>
                      <a:r>
                        <a:rPr lang="en-US" sz="900" i="1" dirty="0">
                          <a:effectLst/>
                          <a:latin typeface="MULISH BLACK ROMAN"/>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r>
                        <a:rPr lang="en-US" sz="900" dirty="0">
                          <a:latin typeface="MULISH BLACK ROMAN"/>
                        </a:rPr>
                        <a:t>Barrett</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6-3</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44d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28</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35184</TotalTime>
  <Words>4314</Words>
  <Application>Microsoft Office PowerPoint</Application>
  <PresentationFormat>Widescreen</PresentationFormat>
  <Paragraphs>1697</Paragraphs>
  <Slides>28</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27,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515</cp:revision>
  <cp:lastPrinted>2019-06-28T21:02:00Z</cp:lastPrinted>
  <dcterms:created xsi:type="dcterms:W3CDTF">2019-02-07T19:44:00Z</dcterms:created>
  <dcterms:modified xsi:type="dcterms:W3CDTF">2025-06-27T16:33:07Z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