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handoutMasterIdLst>
    <p:handoutMasterId r:id="rId31"/>
  </p:handoutMasterIdLst>
  <p:sldIdLst>
    <p:sldId id="392" r:id="rId2"/>
    <p:sldId id="269" r:id="rId3"/>
    <p:sldId id="393" r:id="rId4"/>
    <p:sldId id="391" r:id="rId5"/>
    <p:sldId id="345" r:id="rId6"/>
    <p:sldId id="411" r:id="rId7"/>
    <p:sldId id="404" r:id="rId8"/>
    <p:sldId id="395" r:id="rId9"/>
    <p:sldId id="407" r:id="rId10"/>
    <p:sldId id="396" r:id="rId11"/>
    <p:sldId id="413" r:id="rId12"/>
    <p:sldId id="324" r:id="rId13"/>
    <p:sldId id="383" r:id="rId14"/>
    <p:sldId id="340" r:id="rId15"/>
    <p:sldId id="406" r:id="rId16"/>
    <p:sldId id="381" r:id="rId17"/>
    <p:sldId id="390" r:id="rId18"/>
    <p:sldId id="299" r:id="rId19"/>
    <p:sldId id="414" r:id="rId20"/>
    <p:sldId id="343" r:id="rId21"/>
    <p:sldId id="412" r:id="rId22"/>
    <p:sldId id="415" r:id="rId23"/>
    <p:sldId id="398" r:id="rId24"/>
    <p:sldId id="399" r:id="rId25"/>
    <p:sldId id="400" r:id="rId26"/>
    <p:sldId id="401" r:id="rId27"/>
    <p:sldId id="416" r:id="rId28"/>
    <p:sldId id="402"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413"/>
            <p14:sldId id="324"/>
            <p14:sldId id="383"/>
            <p14:sldId id="340"/>
            <p14:sldId id="406"/>
            <p14:sldId id="381"/>
            <p14:sldId id="390"/>
            <p14:sldId id="299"/>
            <p14:sldId id="414"/>
            <p14:sldId id="343"/>
            <p14:sldId id="412"/>
            <p14:sldId id="415"/>
            <p14:sldId id="398"/>
            <p14:sldId id="399"/>
            <p14:sldId id="400"/>
            <p14:sldId id="401"/>
            <p14:sldId id="416"/>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D0CECE"/>
    <a:srgbClr val="FFFFFF"/>
    <a:srgbClr val="5B9BD5"/>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09" autoAdjust="0"/>
    <p:restoredTop sz="93220" autoAdjust="0"/>
  </p:normalViewPr>
  <p:slideViewPr>
    <p:cSldViewPr snapToGrid="0">
      <p:cViewPr varScale="1">
        <p:scale>
          <a:sx n="107" d="100"/>
          <a:sy n="107" d="100"/>
        </p:scale>
        <p:origin x="984" y="84"/>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6/25/2025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6/25/2025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19</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270274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626B0-9FA2-B25B-45C1-0643DDB99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8D297-41AF-8233-FB75-665F598DE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ACE5C-C44E-FBA9-59AE-264455420B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959D40-C205-23B2-931A-4664C7D448F1}"/>
              </a:ext>
            </a:extLst>
          </p:cNvPr>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99575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6/25/2025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a:t>
            </a:r>
            <a:r>
              <a:rPr lang="en-US" sz="2800" b="1">
                <a:highlight>
                  <a:srgbClr val="FF0000"/>
                </a:highlight>
                <a:latin typeface="MULISH EXTRABOLD ROMAN" pitchFamily="2" charset="77"/>
              </a:rPr>
              <a:t>June 2</a:t>
            </a:r>
            <a:r>
              <a:rPr lang="en-US" sz="2800" b="1" dirty="0">
                <a:highlight>
                  <a:srgbClr val="FF0000"/>
                </a:highlight>
                <a:latin typeface="MULISH EXTRABOLD ROMAN" pitchFamily="2" charset="77"/>
              </a:rPr>
              <a:t>6</a:t>
            </a:r>
            <a:r>
              <a:rPr lang="en-US" sz="2800" b="1">
                <a:highlight>
                  <a:srgbClr val="FF0000"/>
                </a:highlight>
                <a:latin typeface="MULISH EXTRABOLD ROMAN" pitchFamily="2" charset="77"/>
              </a:rPr>
              <a:t>, </a:t>
            </a:r>
            <a:r>
              <a:rPr lang="en-US" sz="2800" b="1" dirty="0">
                <a:highlight>
                  <a:srgbClr val="FF0000"/>
                </a:highlight>
                <a:latin typeface="MULISH EXTRABOLD ROMAN" pitchFamily="2" charset="77"/>
              </a:rPr>
              <a:t>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038072216"/>
              </p:ext>
            </p:extLst>
          </p:nvPr>
        </p:nvGraphicFramePr>
        <p:xfrm>
          <a:off x="304800" y="923675"/>
          <a:ext cx="11582400" cy="45864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Slip Opinions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both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pic>
        <p:nvPicPr>
          <p:cNvPr id="10" name="Picture 9" descr="A graph of different colored bars&#10;&#10;AI-generated content may be incorrect.">
            <a:extLst>
              <a:ext uri="{FF2B5EF4-FFF2-40B4-BE49-F238E27FC236}">
                <a16:creationId xmlns:a16="http://schemas.microsoft.com/office/drawing/2014/main" id="{F0935E5A-9FE5-B118-3825-D4D069DA542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88886" y="896352"/>
            <a:ext cx="8512369" cy="5107421"/>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SLIP OPINIONS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SLIP OPINIONS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816042712"/>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Velazquez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dirty="0">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dirty="0">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Misleading vs. false statements under §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dirty="0">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9" name="Picture 8" descr="A graph with numbers and lines&#10;&#10;AI-generated content may be incorrect.">
            <a:extLst>
              <a:ext uri="{FF2B5EF4-FFF2-40B4-BE49-F238E27FC236}">
                <a16:creationId xmlns:a16="http://schemas.microsoft.com/office/drawing/2014/main" id="{70DAA870-5918-B24E-430A-7AB5078BD54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6522"/>
            <a:ext cx="9145908" cy="5487545"/>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a:t>
            </a:r>
            <a:r>
              <a:rPr lang="en-US" sz="1200" i="1" dirty="0">
                <a:latin typeface="MULISH REGULAR ROMAN"/>
              </a:rPr>
              <a:t>per </a:t>
            </a:r>
            <a:r>
              <a:rPr lang="en-US" sz="1200" i="1" dirty="0" err="1">
                <a:latin typeface="MULISH REGULAR ROMAN"/>
              </a:rPr>
              <a:t>curiam</a:t>
            </a:r>
            <a:r>
              <a:rPr lang="en-US" sz="1200" i="1" dirty="0">
                <a:latin typeface="MULISH REGULAR ROMAN"/>
              </a:rPr>
              <a:t>, </a:t>
            </a:r>
            <a:r>
              <a:rPr lang="en-US" sz="1200" dirty="0">
                <a:latin typeface="MULISH REGULAR ROMAN"/>
              </a:rPr>
              <a:t>or </a:t>
            </a:r>
            <a:r>
              <a:rPr lang="en-US" sz="1200" i="1" dirty="0">
                <a:latin typeface="MULISH REGULAR ROMAN"/>
              </a:rPr>
              <a:t>dismissed as improvidently granted</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12" name="Picture 11" descr="A group of people in a row&#10;&#10;AI-generated content may be incorrect.">
            <a:extLst>
              <a:ext uri="{FF2B5EF4-FFF2-40B4-BE49-F238E27FC236}">
                <a16:creationId xmlns:a16="http://schemas.microsoft.com/office/drawing/2014/main" id="{416CDD4B-14E7-A4A6-6564-1EBF0D5CAF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17267"/>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212688"/>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12" name="Picture 11" descr="A group of people in a row&#10;&#10;AI-generated content may be incorrect.">
            <a:extLst>
              <a:ext uri="{FF2B5EF4-FFF2-40B4-BE49-F238E27FC236}">
                <a16:creationId xmlns:a16="http://schemas.microsoft.com/office/drawing/2014/main" id="{939C1D28-11BB-531D-B351-E84813F7FF4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17267"/>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12" name="Picture 11" descr="A group of people standing in front of a graph&#10;&#10;AI-generated content may be incorrect.">
            <a:extLst>
              <a:ext uri="{FF2B5EF4-FFF2-40B4-BE49-F238E27FC236}">
                <a16:creationId xmlns:a16="http://schemas.microsoft.com/office/drawing/2014/main" id="{A5CF3C90-131B-10AD-F6E9-A177E137F76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11" name="Picture 10" descr="A group of people in a graph&#10;&#10;AI-generated content may be incorrect.">
            <a:extLst>
              <a:ext uri="{FF2B5EF4-FFF2-40B4-BE49-F238E27FC236}">
                <a16:creationId xmlns:a16="http://schemas.microsoft.com/office/drawing/2014/main" id="{A8DE6C20-0A14-83D8-A49D-19A38969D27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10" name="Picture 9" descr="A group of people in a graph&#10;&#10;AI-generated content may be incorrect.">
            <a:extLst>
              <a:ext uri="{FF2B5EF4-FFF2-40B4-BE49-F238E27FC236}">
                <a16:creationId xmlns:a16="http://schemas.microsoft.com/office/drawing/2014/main" id="{B52E28C1-6667-EC9D-6B72-5EA7796D856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656030211"/>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867435415"/>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612656217"/>
              </p:ext>
            </p:extLst>
          </p:nvPr>
        </p:nvGraphicFramePr>
        <p:xfrm>
          <a:off x="4656536" y="4156187"/>
          <a:ext cx="6505995" cy="2513061"/>
        </p:xfrm>
        <a:graphic>
          <a:graphicData uri="http://schemas.openxmlformats.org/drawingml/2006/table">
            <a:tbl>
              <a:tblPr firstRow="1" bandRow="1">
                <a:tableStyleId>{C083E6E3-FA7D-4D7B-A595-EF9225AFEA82}</a:tableStyleId>
              </a:tblPr>
              <a:tblGrid>
                <a:gridCol w="1722841">
                  <a:extLst>
                    <a:ext uri="{9D8B030D-6E8A-4147-A177-3AD203B41FA5}">
                      <a16:colId xmlns:a16="http://schemas.microsoft.com/office/drawing/2014/main" val="20000"/>
                    </a:ext>
                  </a:extLst>
                </a:gridCol>
                <a:gridCol w="1167543">
                  <a:extLst>
                    <a:ext uri="{9D8B030D-6E8A-4147-A177-3AD203B41FA5}">
                      <a16:colId xmlns:a16="http://schemas.microsoft.com/office/drawing/2014/main" val="20001"/>
                    </a:ext>
                  </a:extLst>
                </a:gridCol>
                <a:gridCol w="3615611">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Laboratory Corp.</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2" name="TextBox 1">
            <a:extLst>
              <a:ext uri="{FF2B5EF4-FFF2-40B4-BE49-F238E27FC236}">
                <a16:creationId xmlns:a16="http://schemas.microsoft.com/office/drawing/2014/main" id="{9DE224FF-55AD-FCBC-8A44-28C5566A10DB}"/>
              </a:ext>
            </a:extLst>
          </p:cNvPr>
          <p:cNvSpPr txBox="1"/>
          <p:nvPr/>
        </p:nvSpPr>
        <p:spPr>
          <a:xfrm>
            <a:off x="6096000" y="345170"/>
            <a:ext cx="5066531" cy="400110"/>
          </a:xfrm>
          <a:prstGeom prst="rect">
            <a:avLst/>
          </a:prstGeom>
          <a:noFill/>
          <a:ln>
            <a:solidFill>
              <a:schemeClr val="tx1"/>
            </a:solidFill>
          </a:ln>
        </p:spPr>
        <p:txBody>
          <a:bodyPr wrap="square">
            <a:spAutoFit/>
          </a:bodyPr>
          <a:lstStyle/>
          <a:p>
            <a:r>
              <a:rPr lang="en-US" sz="1000" dirty="0"/>
              <a:t>Only cases with a signed majority opinion are included in this analysis – cases decided </a:t>
            </a:r>
            <a:r>
              <a:rPr lang="en-US" sz="1000" i="1" dirty="0"/>
              <a:t>per </a:t>
            </a:r>
            <a:r>
              <a:rPr lang="en-US" sz="1000" i="1" dirty="0" err="1"/>
              <a:t>curiam</a:t>
            </a:r>
            <a:r>
              <a:rPr lang="en-US" sz="1000" dirty="0"/>
              <a:t> with no signed majority opinion are omitted. </a:t>
            </a:r>
          </a:p>
        </p:txBody>
      </p:sp>
    </p:spTree>
    <p:extLst>
      <p:ext uri="{BB962C8B-B14F-4D97-AF65-F5344CB8AC3E}">
        <p14:creationId xmlns:p14="http://schemas.microsoft.com/office/powerpoint/2010/main" val="1104016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14</a:t>
            </a:fld>
            <a:endParaRPr lang="en-US"/>
          </a:p>
        </p:txBody>
      </p:sp>
      <p:pic>
        <p:nvPicPr>
          <p:cNvPr id="9" name="Picture 8" descr="A diagram of pie charts&#10;&#10;AI-generated content may be incorrect.">
            <a:extLst>
              <a:ext uri="{FF2B5EF4-FFF2-40B4-BE49-F238E27FC236}">
                <a16:creationId xmlns:a16="http://schemas.microsoft.com/office/drawing/2014/main" id="{4CF3BBC1-A88A-25B5-8AA6-7DE932BA3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10" name="Picture 9" descr="A diagram of a pie chart&#10;&#10;AI-generated content may be incorrect.">
            <a:extLst>
              <a:ext uri="{FF2B5EF4-FFF2-40B4-BE49-F238E27FC236}">
                <a16:creationId xmlns:a16="http://schemas.microsoft.com/office/drawing/2014/main" id="{5EE2757F-7E8F-6804-411A-CD1E9A35703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54193332"/>
              </p:ext>
            </p:extLst>
          </p:nvPr>
        </p:nvGraphicFramePr>
        <p:xfrm>
          <a:off x="344807" y="918414"/>
          <a:ext cx="10648854" cy="4872780"/>
        </p:xfrm>
        <a:graphic>
          <a:graphicData uri="http://schemas.openxmlformats.org/drawingml/2006/table">
            <a:tbl>
              <a:tblPr firstRow="1" bandRow="1">
                <a:tableStyleId>{C083E6E3-FA7D-4D7B-A595-EF9225AFEA82}</a:tableStyleId>
              </a:tblPr>
              <a:tblGrid>
                <a:gridCol w="1774809">
                  <a:extLst>
                    <a:ext uri="{9D8B030D-6E8A-4147-A177-3AD203B41FA5}">
                      <a16:colId xmlns:a16="http://schemas.microsoft.com/office/drawing/2014/main" val="20000"/>
                    </a:ext>
                  </a:extLst>
                </a:gridCol>
                <a:gridCol w="1774809">
                  <a:extLst>
                    <a:ext uri="{9D8B030D-6E8A-4147-A177-3AD203B41FA5}">
                      <a16:colId xmlns:a16="http://schemas.microsoft.com/office/drawing/2014/main" val="20001"/>
                    </a:ext>
                  </a:extLst>
                </a:gridCol>
                <a:gridCol w="1774809">
                  <a:extLst>
                    <a:ext uri="{9D8B030D-6E8A-4147-A177-3AD203B41FA5}">
                      <a16:colId xmlns:a16="http://schemas.microsoft.com/office/drawing/2014/main" val="20004"/>
                    </a:ext>
                  </a:extLst>
                </a:gridCol>
                <a:gridCol w="1774809">
                  <a:extLst>
                    <a:ext uri="{9D8B030D-6E8A-4147-A177-3AD203B41FA5}">
                      <a16:colId xmlns:a16="http://schemas.microsoft.com/office/drawing/2014/main" val="20005"/>
                    </a:ext>
                  </a:extLst>
                </a:gridCol>
                <a:gridCol w="1774809">
                  <a:extLst>
                    <a:ext uri="{9D8B030D-6E8A-4147-A177-3AD203B41FA5}">
                      <a16:colId xmlns:a16="http://schemas.microsoft.com/office/drawing/2014/main" val="20006"/>
                    </a:ext>
                  </a:extLst>
                </a:gridCol>
                <a:gridCol w="1774809">
                  <a:extLst>
                    <a:ext uri="{9D8B030D-6E8A-4147-A177-3AD203B41FA5}">
                      <a16:colId xmlns:a16="http://schemas.microsoft.com/office/drawing/2014/main" val="20007"/>
                    </a:ext>
                  </a:extLst>
                </a:gridCol>
              </a:tblGrid>
              <a:tr h="324852">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Circuit</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dirty="0">
                          <a:solidFill>
                            <a:srgbClr val="000000"/>
                          </a:solidFill>
                          <a:effectLst/>
                          <a:latin typeface="Calibri" panose="020F0502020204030204" pitchFamily="34" charset="0"/>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100%</a:t>
                      </a:r>
                    </a:p>
                  </a:txBody>
                  <a:tcPr marL="9525" marR="9525" marT="9525" marB="0" anchor="ctr">
                    <a:lnT w="12700" cmpd="sng">
                      <a:noFill/>
                    </a:lnT>
                  </a:tcPr>
                </a:tc>
                <a:extLst>
                  <a:ext uri="{0D108BD9-81ED-4DB2-BD59-A6C34878D82A}">
                    <a16:rowId xmlns:a16="http://schemas.microsoft.com/office/drawing/2014/main" val="10002"/>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2</a:t>
                      </a:r>
                      <a:r>
                        <a:rPr lang="en-US" sz="1100" b="0" kern="1200" baseline="30000" dirty="0">
                          <a:effectLst/>
                          <a:latin typeface="MULISH REGULAR ROMAN"/>
                        </a:rPr>
                        <a:t>nd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Calibri" panose="020F0502020204030204" pitchFamily="34" charset="0"/>
                        </a:rPr>
                        <a:t>5</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40%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60%</a:t>
                      </a:r>
                    </a:p>
                  </a:txBody>
                  <a:tcPr marL="9525" marR="9525" marT="9525" marB="0" anchor="ctr"/>
                </a:tc>
                <a:extLst>
                  <a:ext uri="{0D108BD9-81ED-4DB2-BD59-A6C34878D82A}">
                    <a16:rowId xmlns:a16="http://schemas.microsoft.com/office/drawing/2014/main" val="10003"/>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3</a:t>
                      </a:r>
                      <a:r>
                        <a:rPr lang="en-US" sz="1100" b="0" kern="1200" baseline="30000" dirty="0">
                          <a:effectLst/>
                          <a:latin typeface="MULISH REGULAR ROMAN"/>
                        </a:rPr>
                        <a:t>rd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extLst>
                  <a:ext uri="{0D108BD9-81ED-4DB2-BD59-A6C34878D82A}">
                    <a16:rowId xmlns:a16="http://schemas.microsoft.com/office/drawing/2014/main" val="10004"/>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4</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6</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6</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100%</a:t>
                      </a:r>
                    </a:p>
                  </a:txBody>
                  <a:tcPr marL="9525" marR="9525" marT="9525" marB="0" anchor="ctr"/>
                </a:tc>
                <a:extLst>
                  <a:ext uri="{0D108BD9-81ED-4DB2-BD59-A6C34878D82A}">
                    <a16:rowId xmlns:a16="http://schemas.microsoft.com/office/drawing/2014/main" val="10005"/>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5</a:t>
                      </a:r>
                      <a:r>
                        <a:rPr lang="en-US" sz="1100" b="0" kern="1200" baseline="30000" dirty="0">
                          <a:effectLst/>
                          <a:latin typeface="MULISH REGULAR ROMAN"/>
                        </a:rPr>
                        <a:t>th</a:t>
                      </a:r>
                      <a:r>
                        <a:rPr lang="en-US" sz="1100" b="0" kern="1200" dirty="0">
                          <a:effectLst/>
                          <a:latin typeface="MULISH REGULAR ROMAN"/>
                        </a:rPr>
                        <a:t> </a:t>
                      </a:r>
                      <a:r>
                        <a:rPr lang="en-US" sz="1100" b="0" kern="1200" baseline="30000" dirty="0">
                          <a:effectLst/>
                          <a:latin typeface="MULISH REGULAR ROMAN"/>
                        </a:rPr>
                        <a:t> </a:t>
                      </a:r>
                      <a:r>
                        <a:rPr lang="en-US" sz="1100" b="0" kern="1200" dirty="0">
                          <a:effectLst/>
                          <a:latin typeface="MULISH REGULAR ROMAN"/>
                        </a:rPr>
                        <a:t>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10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8</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80%</a:t>
                      </a:r>
                    </a:p>
                  </a:txBody>
                  <a:tcPr marL="9525" marR="9525" marT="9525" marB="0" anchor="ctr"/>
                </a:tc>
                <a:extLst>
                  <a:ext uri="{0D108BD9-81ED-4DB2-BD59-A6C34878D82A}">
                    <a16:rowId xmlns:a16="http://schemas.microsoft.com/office/drawing/2014/main" val="10006"/>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6</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extLst>
                  <a:ext uri="{0D108BD9-81ED-4DB2-BD59-A6C34878D82A}">
                    <a16:rowId xmlns:a16="http://schemas.microsoft.com/office/drawing/2014/main" val="10007"/>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7</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dirty="0">
                          <a:solidFill>
                            <a:srgbClr val="000000"/>
                          </a:solidFill>
                          <a:effectLst/>
                          <a:latin typeface="Calibri" panose="020F0502020204030204" pitchFamily="34" charset="0"/>
                        </a:rPr>
                        <a:t>1</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extLst>
                  <a:ext uri="{0D108BD9-81ED-4DB2-BD59-A6C34878D82A}">
                    <a16:rowId xmlns:a16="http://schemas.microsoft.com/office/drawing/2014/main" val="10008"/>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8</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extLst>
                  <a:ext uri="{0D108BD9-81ED-4DB2-BD59-A6C34878D82A}">
                    <a16:rowId xmlns:a16="http://schemas.microsoft.com/office/drawing/2014/main" val="10009"/>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9</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6</a:t>
                      </a:r>
                    </a:p>
                  </a:txBody>
                  <a:tcPr marL="9525" marR="9525" marT="9525" marB="0" anchor="ct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100%</a:t>
                      </a:r>
                    </a:p>
                  </a:txBody>
                  <a:tcPr marL="9525" marR="9525" marT="9525" marB="0" anchor="ctr"/>
                </a:tc>
                <a:extLst>
                  <a:ext uri="{0D108BD9-81ED-4DB2-BD59-A6C34878D82A}">
                    <a16:rowId xmlns:a16="http://schemas.microsoft.com/office/drawing/2014/main" val="10010"/>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10</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5</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ctr"/>
                </a:tc>
                <a:tc>
                  <a:txBody>
                    <a:bodyPr/>
                    <a:lstStyle/>
                    <a:p>
                      <a:pPr algn="ctr" fontAlgn="b"/>
                      <a:r>
                        <a:rPr lang="en-US" sz="1100" b="0" i="0" u="none" strike="noStrike" dirty="0">
                          <a:solidFill>
                            <a:srgbClr val="000000"/>
                          </a:solidFill>
                          <a:effectLst/>
                          <a:latin typeface="Calibri" panose="020F0502020204030204" pitchFamily="34" charset="0"/>
                        </a:rPr>
                        <a:t>5</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100%</a:t>
                      </a:r>
                    </a:p>
                  </a:txBody>
                  <a:tcPr marL="9525" marR="9525" marT="9525" marB="0" anchor="ctr"/>
                </a:tc>
                <a:extLst>
                  <a:ext uri="{0D108BD9-81ED-4DB2-BD59-A6C34878D82A}">
                    <a16:rowId xmlns:a16="http://schemas.microsoft.com/office/drawing/2014/main" val="10011"/>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11</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dirty="0">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50%</a:t>
                      </a:r>
                    </a:p>
                  </a:txBody>
                  <a:tcPr marL="9525" marR="9525" marT="9525" marB="0" anchor="ctr"/>
                </a:tc>
                <a:extLst>
                  <a:ext uri="{0D108BD9-81ED-4DB2-BD59-A6C34878D82A}">
                    <a16:rowId xmlns:a16="http://schemas.microsoft.com/office/drawing/2014/main" val="10012"/>
                  </a:ext>
                </a:extLst>
              </a:tr>
              <a:tr h="324852">
                <a:tc>
                  <a:txBody>
                    <a:bodyPr/>
                    <a:lstStyle/>
                    <a:p>
                      <a:pPr marL="0" algn="ctr" rtl="0">
                        <a:spcBef>
                          <a:spcPts val="0"/>
                        </a:spcBef>
                        <a:spcAft>
                          <a:spcPts val="0"/>
                        </a:spcAft>
                      </a:pPr>
                      <a:r>
                        <a:rPr lang="en-US" sz="1100" b="0" kern="1200" dirty="0">
                          <a:effectLst/>
                          <a:latin typeface="MULISH REGULAR ROMAN"/>
                        </a:rPr>
                        <a:t>D.C.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5</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ctr"/>
                </a:tc>
                <a:tc>
                  <a:txBody>
                    <a:bodyPr/>
                    <a:lstStyle/>
                    <a:p>
                      <a:pPr algn="ctr" fontAlgn="b"/>
                      <a:r>
                        <a:rPr lang="en-US" sz="1100" b="0" i="0" u="none" strike="noStrike" dirty="0">
                          <a:solidFill>
                            <a:srgbClr val="000000"/>
                          </a:solidFill>
                          <a:effectLst/>
                          <a:latin typeface="Calibri" panose="020F0502020204030204" pitchFamily="34" charset="0"/>
                        </a:rPr>
                        <a:t>40%</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60%</a:t>
                      </a:r>
                    </a:p>
                  </a:txBody>
                  <a:tcPr marL="9525" marR="9525" marT="9525" marB="0" anchor="ctr"/>
                </a:tc>
                <a:extLst>
                  <a:ext uri="{0D108BD9-81ED-4DB2-BD59-A6C34878D82A}">
                    <a16:rowId xmlns:a16="http://schemas.microsoft.com/office/drawing/2014/main" val="10013"/>
                  </a:ext>
                </a:extLst>
              </a:tr>
              <a:tr h="324852">
                <a:tc>
                  <a:txBody>
                    <a:bodyPr/>
                    <a:lstStyle/>
                    <a:p>
                      <a:pPr marL="0" algn="ctr" rtl="0">
                        <a:spcBef>
                          <a:spcPts val="0"/>
                        </a:spcBef>
                        <a:spcAft>
                          <a:spcPts val="0"/>
                        </a:spcAft>
                      </a:pPr>
                      <a:r>
                        <a:rPr lang="en-US" sz="1100" b="0" kern="1200" dirty="0">
                          <a:latin typeface="MULISH REGULAR ROMAN"/>
                        </a:rPr>
                        <a:t>Fed.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Calibri" panose="020F0502020204030204" pitchFamily="34" charset="0"/>
                        </a:rPr>
                        <a:t>3</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ctr"/>
                </a:tc>
                <a:tc>
                  <a:txBody>
                    <a:bodyPr/>
                    <a:lstStyle/>
                    <a:p>
                      <a:pPr algn="ctr" fontAlgn="b"/>
                      <a:r>
                        <a:rPr lang="en-US" sz="1100" b="0" i="0" u="none" strike="noStrike" dirty="0">
                          <a:solidFill>
                            <a:srgbClr val="000000"/>
                          </a:solidFill>
                          <a:effectLst/>
                          <a:latin typeface="Calibri" panose="020F0502020204030204" pitchFamily="34" charset="0"/>
                        </a:rPr>
                        <a:t>33.3%</a:t>
                      </a:r>
                    </a:p>
                  </a:txBody>
                  <a:tcPr marL="9525" marR="9525" marT="9525" marB="0" anchor="ctr"/>
                </a:tc>
                <a:tc>
                  <a:txBody>
                    <a:bodyPr/>
                    <a:lstStyle/>
                    <a:p>
                      <a:pPr algn="ctr" fontAlgn="b"/>
                      <a:r>
                        <a:rPr lang="en-US" sz="1100" b="0" i="0" u="none" strike="noStrike" dirty="0">
                          <a:solidFill>
                            <a:srgbClr val="000000"/>
                          </a:solidFill>
                          <a:effectLst/>
                          <a:latin typeface="Calibri" panose="020F0502020204030204" pitchFamily="34" charset="0"/>
                        </a:rPr>
                        <a:t>66.7%</a:t>
                      </a:r>
                    </a:p>
                  </a:txBody>
                  <a:tcPr marL="9525" marR="9525" marT="9525" marB="0" anchor="ctr"/>
                </a:tc>
                <a:extLst>
                  <a:ext uri="{0D108BD9-81ED-4DB2-BD59-A6C34878D82A}">
                    <a16:rowId xmlns:a16="http://schemas.microsoft.com/office/drawing/2014/main" val="10014"/>
                  </a:ext>
                </a:extLst>
              </a:tr>
              <a:tr h="324852">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47" y="6003935"/>
            <a:ext cx="10672816" cy="577081"/>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different lower courts as single entries. For example, a consolidated case emerging from conflicting decisions in the U.S. Courts of Appeal for the Fifth and Ninth Circuits where the principal case on the court’s docket (e.g., the principal litigants of record) are those from the Fifth are reflected as a single entry from that circuit. Alternatively, consolidated cases emerging from the same circuit are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16</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825569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13" name="Picture 12" descr="A graph with numbers and lines&#10;&#10;AI-generated content may be incorrect.">
            <a:extLst>
              <a:ext uri="{FF2B5EF4-FFF2-40B4-BE49-F238E27FC236}">
                <a16:creationId xmlns:a16="http://schemas.microsoft.com/office/drawing/2014/main" id="{2B772F60-F9DE-25B0-011E-D4290706A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6" y="786953"/>
            <a:ext cx="5217914" cy="3130748"/>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3147261161"/>
              </p:ext>
            </p:extLst>
          </p:nvPr>
        </p:nvGraphicFramePr>
        <p:xfrm>
          <a:off x="224287" y="961859"/>
          <a:ext cx="11645661" cy="5351850"/>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Waetzig</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Hungary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Royal Canin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Bouarfa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Delligatti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Feliciano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Perttu</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Soto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CC/Devas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Rivers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Diamond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Trump v. J.G.G.</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Laboratory Corp.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McLaughlin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Perttu</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Calumet </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Advocate Christ Medical</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NRC</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Feliciano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892019136"/>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Fuld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Calumet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rgbClr val="000000"/>
                          </a:solidFill>
                          <a:effectLst/>
                          <a:latin typeface="MULISH BLACK ROMAN"/>
                        </a:rPr>
                        <a:t>McLaughlin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 R.J. Reynolds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Fuld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MULISH BLACK ROMAN"/>
                        </a:rPr>
                        <a:t>R.J. Reynolds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1"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444612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12" name="Picture 11" descr="A graph showing a bar chart&#10;&#10;AI-generated content may be incorrect.">
            <a:extLst>
              <a:ext uri="{FF2B5EF4-FFF2-40B4-BE49-F238E27FC236}">
                <a16:creationId xmlns:a16="http://schemas.microsoft.com/office/drawing/2014/main" id="{878AB966-98DA-00ED-229E-AD418DFBD9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1349778561"/>
              </p:ext>
            </p:extLst>
          </p:nvPr>
        </p:nvGraphicFramePr>
        <p:xfrm>
          <a:off x="0" y="792698"/>
          <a:ext cx="12192000" cy="5388820"/>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NVIDIA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12/11/2024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Facebook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Laboratory Corp.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 (8-1)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Drummond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22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5/22/2025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Concurrence</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Alito</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7-2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14,200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14,100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MULISH BLACK ROMAN"/>
                        </a:rPr>
                        <a:t>Skrmetti</a:t>
                      </a:r>
                      <a:endParaRPr lang="en-US" sz="1100" b="0" i="1"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9,800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9,300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Medical Marijuana</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8,200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 Barrett; Kagan; Roberts;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34,200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24,900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 Gorsuch; Jackson; Kavanaugh;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17,700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Jackson; Kavanaugh;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17,400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Stanley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Jackson;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17,000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21</a:t>
            </a:fld>
            <a:endParaRPr lang="en-US"/>
          </a:p>
        </p:txBody>
      </p:sp>
    </p:spTree>
    <p:extLst>
      <p:ext uri="{BB962C8B-B14F-4D97-AF65-F5344CB8AC3E}">
        <p14:creationId xmlns:p14="http://schemas.microsoft.com/office/powerpoint/2010/main" val="5787724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975642976"/>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4880.67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4811.14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4277.58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3094.5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3258.38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3786.07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3416.77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3945.73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3206.7</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876800" y="5399974"/>
            <a:ext cx="620258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22</a:t>
            </a:fld>
            <a:endParaRPr lang="en-US"/>
          </a:p>
        </p:txBody>
      </p:sp>
      <p:pic>
        <p:nvPicPr>
          <p:cNvPr id="13" name="Picture 12" descr="A graph of different types of graphs&#10;&#10;AI-generated content may be incorrect.">
            <a:extLst>
              <a:ext uri="{FF2B5EF4-FFF2-40B4-BE49-F238E27FC236}">
                <a16:creationId xmlns:a16="http://schemas.microsoft.com/office/drawing/2014/main" id="{DECD6BC9-1198-E84E-9794-F25DF9291CF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44573"/>
            <a:ext cx="6973551" cy="4184130"/>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6280420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23</a:t>
            </a:fld>
            <a:endParaRPr lang="en-US"/>
          </a:p>
        </p:txBody>
      </p:sp>
      <p:sp>
        <p:nvSpPr>
          <p:cNvPr id="2" name="TextBox 1">
            <a:extLst>
              <a:ext uri="{FF2B5EF4-FFF2-40B4-BE49-F238E27FC236}">
                <a16:creationId xmlns:a16="http://schemas.microsoft.com/office/drawing/2014/main" id="{F26D9EE1-F030-3FDD-2CF9-9A4D537F2255}"/>
              </a:ext>
            </a:extLst>
          </p:cNvPr>
          <p:cNvSpPr txBox="1"/>
          <p:nvPr/>
        </p:nvSpPr>
        <p:spPr>
          <a:xfrm>
            <a:off x="357712" y="6275365"/>
            <a:ext cx="10515599" cy="600164"/>
          </a:xfrm>
          <a:prstGeom prst="rect">
            <a:avLst/>
          </a:prstGeom>
          <a:noFill/>
        </p:spPr>
        <p:txBody>
          <a:bodyPr wrap="square" rtlCol="0">
            <a:spAutoFit/>
          </a:bodyPr>
          <a:lstStyle/>
          <a:p>
            <a:r>
              <a:rPr lang="en-US" sz="1100" dirty="0">
                <a:latin typeface="MULISH BLACK ROMAN"/>
              </a:rPr>
              <a:t>*  Justices Thomas and Gorsuch would vote to grant the petition and set the case for argument.</a:t>
            </a:r>
          </a:p>
          <a:p>
            <a:r>
              <a:rPr lang="en-US" sz="1100" dirty="0">
                <a:latin typeface="MULISH BLACK ROMAN"/>
              </a:rPr>
              <a:t>** Justice Barrett joined the majority but only with respect to Part II, authored a separate opinion concurring (</a:t>
            </a:r>
            <a:r>
              <a:rPr lang="en-US" sz="1100" i="1" dirty="0">
                <a:latin typeface="MULISH BLACK ROMAN"/>
              </a:rPr>
              <a:t>in part</a:t>
            </a:r>
            <a:r>
              <a:rPr lang="en-US" sz="1100" dirty="0">
                <a:latin typeface="MULISH BLACK ROMAN"/>
              </a:rPr>
              <a:t>) and dissenting (</a:t>
            </a:r>
            <a:r>
              <a:rPr lang="en-US" sz="1100" i="1" dirty="0">
                <a:latin typeface="MULISH BLACK ROMAN"/>
              </a:rPr>
              <a:t>in part</a:t>
            </a:r>
            <a:r>
              <a:rPr lang="en-US" sz="1100" dirty="0">
                <a:latin typeface="MULISH BLACK ROMAN"/>
              </a:rPr>
              <a:t>), and joined Justice Thomas’ dissent with respect to Parts IV-A-1, IV-A-2, and IV-A-3. </a:t>
            </a:r>
          </a:p>
        </p:txBody>
      </p:sp>
    </p:spTree>
    <p:extLst>
      <p:ext uri="{BB962C8B-B14F-4D97-AF65-F5344CB8AC3E}">
        <p14:creationId xmlns:p14="http://schemas.microsoft.com/office/powerpoint/2010/main" val="619884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05294745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Velazquez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430887"/>
          </a:xfrm>
          <a:prstGeom prst="rect">
            <a:avLst/>
          </a:prstGeom>
          <a:noFill/>
        </p:spPr>
        <p:txBody>
          <a:bodyPr wrap="square" rtlCol="0">
            <a:spAutoFit/>
          </a:bodyPr>
          <a:lstStyle/>
          <a:p>
            <a:r>
              <a:rPr lang="en-US" sz="1100" dirty="0">
                <a:latin typeface="MULISH BLACK ROMAN"/>
              </a:rPr>
              <a:t>* Chief Justice Roberts would have voted to deny the application.</a:t>
            </a:r>
            <a:br>
              <a:rPr lang="en-US" sz="1100" dirty="0">
                <a:latin typeface="MULISH BLACK ROMAN"/>
              </a:rPr>
            </a:br>
            <a:r>
              <a:rPr lang="en-US" sz="1100" dirty="0">
                <a:latin typeface="MULISH BLACK ROMAN"/>
              </a:rPr>
              <a:t>** Justice Barrett authored an opinion dissenting (</a:t>
            </a:r>
            <a:r>
              <a:rPr lang="en-US" sz="1100" i="1" dirty="0">
                <a:latin typeface="MULISH BLACK ROMAN"/>
              </a:rPr>
              <a:t>in part</a:t>
            </a:r>
            <a:r>
              <a:rPr lang="en-US" sz="1100" dirty="0">
                <a:latin typeface="MULISH BLACK ROMAN"/>
              </a:rPr>
              <a:t>) – this opinion is coded as a dissent since there was no additional concurrence (</a:t>
            </a:r>
            <a:r>
              <a:rPr lang="en-US" sz="1100" i="1" dirty="0">
                <a:latin typeface="MULISH BLACK ROMAN"/>
              </a:rPr>
              <a:t>in part</a:t>
            </a:r>
            <a:r>
              <a:rPr lang="en-US" sz="1100" dirty="0">
                <a:latin typeface="MULISH BLACK ROMAN"/>
              </a:rPr>
              <a:t>). </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24</a:t>
            </a:fld>
            <a:endParaRPr lang="en-US" dirty="0"/>
          </a:p>
        </p:txBody>
      </p:sp>
    </p:spTree>
    <p:extLst>
      <p:ext uri="{BB962C8B-B14F-4D97-AF65-F5344CB8AC3E}">
        <p14:creationId xmlns:p14="http://schemas.microsoft.com/office/powerpoint/2010/main" val="33742460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24944705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 (8-1)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dirty="0"/>
              <a:t>* Oklahoma Charter Schools v. Drummond </a:t>
            </a:r>
            <a:r>
              <a:rPr lang="en-US" sz="1100" dirty="0"/>
              <a:t>was decided </a:t>
            </a:r>
            <a:r>
              <a:rPr lang="en-US" sz="1100" i="1" dirty="0"/>
              <a:t>per </a:t>
            </a:r>
            <a:r>
              <a:rPr lang="en-US" sz="1100" i="1" dirty="0" err="1"/>
              <a:t>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1610198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276664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Hewitt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(5-4)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Medina</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0" i="0" u="none" strike="noStrike" noProof="0" dirty="0">
                          <a:effectLst/>
                          <a:latin typeface="MULISH REGULAR ROMAN" pitchFamily="2" charset="77"/>
                        </a:rPr>
                        <a:t>Gutierrez</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justice to dissent in full, the decision is coded as (8-1). Although Justice Sotomayor joined Justice Jackson’s dissent with respect to elements of Parts III and IV, they joined with the plurality of the court in not reversing the 11</a:t>
            </a:r>
            <a:r>
              <a:rPr lang="en-US" sz="1100" baseline="30000" dirty="0">
                <a:latin typeface="MULISH BLACK ROMAN"/>
              </a:rPr>
              <a:t>th</a:t>
            </a:r>
            <a:r>
              <a:rPr lang="en-US" sz="1100" dirty="0">
                <a:latin typeface="MULISH BLACK ROMAN"/>
              </a:rPr>
              <a:t> Circuit. </a:t>
            </a:r>
            <a:endParaRPr lang="en-US" sz="1100" dirty="0">
              <a:highlight>
                <a:srgbClr val="FFFF00"/>
              </a:highlight>
              <a:latin typeface="MULISH BLACK ROMAN"/>
            </a:endParaRPr>
          </a:p>
        </p:txBody>
      </p:sp>
    </p:spTree>
    <p:extLst>
      <p:ext uri="{BB962C8B-B14F-4D97-AF65-F5344CB8AC3E}">
        <p14:creationId xmlns:p14="http://schemas.microsoft.com/office/powerpoint/2010/main" val="18556569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C1F16-5A3E-F6DB-8734-F2DA2300600D}"/>
            </a:ext>
          </a:extLst>
        </p:cNvPr>
        <p:cNvGrpSpPr/>
        <p:nvPr/>
      </p:nvGrpSpPr>
      <p:grpSpPr>
        <a:xfrm>
          <a:off x="0" y="0"/>
          <a:ext cx="0" cy="0"/>
          <a:chOff x="0" y="0"/>
          <a:chExt cx="0" cy="0"/>
        </a:xfrm>
      </p:grpSpPr>
      <p:sp>
        <p:nvSpPr>
          <p:cNvPr id="5" name="Title 9">
            <a:extLst>
              <a:ext uri="{FF2B5EF4-FFF2-40B4-BE49-F238E27FC236}">
                <a16:creationId xmlns:a16="http://schemas.microsoft.com/office/drawing/2014/main" id="{61BB18CB-10A4-D734-CF1F-45CF69BD107E}"/>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A656CF48-091D-9B51-CB81-1A057A5F9DE2}"/>
              </a:ext>
            </a:extLst>
          </p:cNvPr>
          <p:cNvGraphicFramePr>
            <a:graphicFrameLocks noGrp="1"/>
          </p:cNvGraphicFramePr>
          <p:nvPr>
            <p:extLst>
              <p:ext uri="{D42A27DB-BD31-4B8C-83A1-F6EECF244321}">
                <p14:modId xmlns:p14="http://schemas.microsoft.com/office/powerpoint/2010/main" val="1899399217"/>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Riley</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06/26/2025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9676862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987411499"/>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637205288"/>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81583391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05721243"/>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248342504"/>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05152479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21990833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5816003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937818E2-E095-5285-A815-C00B3B210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AAE59901-2801-5AAB-7510-1ED226327E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F6F74547-0150-0EFE-6C00-00FAA76C0B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A6D0ECCB-F81B-7E9B-41C5-7C6B86D15F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7517C51E-9457-C0C0-42C9-F56983B2A65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8BAA772D-CDE7-B803-FAB4-EC649546370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FD1AD885-9327-16CB-2E34-CC268609512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4E8B2092-89F8-3905-ECFD-56947315717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52A4609D-F6AB-1800-BB8F-37E9AE3C0B81}"/>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B60AE888-DE28-69D1-35CD-0E479950E933}"/>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B1EF2CEF-F517-9FC4-CDD4-F82229572DF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7EA8CE1-ADDD-F482-146D-8A3BB0B07B57}"/>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ADCEE80-3603-E63B-A8E8-336C92E62E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7EABED-5287-C026-2C34-24AEC6C469E1}"/>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75D18796-EDE1-101A-B6DD-0208D20CFC11}"/>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4" name="TextBox 3">
            <a:extLst>
              <a:ext uri="{FF2B5EF4-FFF2-40B4-BE49-F238E27FC236}">
                <a16:creationId xmlns:a16="http://schemas.microsoft.com/office/drawing/2014/main" id="{2D09C95E-61C1-81C3-474A-C125A79E90B9}"/>
              </a:ext>
            </a:extLst>
          </p:cNvPr>
          <p:cNvSpPr txBox="1"/>
          <p:nvPr/>
        </p:nvSpPr>
        <p:spPr>
          <a:xfrm>
            <a:off x="339318" y="6275739"/>
            <a:ext cx="10669341" cy="600164"/>
          </a:xfrm>
          <a:prstGeom prst="rect">
            <a:avLst/>
          </a:prstGeom>
          <a:noFill/>
        </p:spPr>
        <p:txBody>
          <a:bodyPr wrap="square" rtlCol="0">
            <a:spAutoFit/>
          </a:bodyPr>
          <a:lstStyle/>
          <a:p>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justice to dissent in full, the decision is coded as (8-1). Although Justice Sotomayor joined Justice Jackson’s dissent with respect to elements of Parts III and IV, they joined with the plurality of the court in not reversing the 11</a:t>
            </a:r>
            <a:r>
              <a:rPr lang="en-US" sz="1100" baseline="30000" dirty="0">
                <a:latin typeface="MULISH BLACK ROMAN"/>
              </a:rPr>
              <a:t>th</a:t>
            </a:r>
            <a:r>
              <a:rPr lang="en-US" sz="1100" dirty="0">
                <a:latin typeface="MULISH BLACK ROMAN"/>
              </a:rPr>
              <a:t> Circuit. </a:t>
            </a:r>
            <a:endParaRPr lang="en-US" sz="1100" dirty="0">
              <a:highlight>
                <a:srgbClr val="FFFF00"/>
              </a:highlight>
              <a:latin typeface="MULISH BLACK ROMAN"/>
            </a:endParaRPr>
          </a:p>
        </p:txBody>
      </p:sp>
    </p:spTree>
    <p:extLst>
      <p:ext uri="{BB962C8B-B14F-4D97-AF65-F5344CB8AC3E}">
        <p14:creationId xmlns:p14="http://schemas.microsoft.com/office/powerpoint/2010/main" val="18937854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2755507367"/>
              </p:ext>
            </p:extLst>
          </p:nvPr>
        </p:nvGraphicFramePr>
        <p:xfrm>
          <a:off x="304798" y="765228"/>
          <a:ext cx="11492146" cy="5923169"/>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37770">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58514">
                <a:tc>
                  <a:txBody>
                    <a:bodyPr/>
                    <a:lstStyle/>
                    <a:p>
                      <a:pPr algn="l" fontAlgn="b"/>
                      <a:r>
                        <a:rPr lang="en-US" sz="900" b="0" i="1" u="none" strike="noStrike" dirty="0">
                          <a:solidFill>
                            <a:srgbClr val="000000"/>
                          </a:solidFill>
                          <a:effectLst/>
                          <a:latin typeface="MULISH BLACK ROMAN"/>
                        </a:rPr>
                        <a:t> Williams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58514">
                <a:tc>
                  <a:txBody>
                    <a:bodyPr/>
                    <a:lstStyle/>
                    <a:p>
                      <a:pPr algn="l" fontAlgn="b"/>
                      <a:r>
                        <a:rPr lang="en-US" sz="900" b="0" i="1" u="none" strike="noStrike" dirty="0">
                          <a:solidFill>
                            <a:srgbClr val="000000"/>
                          </a:solidFill>
                          <a:effectLst/>
                          <a:latin typeface="MULISH BLACK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a:solidFill>
                            <a:srgbClr val="000000"/>
                          </a:solidFill>
                          <a:effectLst/>
                          <a:latin typeface="MULISH BLACK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58514">
                <a:tc>
                  <a:txBody>
                    <a:bodyPr/>
                    <a:lstStyle/>
                    <a:p>
                      <a:pPr algn="l" fontAlgn="b"/>
                      <a:r>
                        <a:rPr lang="en-US" sz="900" b="0" i="1" u="none" strike="noStrike" dirty="0">
                          <a:solidFill>
                            <a:srgbClr val="000000"/>
                          </a:solidFill>
                          <a:effectLst/>
                          <a:latin typeface="MULISH BLACK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58514">
                <a:tc>
                  <a:txBody>
                    <a:bodyPr/>
                    <a:lstStyle/>
                    <a:p>
                      <a:pPr algn="l" fontAlgn="b"/>
                      <a:r>
                        <a:rPr lang="en-US" sz="900" b="0" i="1" u="none" strike="noStrike" dirty="0">
                          <a:solidFill>
                            <a:srgbClr val="000000"/>
                          </a:solidFill>
                          <a:effectLst/>
                          <a:latin typeface="MULISH BLACK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58514">
                <a:tc>
                  <a:txBody>
                    <a:bodyPr/>
                    <a:lstStyle/>
                    <a:p>
                      <a:pPr algn="l" fontAlgn="b"/>
                      <a:r>
                        <a:rPr lang="en-US" sz="900" b="0" i="1" u="none" strike="noStrike" dirty="0">
                          <a:solidFill>
                            <a:srgbClr val="000000"/>
                          </a:solidFill>
                          <a:effectLst/>
                          <a:latin typeface="MULISH BLACK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Velazquez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kern="1200" dirty="0">
                          <a:solidFill>
                            <a:schemeClr val="tx1"/>
                          </a:solidFill>
                          <a:effectLst/>
                          <a:latin typeface="MULISH BLACK ROMAN"/>
                          <a:ea typeface="+mn-ea"/>
                          <a:cs typeface="+mn-cs"/>
                        </a:rPr>
                        <a:t>Kousisis</a:t>
                      </a:r>
                      <a:endParaRPr lang="en-US" sz="900" i="1"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58514">
                <a:tc>
                  <a:txBody>
                    <a:bodyPr/>
                    <a:lstStyle/>
                    <a:p>
                      <a:pPr algn="l" fontAlgn="b"/>
                      <a:r>
                        <a:rPr lang="en-US" sz="900" b="0" i="1" u="none" strike="noStrike" dirty="0">
                          <a:solidFill>
                            <a:srgbClr val="000000"/>
                          </a:solidFill>
                          <a:effectLst/>
                          <a:latin typeface="MULISH BLACK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CAFED</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58514">
                <a:tc>
                  <a:txBody>
                    <a:bodyPr/>
                    <a:lstStyle/>
                    <a:p>
                      <a:pPr algn="l" fontAlgn="b"/>
                      <a:r>
                        <a:rPr lang="en-US" sz="900" b="0" i="1" u="none" strike="noStrike" dirty="0">
                          <a:solidFill>
                            <a:srgbClr val="000000"/>
                          </a:solidFill>
                          <a:effectLst/>
                          <a:latin typeface="MULISH BLACK ROMAN"/>
                        </a:rPr>
                        <a:t> Bouarfa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58514">
                <a:tc>
                  <a:txBody>
                    <a:bodyPr/>
                    <a:lstStyle/>
                    <a:p>
                      <a:pPr algn="l" fontAlgn="b"/>
                      <a:r>
                        <a:rPr lang="en-US" sz="900" b="0" i="1" u="none" strike="noStrike" dirty="0">
                          <a:solidFill>
                            <a:srgbClr val="000000"/>
                          </a:solidFill>
                          <a:effectLst/>
                          <a:latin typeface="MULISH BLACK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CAFED</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58514">
                <a:tc>
                  <a:txBody>
                    <a:bodyPr/>
                    <a:lstStyle/>
                    <a:p>
                      <a:pPr algn="l" fontAlgn="b"/>
                      <a:r>
                        <a:rPr lang="en-US" sz="900" b="0" i="1" u="none" strike="noStrike" dirty="0">
                          <a:solidFill>
                            <a:srgbClr val="000000"/>
                          </a:solidFill>
                          <a:effectLst/>
                          <a:latin typeface="MULISH BLACK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58514">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165d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Gutierrez</a:t>
                      </a:r>
                    </a:p>
                  </a:txBody>
                  <a:tcPr marL="45720" marR="0" marT="0" marB="0" anchor="ctr"/>
                </a:tc>
                <a:tc>
                  <a:txBody>
                    <a:bodyPr/>
                    <a:lstStyle/>
                    <a:p>
                      <a:pPr lvl="0" algn="l">
                        <a:lnSpc>
                          <a:spcPct val="100000"/>
                        </a:lnSpc>
                        <a:spcBef>
                          <a:spcPts val="0"/>
                        </a:spcBef>
                        <a:spcAft>
                          <a:spcPts val="0"/>
                        </a:spcAft>
                        <a:buNone/>
                      </a:pPr>
                      <a:r>
                        <a:rPr lang="en-US" sz="900" b="0" i="0" u="none" strike="noStrike" noProof="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123d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80119">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5-4</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95d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Gorsuch</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6-3</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58514">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algn="l" fontAlgn="b"/>
                      <a:r>
                        <a:rPr lang="en-US" sz="900" b="0" i="1" u="none" strike="noStrike" dirty="0">
                          <a:solidFill>
                            <a:srgbClr val="000000"/>
                          </a:solidFill>
                          <a:effectLst/>
                          <a:latin typeface="MULISH BLACK ROMAN"/>
                        </a:rPr>
                        <a:t>Hamm</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CA11</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on the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58514">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dirty="0">
                          <a:solidFill>
                            <a:srgbClr val="000000"/>
                          </a:solidFill>
                          <a:effectLst/>
                          <a:latin typeface="MULISH BLACK ROMAN"/>
                        </a:rPr>
                        <a:t>Andrew</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CA10</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on the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a:solidFill>
                            <a:srgbClr val="000000"/>
                          </a:solidFill>
                          <a:effectLst/>
                          <a:latin typeface="MULISH BLACK ROMAN"/>
                        </a:rPr>
                        <a:t>DOE v. CA</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a:solidFill>
                            <a:srgbClr val="000000"/>
                          </a:solidFill>
                          <a:effectLst/>
                          <a:latin typeface="MULISH BLACK ROMAN"/>
                        </a:rPr>
                        <a:t>DCMA</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algn="l" fontAlgn="b"/>
                      <a:r>
                        <a:rPr lang="en-US" sz="900" b="0" i="1" u="none" strike="noStrike" dirty="0">
                          <a:solidFill>
                            <a:srgbClr val="000000"/>
                          </a:solidFill>
                          <a:effectLst/>
                          <a:latin typeface="MULISH BLACK ROMAN"/>
                        </a:rPr>
                        <a:t>Trump v. J.G.G.</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DCDC</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algn="l" fontAlgn="b"/>
                      <a:r>
                        <a:rPr lang="en-US" sz="900" b="0" i="1" u="none" strike="noStrike" dirty="0">
                          <a:solidFill>
                            <a:srgbClr val="000000"/>
                          </a:solidFill>
                          <a:effectLst/>
                          <a:latin typeface="MULISH BLACK ROMAN"/>
                        </a:rPr>
                        <a:t>A.A.R.P v. Trump</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CA5</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266973">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28</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33837</TotalTime>
  <Words>4229</Words>
  <Application>Microsoft Office PowerPoint</Application>
  <PresentationFormat>Widescreen</PresentationFormat>
  <Paragraphs>1620</Paragraphs>
  <Slides>28</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26,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481</cp:revision>
  <cp:lastPrinted>2019-06-28T21:02:00Z</cp:lastPrinted>
  <dcterms:created xsi:type="dcterms:W3CDTF">2019-02-07T19:44:00Z</dcterms:created>
  <dcterms:modified xsi:type="dcterms:W3CDTF">2025-06-26T16:34:07Z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