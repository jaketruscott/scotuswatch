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414" r:id="rId23"/>
    <p:sldId id="343" r:id="rId24"/>
    <p:sldId id="412" r:id="rId25"/>
    <p:sldId id="398" r:id="rId26"/>
    <p:sldId id="399" r:id="rId27"/>
    <p:sldId id="400" r:id="rId28"/>
    <p:sldId id="401"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414"/>
            <p14:sldId id="343"/>
            <p14:sldId id="412"/>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CECE"/>
    <a:srgbClr val="FFFFFF"/>
    <a:srgbClr val="5B9BD5"/>
    <a:srgbClr val="4E478A"/>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6/20/2025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6/20/2025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21,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pic>
        <p:nvPicPr>
          <p:cNvPr id="8" name="Picture 7" descr="A graph of different colored squares&#10;&#10;AI-generated content may be incorrect.">
            <a:extLst>
              <a:ext uri="{FF2B5EF4-FFF2-40B4-BE49-F238E27FC236}">
                <a16:creationId xmlns:a16="http://schemas.microsoft.com/office/drawing/2014/main" id="{32DAB53F-7420-04C2-C57E-1815877704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626688278"/>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6" name="Picture 5" descr="A graph with numbers and lines&#10;&#10;AI-generated content may be incorrect.">
            <a:extLst>
              <a:ext uri="{FF2B5EF4-FFF2-40B4-BE49-F238E27FC236}">
                <a16:creationId xmlns:a16="http://schemas.microsoft.com/office/drawing/2014/main" id="{1735DAD1-7515-0244-379B-F45D013E5B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pic>
        <p:nvPicPr>
          <p:cNvPr id="6" name="Picture 5" descr="A group of people in a row&#10;&#10;AI-generated content may be incorrect.">
            <a:extLst>
              <a:ext uri="{FF2B5EF4-FFF2-40B4-BE49-F238E27FC236}">
                <a16:creationId xmlns:a16="http://schemas.microsoft.com/office/drawing/2014/main" id="{91043A72-9D82-6285-FA2D-61D59FCBAE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8" name="Picture 7" descr="A group of people standing in front of a graph&#10;&#10;AI-generated content may be incorrect.">
            <a:extLst>
              <a:ext uri="{FF2B5EF4-FFF2-40B4-BE49-F238E27FC236}">
                <a16:creationId xmlns:a16="http://schemas.microsoft.com/office/drawing/2014/main" id="{6133686A-0F95-6D4D-2838-01B64BB23C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6" name="Picture 5" descr="A group of people standing in front of a graph&#10;&#10;AI-generated content may be incorrect.">
            <a:extLst>
              <a:ext uri="{FF2B5EF4-FFF2-40B4-BE49-F238E27FC236}">
                <a16:creationId xmlns:a16="http://schemas.microsoft.com/office/drawing/2014/main" id="{78BA12F3-FC9D-704B-675B-A3591E3E3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3793346"/>
          </a:xfrm>
          <a:prstGeom prst="rect">
            <a:avLst/>
          </a:prstGeom>
          <a:noFill/>
          <a:ln>
            <a:solidFill>
              <a:schemeClr val="tx1"/>
            </a:solidFill>
          </a:ln>
        </p:spPr>
        <p:txBody>
          <a:bodyPr wrap="square" rtlCol="0">
            <a:spAutoFit/>
          </a:bodyPr>
          <a:lstStyle/>
          <a:p>
            <a:r>
              <a:rPr lang="en-US" sz="1100" dirty="0">
                <a:solidFill>
                  <a:schemeClr val="bg1"/>
                </a:solidFill>
                <a:highlight>
                  <a:srgbClr val="808080"/>
                </a:highlight>
              </a:rPr>
              <a:t>DARK GREY</a:t>
            </a:r>
            <a:r>
              <a:rPr lang="en-US" sz="1100" dirty="0"/>
              <a:t> Ex(s): In approximately 38% of cases, Chief Justice Roberts and Justice Kavanaugh joined a coalition that also included all those appointed by Democratic presidents. Alternatively, Justice Breyer joined a coalition consisting of all the Republican appointees in 8.1% of cases. </a:t>
            </a:r>
            <a:br>
              <a:rPr lang="en-US" sz="1100" dirty="0"/>
            </a:br>
            <a:endParaRPr lang="en-US" sz="1100" b="1" i="1" dirty="0"/>
          </a:p>
          <a:p>
            <a:r>
              <a:rPr lang="en-US" sz="900" b="1" i="1" dirty="0"/>
              <a:t>Note</a:t>
            </a:r>
            <a:r>
              <a:rPr lang="en-US" sz="900" b="1" dirty="0"/>
              <a:t>:</a:t>
            </a:r>
            <a:r>
              <a:rPr lang="en-US" sz="900" dirty="0"/>
              <a:t> This does </a:t>
            </a:r>
            <a:r>
              <a:rPr lang="en-US" sz="900" u="sng" dirty="0"/>
              <a:t>not</a:t>
            </a:r>
            <a:r>
              <a:rPr lang="en-US" sz="900" dirty="0"/>
              <a:t> mean they were the lone Republican (Democratic) appointee(s) to do so in a particular case.</a:t>
            </a:r>
          </a:p>
          <a:p>
            <a:endParaRPr lang="en-US" sz="1100" b="1" dirty="0">
              <a:solidFill>
                <a:schemeClr val="bg1"/>
              </a:solidFill>
              <a:highlight>
                <a:srgbClr val="C0C0C0"/>
              </a:highlight>
            </a:endParaRPr>
          </a:p>
          <a:p>
            <a:endParaRPr lang="en-US" sz="1100" b="1" dirty="0">
              <a:solidFill>
                <a:schemeClr val="bg1"/>
              </a:solidFill>
              <a:highlight>
                <a:srgbClr val="C0C0C0"/>
              </a:highlight>
            </a:endParaRPr>
          </a:p>
          <a:p>
            <a:r>
              <a:rPr lang="en-US" sz="1100" b="1" dirty="0">
                <a:highlight>
                  <a:srgbClr val="C0C0C0"/>
                </a:highlight>
              </a:rPr>
              <a:t>LIGHT GREY</a:t>
            </a:r>
            <a:r>
              <a:rPr lang="en-US" sz="1100" dirty="0"/>
              <a:t> Ex(s):  In 2.5% of cases, Justice Roberts was the lone Republican appointee to break from a coalition consisting of the remaining Republican appointees. Justice Sotomayor was likewise the lone defector from a coalition consisting of all the remaining Democratic appointees in 4.4% of cases.</a:t>
            </a:r>
            <a:endParaRPr lang="en-US" sz="1100" dirty="0">
              <a:highlight>
                <a:srgbClr val="FFFF00"/>
              </a:highlight>
              <a:latin typeface="MULISH REGULAR ROMAN"/>
            </a:endParaRPr>
          </a:p>
        </p:txBody>
      </p:sp>
      <p:pic>
        <p:nvPicPr>
          <p:cNvPr id="7" name="Picture 6" descr="A group of people in suits&#10;&#10;AI-generated content may be incorrect.">
            <a:extLst>
              <a:ext uri="{FF2B5EF4-FFF2-40B4-BE49-F238E27FC236}">
                <a16:creationId xmlns:a16="http://schemas.microsoft.com/office/drawing/2014/main" id="{235ADD36-FD59-EBEF-42B9-1C509F43CC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091650"/>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6" name="Picture 5" descr="A group of people in suits&#10;&#10;AI-generated content may be incorrect.">
            <a:extLst>
              <a:ext uri="{FF2B5EF4-FFF2-40B4-BE49-F238E27FC236}">
                <a16:creationId xmlns:a16="http://schemas.microsoft.com/office/drawing/2014/main" id="{7907D33C-C223-E2C4-8D87-9261A52FD7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6" name="Picture 5" descr="A group of people in a graph&#10;&#10;AI-generated content may be incorrect.">
            <a:extLst>
              <a:ext uri="{FF2B5EF4-FFF2-40B4-BE49-F238E27FC236}">
                <a16:creationId xmlns:a16="http://schemas.microsoft.com/office/drawing/2014/main" id="{B9506C5B-CB3D-8FF4-C2B3-F1F92376846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900290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91448572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766726628"/>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OT05-OT24</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6" name="Picture 5" descr="A diagram of a pie chart&#10;&#10;AI-generated content may be incorrect.">
            <a:extLst>
              <a:ext uri="{FF2B5EF4-FFF2-40B4-BE49-F238E27FC236}">
                <a16:creationId xmlns:a16="http://schemas.microsoft.com/office/drawing/2014/main" id="{5FD4E5C3-394A-0774-BF04-A5E68F4EC7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10" name="Picture 9" descr="A diagram of a pie chart&#10;&#10;AI-generated content may be incorrect.">
            <a:extLst>
              <a:ext uri="{FF2B5EF4-FFF2-40B4-BE49-F238E27FC236}">
                <a16:creationId xmlns:a16="http://schemas.microsoft.com/office/drawing/2014/main" id="{B53EFBBB-4C32-BDA7-E6E9-6CC878791D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Several different types of graphs&#10;&#10;AI-generated content may be incorrect.">
            <a:extLst>
              <a:ext uri="{FF2B5EF4-FFF2-40B4-BE49-F238E27FC236}">
                <a16:creationId xmlns:a16="http://schemas.microsoft.com/office/drawing/2014/main" id="{EBDF3045-E175-1FDF-407B-9D7EEF8D89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8096"/>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595613118"/>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100" b="0" i="0" u="none" strike="noStrike">
                          <a:solidFill>
                            <a:srgbClr val="000000"/>
                          </a:solidFill>
                          <a:effectLst/>
                          <a:latin typeface="Calibri" panose="020F0502020204030204" pitchFamily="34" charset="0"/>
                        </a:rPr>
                        <a:t>Roberts, Alito, Thomas, Kagan,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4</a:t>
                      </a:r>
                    </a:p>
                  </a:txBody>
                  <a:tcPr marR="5672" marT="5672" marB="0" anchor="ctr"/>
                </a:tc>
                <a:tc>
                  <a:txBody>
                    <a:bodyPr/>
                    <a:lstStyle/>
                    <a:p>
                      <a:pPr algn="l" fontAlgn="b"/>
                      <a:r>
                        <a:rPr lang="en-US" sz="1100" b="0" i="1" u="none" strike="noStrike" dirty="0">
                          <a:solidFill>
                            <a:srgbClr val="000000"/>
                          </a:solidFill>
                          <a:effectLst/>
                          <a:latin typeface="MULISH BLACK ROMAN"/>
                        </a:rPr>
                        <a:t>Lackey; Advocate Christ Medical; Diamond;  R.J. Reynolds </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100" b="0" i="0" u="none" strike="noStrike" dirty="0">
                          <a:solidFill>
                            <a:srgbClr val="000000"/>
                          </a:solidFill>
                          <a:effectLst/>
                          <a:latin typeface="Calibri" panose="020F0502020204030204" pitchFamily="34" charset="0"/>
                        </a:rPr>
                        <a:t>Roberts, Alito, Thomas,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Trump v. J.G.G.; </a:t>
                      </a:r>
                      <a:r>
                        <a:rPr lang="en-US" sz="1100" b="0" i="1" u="none" strike="noStrike" dirty="0" err="1">
                          <a:solidFill>
                            <a:srgbClr val="000000"/>
                          </a:solidFill>
                          <a:effectLst/>
                          <a:latin typeface="MULISH BLACK ROMAN"/>
                        </a:rPr>
                        <a:t>Skrmetti</a:t>
                      </a:r>
                      <a:r>
                        <a:rPr lang="en-US" sz="1100" b="0" i="1" u="none" strike="noStrike" dirty="0">
                          <a:solidFill>
                            <a:srgbClr val="000000"/>
                          </a:solidFill>
                          <a:effectLst/>
                          <a:latin typeface="MULISH BLACK ROMAN"/>
                        </a:rPr>
                        <a:t>; McLaughlin</a:t>
                      </a:r>
                      <a:endParaRPr lang="en-US" sz="1100" b="0" i="1" u="none" strike="noStrike" dirty="0">
                        <a:solidFill>
                          <a:srgbClr val="000000"/>
                        </a:solidFill>
                        <a:effectLst/>
                        <a:highlight>
                          <a:srgbClr val="FFFF00"/>
                        </a:highlight>
                        <a:latin typeface="MULISH BLACK ROMAN"/>
                      </a:endParaRP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100" b="0" i="0" u="none" strike="noStrike">
                          <a:solidFill>
                            <a:srgbClr val="000000"/>
                          </a:solidFill>
                          <a:effectLst/>
                          <a:latin typeface="Calibri" panose="020F0502020204030204" pitchFamily="34" charset="0"/>
                        </a:rPr>
                        <a:t>Roberts, Alito, Thomas, Sotomayor, Kagan, Kavanaugh, Barrett, Jackson</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Miller; Parrish; Zuch</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r>
                        <a:rPr lang="en-US" sz="1100" b="0" i="0" u="none" strike="noStrike" dirty="0">
                          <a:solidFill>
                            <a:srgbClr val="000000"/>
                          </a:solidFill>
                          <a:effectLst/>
                          <a:latin typeface="Calibri" panose="020F0502020204030204" pitchFamily="34" charset="0"/>
                        </a:rPr>
                        <a:t>Roberts, Alito, Thomas, Sotomayor, Kagan,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100" b="0" i="1" u="none" strike="noStrike" dirty="0">
                          <a:solidFill>
                            <a:srgbClr val="000000"/>
                          </a:solidFill>
                          <a:effectLst/>
                          <a:latin typeface="MULISH BLACK ROMAN"/>
                        </a:rPr>
                        <a:t>Bufkin; Delligatti</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1162782417"/>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19%</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24.73</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35.06</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9.72%</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2850146784"/>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NA</a:t>
                      </a:r>
                    </a:p>
                  </a:txBody>
                  <a:tcPr marL="9525" marR="9525" marT="9525" marB="0" anchor="ctr"/>
                </a:tc>
                <a:tc>
                  <a:txBody>
                    <a:bodyPr/>
                    <a:lstStyle/>
                    <a:p>
                      <a:pPr algn="ctr" fontAlgn="b"/>
                      <a:r>
                        <a:rPr lang="en-US" sz="1100" b="0" i="0" u="none" strike="noStrike" dirty="0">
                          <a:solidFill>
                            <a:srgbClr val="000000"/>
                          </a:solidFill>
                          <a:effectLst/>
                          <a:latin typeface="MULISH BLACK ROMAN"/>
                        </a:rPr>
                        <a:t>NA</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For the Circuit Scorecard, we treat consolidated cases emerging from different courts below as single entries. For example, a consolidated case emerging from conflicting decisions in the Fifth and Ninth U.S. Circuit Courts of Appeal where the principal case on the Court’s docket (e.g., the principal litigants of record) are those from the Fifth Circuit are reflected as a single entry from the Fifth Circuit.  Alternatively, consolidated cases emerging from the same court below (e.g., both emerging from the Fifth Circuit) are likewise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7" name="Picture 6" descr="A graph with numbers and lines&#10;&#10;AI-generated content may be incorrect.">
            <a:extLst>
              <a:ext uri="{FF2B5EF4-FFF2-40B4-BE49-F238E27FC236}">
                <a16:creationId xmlns:a16="http://schemas.microsoft.com/office/drawing/2014/main" id="{201E6E3F-CEDE-26DB-2870-272A3E48CBE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93245"/>
            <a:ext cx="5217913" cy="313074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687251224"/>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Perttu</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NRC</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1" u="none" strike="noStrike" dirty="0">
                          <a:solidFill>
                            <a:schemeClr val="tx1"/>
                          </a:solidFill>
                          <a:effectLst/>
                          <a:latin typeface="MULISH REGULAR ROMAN" pitchFamily="2" charset="77"/>
                        </a:rPr>
                        <a:t>21</a:t>
                      </a: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161260025"/>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Oklahoma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446128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4" name="Picture 3" descr="A graph of a bar chart&#10;&#10;AI-generated content may be incorrect.">
            <a:extLst>
              <a:ext uri="{FF2B5EF4-FFF2-40B4-BE49-F238E27FC236}">
                <a16:creationId xmlns:a16="http://schemas.microsoft.com/office/drawing/2014/main" id="{D536EDFF-B96D-32F2-66B8-074820B5CB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p:cNvSpPr>
          <p:nvPr/>
        </p:nvSpPr>
        <p:spPr>
          <a:xfrm>
            <a:off x="5384800" y="230909"/>
            <a:ext cx="6046595" cy="3540280"/>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3166730038"/>
              </p:ext>
            </p:extLst>
          </p:nvPr>
        </p:nvGraphicFramePr>
        <p:xfrm>
          <a:off x="288396" y="3902035"/>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2287795754"/>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2982.63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3663.58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24</a:t>
            </a:fld>
            <a:endParaRPr lang="en-US"/>
          </a:p>
        </p:txBody>
      </p:sp>
      <p:pic>
        <p:nvPicPr>
          <p:cNvPr id="5" name="Picture 4" descr="A graph of different types of graphs&#10;&#10;AI-generated content may be incorrect.">
            <a:extLst>
              <a:ext uri="{FF2B5EF4-FFF2-40B4-BE49-F238E27FC236}">
                <a16:creationId xmlns:a16="http://schemas.microsoft.com/office/drawing/2014/main" id="{B971EE67-680A-6C62-4270-5BC8327C60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3" y="230909"/>
            <a:ext cx="6046595" cy="3580224"/>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7374407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23105691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2371916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dirty="0">
                <a:latin typeface="MULISH BLACK ROMAN"/>
              </a:rPr>
              <a:t>*</a:t>
            </a:r>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to dissent in full, the decision is coded as (8-1). Furthermore, while Justice Sotomayor joined Justice Jackson’s dissent specially with respect to elements of Parts III and IV, they also authored their own opinion Concurring (In Part) and Dissenting (In Part). </a:t>
            </a:r>
          </a:p>
        </p:txBody>
      </p:sp>
    </p:spTree>
    <p:extLst>
      <p:ext uri="{BB962C8B-B14F-4D97-AF65-F5344CB8AC3E}">
        <p14:creationId xmlns:p14="http://schemas.microsoft.com/office/powerpoint/2010/main" val="1855656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4271128344"/>
              </p:ext>
            </p:extLst>
          </p:nvPr>
        </p:nvGraphicFramePr>
        <p:xfrm>
          <a:off x="304798" y="765227"/>
          <a:ext cx="11492146" cy="6120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226627">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27370</TotalTime>
  <Words>4536</Words>
  <Application>Microsoft Office PowerPoint</Application>
  <PresentationFormat>Widescreen</PresentationFormat>
  <Paragraphs>1685</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21,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342</cp:revision>
  <cp:lastPrinted>2019-06-28T21:02:00Z</cp:lastPrinted>
  <dcterms:created xsi:type="dcterms:W3CDTF">2019-02-07T19:44:00Z</dcterms:created>
  <dcterms:modified xsi:type="dcterms:W3CDTF">2025-06-21T12:39:45Z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