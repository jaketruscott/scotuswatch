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05" r:id="rId21"/>
    <p:sldId id="410" r:id="rId22"/>
    <p:sldId id="409" r:id="rId23"/>
    <p:sldId id="350" r:id="rId24"/>
    <p:sldId id="413" r:id="rId25"/>
    <p:sldId id="324" r:id="rId26"/>
    <p:sldId id="398" r:id="rId27"/>
    <p:sldId id="399" r:id="rId28"/>
    <p:sldId id="400" r:id="rId29"/>
    <p:sldId id="401"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05"/>
            <p14:sldId id="410"/>
            <p14:sldId id="409"/>
            <p14:sldId id="350"/>
            <p14:sldId id="413"/>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9BD5"/>
    <a:srgbClr val="4E478A"/>
    <a:srgbClr val="0F9147"/>
    <a:srgbClr val="FDD532"/>
    <a:srgbClr val="4F4789"/>
    <a:srgbClr val="0469A9"/>
    <a:srgbClr val="4FEDED"/>
    <a:srgbClr val="A90404"/>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104" d="100"/>
          <a:sy n="104" d="100"/>
        </p:scale>
        <p:origin x="72" y="198"/>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5/22/2025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29</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5/22/2025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19,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337705305"/>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3776374159"/>
              </p:ext>
            </p:extLst>
          </p:nvPr>
        </p:nvGraphicFramePr>
        <p:xfrm>
          <a:off x="304798" y="765227"/>
          <a:ext cx="11492145" cy="6056418"/>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8">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44314">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51168323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ctr"/>
                      <a:r>
                        <a:rPr lang="en-US" sz="1100" b="0" i="0" u="none" strike="noStrike">
                          <a:solidFill>
                            <a:srgbClr val="000000"/>
                          </a:solidFill>
                          <a:effectLst/>
                          <a:latin typeface="MULISH REGULAR ROMAN"/>
                        </a:rPr>
                        <a:t>1</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1.50%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8</a:t>
                      </a:r>
                    </a:p>
                  </a:txBody>
                  <a:tcPr marL="9525" marR="9525" marT="9525" marB="0" anchor="ctr"/>
                </a:tc>
                <a:tc>
                  <a:txBody>
                    <a:bodyPr/>
                    <a:lstStyle/>
                    <a:p>
                      <a:pPr algn="ctr" fontAlgn="ctr"/>
                      <a:r>
                        <a:rPr lang="en-US" sz="1100" b="0" i="0" u="none" strike="noStrike">
                          <a:solidFill>
                            <a:srgbClr val="000000"/>
                          </a:solidFill>
                          <a:effectLst/>
                          <a:latin typeface="MULISH REGULAR ROMAN"/>
                        </a:rPr>
                        <a:t>12.10%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12</a:t>
                      </a:r>
                    </a:p>
                  </a:txBody>
                  <a:tcPr marL="9525" marR="9525" marT="9525" marB="0" anchor="ctr"/>
                </a:tc>
                <a:tc>
                  <a:txBody>
                    <a:bodyPr/>
                    <a:lstStyle/>
                    <a:p>
                      <a:pPr algn="ctr" fontAlgn="ctr"/>
                      <a:r>
                        <a:rPr lang="en-US" sz="1100" b="0" i="0" u="none" strike="noStrike">
                          <a:solidFill>
                            <a:srgbClr val="000000"/>
                          </a:solidFill>
                          <a:effectLst/>
                          <a:latin typeface="MULISH REGULAR ROMAN"/>
                        </a:rPr>
                        <a:t>18.20%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5</a:t>
                      </a:r>
                    </a:p>
                  </a:txBody>
                  <a:tcPr marL="9525" marR="9525" marT="9525" marB="0" anchor="ctr"/>
                </a:tc>
                <a:tc>
                  <a:txBody>
                    <a:bodyPr/>
                    <a:lstStyle/>
                    <a:p>
                      <a:pPr algn="ctr" fontAlgn="ctr"/>
                      <a:r>
                        <a:rPr lang="en-US" sz="1100" b="0" i="0" u="none" strike="noStrike">
                          <a:solidFill>
                            <a:srgbClr val="000000"/>
                          </a:solidFill>
                          <a:effectLst/>
                          <a:latin typeface="MULISH REGULAR ROMAN"/>
                        </a:rPr>
                        <a:t>7.60%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33.30%</a:t>
                      </a:r>
                    </a:p>
                  </a:txBody>
                  <a:tcPr marL="9525" marR="9525" marT="9525" marB="0" anchor="ctr"/>
                </a:tc>
                <a:tc>
                  <a:txBody>
                    <a:bodyPr/>
                    <a:lstStyle/>
                    <a:p>
                      <a:pPr algn="ctr" fontAlgn="ctr"/>
                      <a:r>
                        <a:rPr lang="en-US" sz="1100" b="0" i="0" u="none" strike="noStrike">
                          <a:solidFill>
                            <a:srgbClr val="000000"/>
                          </a:solidFill>
                          <a:effectLst/>
                          <a:latin typeface="MULISH REGULAR ROMAN"/>
                        </a:rPr>
                        <a:t>66.70%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graph with lines and dots&#10;&#10;AI-generated content may be incorrect.">
            <a:extLst>
              <a:ext uri="{FF2B5EF4-FFF2-40B4-BE49-F238E27FC236}">
                <a16:creationId xmlns:a16="http://schemas.microsoft.com/office/drawing/2014/main" id="{8F882B63-0827-90B3-2567-D3F3B411A81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860853" y="776438"/>
            <a:ext cx="5452985" cy="3271791"/>
          </a:xfrm>
          <a:prstGeom prst="rect">
            <a:avLst/>
          </a:prstGeom>
        </p:spPr>
      </p:pic>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163531461"/>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Feliciano</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12/09/2024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560355567"/>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104d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135.5d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100.75d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158.33d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86d</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446550"/>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8" name="Picture 7" descr="A graph of different colored bars&#10;&#10;AI-generated content may be incorrect.">
            <a:extLst>
              <a:ext uri="{FF2B5EF4-FFF2-40B4-BE49-F238E27FC236}">
                <a16:creationId xmlns:a16="http://schemas.microsoft.com/office/drawing/2014/main" id="{26C38E0C-FED9-B178-570C-77884132CC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736171772"/>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Kousisis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Kousisis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Kousisis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3" name="Picture 2" descr="A screenshot of a graph&#10;&#10;AI-generated content may be incorrect.">
            <a:extLst>
              <a:ext uri="{FF2B5EF4-FFF2-40B4-BE49-F238E27FC236}">
                <a16:creationId xmlns:a16="http://schemas.microsoft.com/office/drawing/2014/main" id="{FAFB8CE0-EED2-40E0-5667-43B8572B91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10971062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5,987.3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3,888.5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3,541.25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3,379.5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3,814.29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2,400.17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3,327.9</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459192" y="1123062"/>
            <a:ext cx="1846054"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536830" y="1415450"/>
            <a:ext cx="1690777" cy="1277273"/>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pic>
        <p:nvPicPr>
          <p:cNvPr id="5" name="Picture 4" descr="A graph of different types of numbers&#10;&#10;AI-generated content may be incorrect.">
            <a:extLst>
              <a:ext uri="{FF2B5EF4-FFF2-40B4-BE49-F238E27FC236}">
                <a16:creationId xmlns:a16="http://schemas.microsoft.com/office/drawing/2014/main" id="{BCFC4BD6-36A7-3B40-3279-5B7494332A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93015" y="231071"/>
            <a:ext cx="6270610" cy="3762366"/>
          </a:xfrm>
          <a:prstGeom prst="rect">
            <a:avLst/>
          </a:prstGeom>
        </p:spPr>
      </p:pic>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group of people standing in front of a bar graph&#10;&#10;AI-generated content may be incorrect.">
            <a:extLst>
              <a:ext uri="{FF2B5EF4-FFF2-40B4-BE49-F238E27FC236}">
                <a16:creationId xmlns:a16="http://schemas.microsoft.com/office/drawing/2014/main" id="{D42088B9-5F95-BAF7-8BD1-60C9BE6FBB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pic>
        <p:nvPicPr>
          <p:cNvPr id="9" name="Picture 8" descr="A group of people standing in front of a graph&#10;&#10;AI-generated content may be incorrect.">
            <a:extLst>
              <a:ext uri="{FF2B5EF4-FFF2-40B4-BE49-F238E27FC236}">
                <a16:creationId xmlns:a16="http://schemas.microsoft.com/office/drawing/2014/main" id="{B359DD5B-8DE9-EF63-4366-374552D768F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59612"/>
            <a:ext cx="8705776" cy="5223465"/>
          </a:xfrm>
          <a:prstGeom prst="rect">
            <a:avLst/>
          </a:prstGeom>
        </p:spPr>
      </p:pic>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pic>
        <p:nvPicPr>
          <p:cNvPr id="2" name="Picture 1" descr="A group of people standing in front of a bar graph&#10;&#10;AI-generated content may be incorrect.">
            <a:extLst>
              <a:ext uri="{FF2B5EF4-FFF2-40B4-BE49-F238E27FC236}">
                <a16:creationId xmlns:a16="http://schemas.microsoft.com/office/drawing/2014/main" id="{FAD96983-01C6-599E-ED66-8842DE64E0A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882862013"/>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8.33</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8.5</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2200989440"/>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67%</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pie chart&#10;&#10;AI-generated content may be incorrect.">
            <a:extLst>
              <a:ext uri="{FF2B5EF4-FFF2-40B4-BE49-F238E27FC236}">
                <a16:creationId xmlns:a16="http://schemas.microsoft.com/office/drawing/2014/main" id="{3C3D856F-A054-28C5-6D15-D40A375E56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3" name="Picture 2" descr="A diagram of a pie chart&#10;&#10;AI-generated content may be incorrect.">
            <a:extLst>
              <a:ext uri="{FF2B5EF4-FFF2-40B4-BE49-F238E27FC236}">
                <a16:creationId xmlns:a16="http://schemas.microsoft.com/office/drawing/2014/main" id="{68524B4C-0EEA-A519-EB7F-F33349A3C7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pic>
        <p:nvPicPr>
          <p:cNvPr id="3" name="Picture 2" descr="A graph with numbers and lines&#10;&#10;AI-generated content may be incorrect.">
            <a:extLst>
              <a:ext uri="{FF2B5EF4-FFF2-40B4-BE49-F238E27FC236}">
                <a16:creationId xmlns:a16="http://schemas.microsoft.com/office/drawing/2014/main" id="{AD08B3B8-E684-35DA-D383-18D1D52B5B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7"/>
            <a:ext cx="9144019" cy="5486411"/>
          </a:xfrm>
          <a:prstGeom prst="rect">
            <a:avLst/>
          </a:prstGeom>
        </p:spPr>
      </p:pic>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pic>
        <p:nvPicPr>
          <p:cNvPr id="3" name="Picture 2" descr="A graph with a line graph&#10;&#10;AI-generated content may be incorrect.">
            <a:extLst>
              <a:ext uri="{FF2B5EF4-FFF2-40B4-BE49-F238E27FC236}">
                <a16:creationId xmlns:a16="http://schemas.microsoft.com/office/drawing/2014/main" id="{287DEC46-B9A4-6785-75AD-51A5CE3609C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20248" y="1181095"/>
            <a:ext cx="9144019" cy="5486411"/>
          </a:xfrm>
          <a:prstGeom prst="rect">
            <a:avLst/>
          </a:prstGeom>
        </p:spPr>
      </p:pic>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6" name="TextBox 5">
            <a:extLst>
              <a:ext uri="{FF2B5EF4-FFF2-40B4-BE49-F238E27FC236}">
                <a16:creationId xmlns:a16="http://schemas.microsoft.com/office/drawing/2014/main" id="{6EB03E43-76B9-077C-F614-FAAF678AF050}"/>
              </a:ext>
            </a:extLst>
          </p:cNvPr>
          <p:cNvSpPr txBox="1"/>
          <p:nvPr/>
        </p:nvSpPr>
        <p:spPr>
          <a:xfrm>
            <a:off x="5792259" y="222059"/>
            <a:ext cx="5874589" cy="646331"/>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spTree>
    <p:extLst>
      <p:ext uri="{BB962C8B-B14F-4D97-AF65-F5344CB8AC3E}">
        <p14:creationId xmlns:p14="http://schemas.microsoft.com/office/powerpoint/2010/main" val="1644993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pic>
        <p:nvPicPr>
          <p:cNvPr id="13" name="Picture 12" descr="A graph of different colored lines&#10;&#10;AI-generated content may be incorrect.">
            <a:extLst>
              <a:ext uri="{FF2B5EF4-FFF2-40B4-BE49-F238E27FC236}">
                <a16:creationId xmlns:a16="http://schemas.microsoft.com/office/drawing/2014/main" id="{9815B4E9-7AE8-598A-DB2E-0B00B8E00C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61624" y="1060165"/>
            <a:ext cx="8684856" cy="5789904"/>
          </a:xfrm>
          <a:prstGeom prst="rect">
            <a:avLst/>
          </a:prstGeom>
        </p:spPr>
      </p:pic>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21</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Tree>
    <p:extLst>
      <p:ext uri="{BB962C8B-B14F-4D97-AF65-F5344CB8AC3E}">
        <p14:creationId xmlns:p14="http://schemas.microsoft.com/office/powerpoint/2010/main" val="4025921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3790182185"/>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200" dirty="0">
                          <a:effectLst/>
                          <a:latin typeface="MULISH REGULAR ROMAN"/>
                        </a:rPr>
                        <a:t>Roberts, Alito, Sotomayor, Kagan, Kavanaugh, Barrett, Jackson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Vanderstok; A.A.R.P v. Trump</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DOE v. VA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4278339070"/>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23%</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35.3</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behaviors of Republican-appointed Justices in non-unanimous cases during the 2020-2024 terms. The </a:t>
            </a:r>
            <a:r>
              <a:rPr lang="en-US" sz="1200" b="1" dirty="0">
                <a:solidFill>
                  <a:schemeClr val="bg1"/>
                </a:solidFill>
                <a:highlight>
                  <a:srgbClr val="5B9BD5"/>
                </a:highlight>
              </a:rPr>
              <a:t>BLUE</a:t>
            </a:r>
            <a:r>
              <a:rPr lang="en-US" sz="1200" dirty="0"/>
              <a:t> bars represent the percentage of cases where a Justice joined a majority coalition consisting of all the Democratic appointees. Alternatively, the </a:t>
            </a:r>
            <a:r>
              <a:rPr lang="en-US" sz="1200" b="1" dirty="0">
                <a:solidFill>
                  <a:schemeClr val="bg1"/>
                </a:solidFill>
                <a:highlight>
                  <a:srgbClr val="800000"/>
                </a:highlight>
              </a:rPr>
              <a:t>RED</a:t>
            </a:r>
            <a:r>
              <a:rPr lang="en-US" sz="1200" dirty="0"/>
              <a:t> bars indicate the percentage of cases where the Justice was the lone dissenter from a majority consisting of the remaining Republican appointees. </a:t>
            </a:r>
            <a:endParaRPr lang="en-US" sz="1200" dirty="0">
              <a:latin typeface="MULISH REGULAR ROMAN"/>
            </a:endParaRPr>
          </a:p>
        </p:txBody>
      </p:sp>
      <p:pic>
        <p:nvPicPr>
          <p:cNvPr id="11" name="Picture 10" descr="A group of people in suits&#10;&#10;AI-generated content may be incorrect.">
            <a:extLst>
              <a:ext uri="{FF2B5EF4-FFF2-40B4-BE49-F238E27FC236}">
                <a16:creationId xmlns:a16="http://schemas.microsoft.com/office/drawing/2014/main" id="{BBB57C09-C5BA-C284-731E-5BCECBA719C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68071"/>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6C6B5D3-65FC-2EDF-851D-5C17FB578295}"/>
              </a:ext>
            </a:extLst>
          </p:cNvPr>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6" name="Picture 5" descr="A group of people in suits&#10;&#10;AI-generated content may be incorrect.">
            <a:extLst>
              <a:ext uri="{FF2B5EF4-FFF2-40B4-BE49-F238E27FC236}">
                <a16:creationId xmlns:a16="http://schemas.microsoft.com/office/drawing/2014/main" id="{2FFD086E-1166-9EEB-45D3-C2CB102BA8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40900"/>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25</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8" name="Picture 7" descr="A group of people in suits&#10;&#10;AI-generated content may be incorrect.">
            <a:extLst>
              <a:ext uri="{FF2B5EF4-FFF2-40B4-BE49-F238E27FC236}">
                <a16:creationId xmlns:a16="http://schemas.microsoft.com/office/drawing/2014/main" id="{8A3C2646-8DB8-4CF8-212B-F49F1CA234E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5012" y="961858"/>
            <a:ext cx="7075370" cy="5896142"/>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4272546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965373740"/>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9935506"/>
                  </a:ext>
                </a:extLst>
              </a:tr>
              <a:tr h="320040">
                <a:tc>
                  <a:txBody>
                    <a:bodyPr/>
                    <a:lstStyle/>
                    <a:p>
                      <a:r>
                        <a:rPr lang="en-US" sz="1100" dirty="0" err="1">
                          <a:latin typeface="MULISH REGULAR ROMAN" pitchFamily="2" charset="77"/>
                        </a:rPr>
                        <a:t>Kousisis</a:t>
                      </a: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a:t>* Oklahoma </a:t>
            </a:r>
            <a:r>
              <a:rPr lang="en-US" sz="1100" i="1" dirty="0"/>
              <a:t>Charter Schools v. Drummond </a:t>
            </a:r>
            <a:r>
              <a:rPr lang="en-US" sz="1100" dirty="0"/>
              <a:t>was decided </a:t>
            </a:r>
            <a:r>
              <a:rPr lang="en-US" sz="1100" i="1" dirty="0"/>
              <a:t>Per 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Tree>
    <p:extLst>
      <p:ext uri="{BB962C8B-B14F-4D97-AF65-F5344CB8AC3E}">
        <p14:creationId xmlns:p14="http://schemas.microsoft.com/office/powerpoint/2010/main" val="16101980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29</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19946</TotalTime>
  <Words>4594</Words>
  <Application>Microsoft Office PowerPoint</Application>
  <PresentationFormat>Widescreen</PresentationFormat>
  <Paragraphs>1202</Paragraphs>
  <Slides>29</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MAY 19,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256</cp:revision>
  <cp:lastPrinted>2019-06-28T21:02:00Z</cp:lastPrinted>
  <dcterms:created xsi:type="dcterms:W3CDTF">2019-02-07T19:44:00Z</dcterms:created>
  <dcterms:modified xsi:type="dcterms:W3CDTF">2025-05-22T16:17:15Z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