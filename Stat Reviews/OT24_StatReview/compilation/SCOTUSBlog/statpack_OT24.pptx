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9"/>
  </p:notesMasterIdLst>
  <p:handoutMasterIdLst>
    <p:handoutMasterId r:id="rId30"/>
  </p:handoutMasterIdLst>
  <p:sldIdLst>
    <p:sldId id="392" r:id="rId2"/>
    <p:sldId id="269" r:id="rId3"/>
    <p:sldId id="393" r:id="rId4"/>
    <p:sldId id="391" r:id="rId5"/>
    <p:sldId id="345" r:id="rId6"/>
    <p:sldId id="411" r:id="rId7"/>
    <p:sldId id="404" r:id="rId8"/>
    <p:sldId id="395" r:id="rId9"/>
    <p:sldId id="407" r:id="rId10"/>
    <p:sldId id="396" r:id="rId11"/>
    <p:sldId id="413" r:id="rId12"/>
    <p:sldId id="324" r:id="rId13"/>
    <p:sldId id="383" r:id="rId14"/>
    <p:sldId id="340" r:id="rId15"/>
    <p:sldId id="406" r:id="rId16"/>
    <p:sldId id="381" r:id="rId17"/>
    <p:sldId id="390" r:id="rId18"/>
    <p:sldId id="299" r:id="rId19"/>
    <p:sldId id="414" r:id="rId20"/>
    <p:sldId id="343" r:id="rId21"/>
    <p:sldId id="412" r:id="rId22"/>
    <p:sldId id="415" r:id="rId23"/>
    <p:sldId id="398" r:id="rId24"/>
    <p:sldId id="399" r:id="rId25"/>
    <p:sldId id="400" r:id="rId26"/>
    <p:sldId id="401" r:id="rId27"/>
    <p:sldId id="402" r:id="rId28"/>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413"/>
            <p14:sldId id="324"/>
            <p14:sldId id="383"/>
            <p14:sldId id="340"/>
            <p14:sldId id="406"/>
            <p14:sldId id="381"/>
            <p14:sldId id="390"/>
            <p14:sldId id="299"/>
            <p14:sldId id="414"/>
            <p14:sldId id="343"/>
            <p14:sldId id="412"/>
            <p14:sldId id="415"/>
            <p14:sldId id="398"/>
            <p14:sldId id="399"/>
            <p14:sldId id="400"/>
            <p14:sldId id="401"/>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D0CECE"/>
    <a:srgbClr val="FFFFFF"/>
    <a:srgbClr val="5B9BD5"/>
    <a:srgbClr val="0F9147"/>
    <a:srgbClr val="FDD532"/>
    <a:srgbClr val="4F4789"/>
    <a:srgbClr val="0469A9"/>
    <a:srgbClr val="4FEDED"/>
    <a:srgbClr val="A9040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09" autoAdjust="0"/>
    <p:restoredTop sz="93220" autoAdjust="0"/>
  </p:normalViewPr>
  <p:slideViewPr>
    <p:cSldViewPr snapToGrid="0">
      <p:cViewPr varScale="1">
        <p:scale>
          <a:sx n="107" d="100"/>
          <a:sy n="107" d="100"/>
        </p:scale>
        <p:origin x="984" y="90"/>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6/25/2025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6/25/2025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18</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19</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20</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23</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24</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6/25/2025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25,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3038072216"/>
              </p:ext>
            </p:extLst>
          </p:nvPr>
        </p:nvGraphicFramePr>
        <p:xfrm>
          <a:off x="304800" y="923675"/>
          <a:ext cx="11582400" cy="45864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Slip Opinions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a:t>
                      </a:r>
                      <a:r>
                        <a:rPr lang="en-US" sz="1400">
                          <a:latin typeface="MULISH BLACK ROMAN"/>
                        </a:rPr>
                        <a:t>the Majority </a:t>
                      </a:r>
                      <a:r>
                        <a:rPr lang="en-US" sz="1400" dirty="0">
                          <a:latin typeface="MULISH BLACK ROMAN"/>
                        </a:rPr>
                        <a:t>(All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a:t>
                      </a:r>
                      <a:r>
                        <a:rPr lang="en-US" sz="1400">
                          <a:latin typeface="MULISH BLACK ROMAN"/>
                        </a:rPr>
                        <a:t>the Majority </a:t>
                      </a:r>
                      <a:r>
                        <a:rPr lang="en-US" sz="1400" dirty="0">
                          <a:latin typeface="MULISH BLACK ROMAN"/>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a:t>
            </a:r>
            <a:r>
              <a:rPr lang="en-US" sz="1200" i="1" dirty="0" err="1">
                <a:latin typeface="MULISH REGULAR ROMAN"/>
              </a:rPr>
              <a:t>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both coded as concurrences.</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dirty="0"/>
          </a:p>
        </p:txBody>
      </p:sp>
      <p:pic>
        <p:nvPicPr>
          <p:cNvPr id="4" name="Picture 3" descr="A graph of different colored bars&#10;&#10;AI-generated content may be incorrect.">
            <a:extLst>
              <a:ext uri="{FF2B5EF4-FFF2-40B4-BE49-F238E27FC236}">
                <a16:creationId xmlns:a16="http://schemas.microsoft.com/office/drawing/2014/main" id="{44D944BA-EF59-698C-394E-6C045890761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88887" y="896353"/>
            <a:ext cx="8512368" cy="5107420"/>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SLIP OPINIONS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SLIP OPINIONS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816042712"/>
              </p:ext>
            </p:extLst>
          </p:nvPr>
        </p:nvGraphicFramePr>
        <p:xfrm>
          <a:off x="320850" y="796386"/>
          <a:ext cx="11550300" cy="564522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Velazquez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dirty="0">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dirty="0">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Misleading vs. false statements under §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dirty="0">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percentage of unanimous decisions (i.e., cases decided without any full dissents) between OT05-OT24.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4" name="Picture 3" descr="A graph with numbers and lines&#10;&#10;AI-generated content may be incorrect.">
            <a:extLst>
              <a:ext uri="{FF2B5EF4-FFF2-40B4-BE49-F238E27FC236}">
                <a16:creationId xmlns:a16="http://schemas.microsoft.com/office/drawing/2014/main" id="{775B23DA-1943-A23F-0A51-83AA2A27EC4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7"/>
            <a:ext cx="9144018" cy="5486410"/>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320850" y="6083077"/>
            <a:ext cx="10401300" cy="646331"/>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that they participated in (including those decided unanimously, </a:t>
            </a:r>
            <a:r>
              <a:rPr lang="en-US" sz="1200" i="1" dirty="0">
                <a:latin typeface="MULISH REGULAR ROMAN"/>
              </a:rPr>
              <a:t>per </a:t>
            </a:r>
            <a:r>
              <a:rPr lang="en-US" sz="1200" i="1" dirty="0" err="1">
                <a:latin typeface="MULISH REGULAR ROMAN"/>
              </a:rPr>
              <a:t>curiam</a:t>
            </a:r>
            <a:r>
              <a:rPr lang="en-US" sz="1200" i="1" dirty="0">
                <a:latin typeface="MULISH REGULAR ROMAN"/>
              </a:rPr>
              <a:t>, </a:t>
            </a:r>
            <a:r>
              <a:rPr lang="en-US" sz="1200" dirty="0">
                <a:latin typeface="MULISH REGULAR ROMAN"/>
              </a:rPr>
              <a:t>or </a:t>
            </a:r>
            <a:r>
              <a:rPr lang="en-US" sz="1200" i="1" dirty="0">
                <a:latin typeface="MULISH REGULAR ROMAN"/>
              </a:rPr>
              <a:t>dismissed as improvidently granted</a:t>
            </a:r>
            <a:r>
              <a:rPr lang="en-US" sz="1200" dirty="0">
                <a:latin typeface="MULISH REGULAR ROMAN"/>
              </a:rPr>
              <a:t>). </a:t>
            </a:r>
            <a:r>
              <a:rPr lang="en-US" sz="1200" b="1" i="1" dirty="0">
                <a:latin typeface="MULISH REGULAR ROMAN"/>
              </a:rPr>
              <a:t>Note</a:t>
            </a:r>
            <a:r>
              <a:rPr lang="en-US" sz="1200" i="1" dirty="0">
                <a:latin typeface="MULISH REGULAR ROMAN"/>
              </a:rPr>
              <a:t>: </a:t>
            </a:r>
            <a:r>
              <a:rPr lang="en-US" sz="1200" dirty="0">
                <a:latin typeface="MULISH REGULAR ROMAN"/>
              </a:rPr>
              <a:t>Given that majority and dissenting votes were not indicated, these percentages </a:t>
            </a:r>
            <a:r>
              <a:rPr lang="en-US" sz="1200" u="sng" dirty="0">
                <a:latin typeface="MULISH REGULAR ROMAN"/>
              </a:rPr>
              <a:t>do not</a:t>
            </a:r>
            <a:r>
              <a:rPr lang="en-US" sz="1200" dirty="0">
                <a:latin typeface="MULISH REGULAR ROMAN"/>
              </a:rPr>
              <a:t> include any votes from the court’s equally divided decision in </a:t>
            </a:r>
            <a:r>
              <a:rPr lang="en-US" sz="1200" i="1" dirty="0">
                <a:latin typeface="MULISH REGULAR ROMAN"/>
              </a:rPr>
              <a:t>Drummond.</a:t>
            </a:r>
            <a:endParaRPr lang="en-US" sz="1200" dirty="0">
              <a:latin typeface="MULISH REGULAR ROMAN"/>
            </a:endParaRP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dirty="0"/>
          </a:p>
        </p:txBody>
      </p:sp>
      <p:pic>
        <p:nvPicPr>
          <p:cNvPr id="10" name="Picture 9" descr="A group of people in a row&#10;&#10;AI-generated content may be incorrect.">
            <a:extLst>
              <a:ext uri="{FF2B5EF4-FFF2-40B4-BE49-F238E27FC236}">
                <a16:creationId xmlns:a16="http://schemas.microsoft.com/office/drawing/2014/main" id="{C1B20996-EC0F-0FCD-2B95-97373F5124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19892"/>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10" name="Picture 9" descr="A group of people in a row&#10;&#10;AI-generated content may be incorrect.">
            <a:extLst>
              <a:ext uri="{FF2B5EF4-FFF2-40B4-BE49-F238E27FC236}">
                <a16:creationId xmlns:a16="http://schemas.microsoft.com/office/drawing/2014/main" id="{C2DE6FD4-99F1-1615-91F4-36102A8D9F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5" y="859611"/>
            <a:ext cx="8705777" cy="5223466"/>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10" name="Picture 9" descr="A group of people in a row&#10;&#10;AI-generated content may be incorrect.">
            <a:extLst>
              <a:ext uri="{FF2B5EF4-FFF2-40B4-BE49-F238E27FC236}">
                <a16:creationId xmlns:a16="http://schemas.microsoft.com/office/drawing/2014/main" id="{B34D9BA1-811A-B7CE-FE00-D6E179AC642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11</a:t>
            </a:fld>
            <a:endParaRPr lang="en-US"/>
          </a:p>
        </p:txBody>
      </p:sp>
      <p:pic>
        <p:nvPicPr>
          <p:cNvPr id="8" name="Picture 7" descr="A group of people in suits&#10;&#10;AI-generated content may be incorrect.">
            <a:extLst>
              <a:ext uri="{FF2B5EF4-FFF2-40B4-BE49-F238E27FC236}">
                <a16:creationId xmlns:a16="http://schemas.microsoft.com/office/drawing/2014/main" id="{09AB410B-CF4E-622E-034C-126A35237B0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754326"/>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8" name="Picture 7" descr="A group of people in a graph&#10;&#10;AI-generated content may be incorrect.">
            <a:extLst>
              <a:ext uri="{FF2B5EF4-FFF2-40B4-BE49-F238E27FC236}">
                <a16:creationId xmlns:a16="http://schemas.microsoft.com/office/drawing/2014/main" id="{704D74E9-F381-E4B8-8E41-D7271CA78F5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150365079"/>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8.2</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8.75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186737818"/>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1612656217"/>
              </p:ext>
            </p:extLst>
          </p:nvPr>
        </p:nvGraphicFramePr>
        <p:xfrm>
          <a:off x="4656536" y="4156187"/>
          <a:ext cx="6505995" cy="2513061"/>
        </p:xfrm>
        <a:graphic>
          <a:graphicData uri="http://schemas.openxmlformats.org/drawingml/2006/table">
            <a:tbl>
              <a:tblPr firstRow="1" bandRow="1">
                <a:tableStyleId>{C083E6E3-FA7D-4D7B-A595-EF9225AFEA82}</a:tableStyleId>
              </a:tblPr>
              <a:tblGrid>
                <a:gridCol w="1722841">
                  <a:extLst>
                    <a:ext uri="{9D8B030D-6E8A-4147-A177-3AD203B41FA5}">
                      <a16:colId xmlns:a16="http://schemas.microsoft.com/office/drawing/2014/main" val="20000"/>
                    </a:ext>
                  </a:extLst>
                </a:gridCol>
                <a:gridCol w="1167543">
                  <a:extLst>
                    <a:ext uri="{9D8B030D-6E8A-4147-A177-3AD203B41FA5}">
                      <a16:colId xmlns:a16="http://schemas.microsoft.com/office/drawing/2014/main" val="20001"/>
                    </a:ext>
                  </a:extLst>
                </a:gridCol>
                <a:gridCol w="3615611">
                  <a:extLst>
                    <a:ext uri="{9D8B030D-6E8A-4147-A177-3AD203B41FA5}">
                      <a16:colId xmlns:a16="http://schemas.microsoft.com/office/drawing/2014/main" val="4268982242"/>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Laboratory Corp.</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2" name="TextBox 1">
            <a:extLst>
              <a:ext uri="{FF2B5EF4-FFF2-40B4-BE49-F238E27FC236}">
                <a16:creationId xmlns:a16="http://schemas.microsoft.com/office/drawing/2014/main" id="{9DE224FF-55AD-FCBC-8A44-28C5566A10DB}"/>
              </a:ext>
            </a:extLst>
          </p:cNvPr>
          <p:cNvSpPr txBox="1"/>
          <p:nvPr/>
        </p:nvSpPr>
        <p:spPr>
          <a:xfrm>
            <a:off x="6096000" y="345170"/>
            <a:ext cx="5066531" cy="400110"/>
          </a:xfrm>
          <a:prstGeom prst="rect">
            <a:avLst/>
          </a:prstGeom>
          <a:noFill/>
          <a:ln>
            <a:solidFill>
              <a:schemeClr val="tx1"/>
            </a:solidFill>
          </a:ln>
        </p:spPr>
        <p:txBody>
          <a:bodyPr wrap="square">
            <a:spAutoFit/>
          </a:bodyPr>
          <a:lstStyle/>
          <a:p>
            <a:r>
              <a:rPr lang="en-US" sz="1000" dirty="0"/>
              <a:t>Only cases with a signed majority opinion are included in this analysis – cases decided </a:t>
            </a:r>
            <a:r>
              <a:rPr lang="en-US" sz="1000" i="1" dirty="0"/>
              <a:t>per </a:t>
            </a:r>
            <a:r>
              <a:rPr lang="en-US" sz="1000" i="1" dirty="0" err="1"/>
              <a:t>curiam</a:t>
            </a:r>
            <a:r>
              <a:rPr lang="en-US" sz="1000" dirty="0"/>
              <a:t> with no signed majority opinion are omitted. </a:t>
            </a:r>
          </a:p>
        </p:txBody>
      </p:sp>
    </p:spTree>
    <p:extLst>
      <p:ext uri="{BB962C8B-B14F-4D97-AF65-F5344CB8AC3E}">
        <p14:creationId xmlns:p14="http://schemas.microsoft.com/office/powerpoint/2010/main" val="11040160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14</a:t>
            </a:fld>
            <a:endParaRPr lang="en-US"/>
          </a:p>
        </p:txBody>
      </p:sp>
      <p:pic>
        <p:nvPicPr>
          <p:cNvPr id="7" name="Picture 6" descr="A diagram of a pie chart&#10;&#10;AI-generated content may be incorrect.">
            <a:extLst>
              <a:ext uri="{FF2B5EF4-FFF2-40B4-BE49-F238E27FC236}">
                <a16:creationId xmlns:a16="http://schemas.microsoft.com/office/drawing/2014/main" id="{09C72145-D73A-4EAF-A587-98F471DCDFF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8" name="Picture 7" descr="A diagram of a pie chart&#10;&#10;AI-generated content may be incorrect.">
            <a:extLst>
              <a:ext uri="{FF2B5EF4-FFF2-40B4-BE49-F238E27FC236}">
                <a16:creationId xmlns:a16="http://schemas.microsoft.com/office/drawing/2014/main" id="{9C6663E0-30E9-B46D-2017-5A1970DE18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835297977"/>
              </p:ext>
            </p:extLst>
          </p:nvPr>
        </p:nvGraphicFramePr>
        <p:xfrm>
          <a:off x="344808" y="918414"/>
          <a:ext cx="10648855" cy="4872780"/>
        </p:xfrm>
        <a:graphic>
          <a:graphicData uri="http://schemas.openxmlformats.org/drawingml/2006/table">
            <a:tbl>
              <a:tblPr firstRow="1" bandRow="1">
                <a:tableStyleId>{C083E6E3-FA7D-4D7B-A595-EF9225AFEA82}</a:tableStyleId>
              </a:tblPr>
              <a:tblGrid>
                <a:gridCol w="1521265">
                  <a:extLst>
                    <a:ext uri="{9D8B030D-6E8A-4147-A177-3AD203B41FA5}">
                      <a16:colId xmlns:a16="http://schemas.microsoft.com/office/drawing/2014/main" val="20000"/>
                    </a:ext>
                  </a:extLst>
                </a:gridCol>
                <a:gridCol w="1521265">
                  <a:extLst>
                    <a:ext uri="{9D8B030D-6E8A-4147-A177-3AD203B41FA5}">
                      <a16:colId xmlns:a16="http://schemas.microsoft.com/office/drawing/2014/main" val="20001"/>
                    </a:ext>
                  </a:extLst>
                </a:gridCol>
                <a:gridCol w="1521265">
                  <a:extLst>
                    <a:ext uri="{9D8B030D-6E8A-4147-A177-3AD203B41FA5}">
                      <a16:colId xmlns:a16="http://schemas.microsoft.com/office/drawing/2014/main" val="20003"/>
                    </a:ext>
                  </a:extLst>
                </a:gridCol>
                <a:gridCol w="1521265">
                  <a:extLst>
                    <a:ext uri="{9D8B030D-6E8A-4147-A177-3AD203B41FA5}">
                      <a16:colId xmlns:a16="http://schemas.microsoft.com/office/drawing/2014/main" val="20004"/>
                    </a:ext>
                  </a:extLst>
                </a:gridCol>
                <a:gridCol w="1521265">
                  <a:extLst>
                    <a:ext uri="{9D8B030D-6E8A-4147-A177-3AD203B41FA5}">
                      <a16:colId xmlns:a16="http://schemas.microsoft.com/office/drawing/2014/main" val="20005"/>
                    </a:ext>
                  </a:extLst>
                </a:gridCol>
                <a:gridCol w="1521265">
                  <a:extLst>
                    <a:ext uri="{9D8B030D-6E8A-4147-A177-3AD203B41FA5}">
                      <a16:colId xmlns:a16="http://schemas.microsoft.com/office/drawing/2014/main" val="20006"/>
                    </a:ext>
                  </a:extLst>
                </a:gridCol>
                <a:gridCol w="1521265">
                  <a:extLst>
                    <a:ext uri="{9D8B030D-6E8A-4147-A177-3AD203B41FA5}">
                      <a16:colId xmlns:a16="http://schemas.microsoft.com/office/drawing/2014/main" val="20007"/>
                    </a:ext>
                  </a:extLst>
                </a:gridCol>
              </a:tblGrid>
              <a:tr h="324852">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1</a:t>
                      </a:r>
                      <a:r>
                        <a:rPr lang="en-US" sz="1100" b="0" kern="1200" baseline="30000" dirty="0">
                          <a:latin typeface="MULISH REGULAR ROMAN"/>
                        </a:rPr>
                        <a:t>st</a:t>
                      </a:r>
                      <a:r>
                        <a:rPr lang="en-US" sz="1100" b="0" kern="1200" dirty="0">
                          <a:latin typeface="MULISH REGULAR ROMAN"/>
                        </a:rPr>
                        <a:t> Circuit</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100%</a:t>
                      </a:r>
                    </a:p>
                  </a:txBody>
                  <a:tcPr marL="9525" marR="9525" marT="9525" marB="0" anchor="ctr">
                    <a:lnT w="12700" cmpd="sng">
                      <a:noFill/>
                    </a:lnT>
                  </a:tcPr>
                </a:tc>
                <a:extLst>
                  <a:ext uri="{0D108BD9-81ED-4DB2-BD59-A6C34878D82A}">
                    <a16:rowId xmlns:a16="http://schemas.microsoft.com/office/drawing/2014/main" val="10002"/>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2</a:t>
                      </a:r>
                      <a:r>
                        <a:rPr lang="en-US" sz="1100" b="0" kern="1200" baseline="30000" dirty="0">
                          <a:effectLst/>
                          <a:latin typeface="MULISH REGULAR ROMAN"/>
                        </a:rPr>
                        <a:t>nd</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10%</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40%</a:t>
                      </a:r>
                    </a:p>
                  </a:txBody>
                  <a:tcPr marL="9525" marR="9525" marT="9525" marB="0" anchor="ctr"/>
                </a:tc>
                <a:tc>
                  <a:txBody>
                    <a:bodyPr/>
                    <a:lstStyle/>
                    <a:p>
                      <a:pPr algn="ctr" fontAlgn="b"/>
                      <a:r>
                        <a:rPr lang="en-US" sz="1100" b="0" i="0" u="none" strike="noStrike">
                          <a:solidFill>
                            <a:srgbClr val="000000"/>
                          </a:solidFill>
                          <a:effectLst/>
                          <a:latin typeface="MULISH BLACK ROMAN"/>
                        </a:rPr>
                        <a:t>60%</a:t>
                      </a:r>
                    </a:p>
                  </a:txBody>
                  <a:tcPr marL="9525" marR="9525" marT="9525" marB="0" anchor="ctr"/>
                </a:tc>
                <a:extLst>
                  <a:ext uri="{0D108BD9-81ED-4DB2-BD59-A6C34878D82A}">
                    <a16:rowId xmlns:a16="http://schemas.microsoft.com/office/drawing/2014/main" val="10003"/>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3</a:t>
                      </a:r>
                      <a:r>
                        <a:rPr lang="en-US" sz="1100" b="0" kern="1200" baseline="30000" dirty="0">
                          <a:effectLst/>
                          <a:latin typeface="MULISH REGULAR ROMAN"/>
                        </a:rPr>
                        <a:t>rd</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4"/>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4</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extLst>
                  <a:ext uri="{0D108BD9-81ED-4DB2-BD59-A6C34878D82A}">
                    <a16:rowId xmlns:a16="http://schemas.microsoft.com/office/drawing/2014/main" val="10005"/>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5</a:t>
                      </a:r>
                      <a:r>
                        <a:rPr lang="en-US" sz="1100" b="0" kern="1200" baseline="30000" dirty="0">
                          <a:effectLst/>
                          <a:latin typeface="MULISH REGULAR ROMAN"/>
                        </a:rPr>
                        <a:t>th</a:t>
                      </a:r>
                      <a:r>
                        <a:rPr lang="en-US" sz="1100" b="0" kern="1200" dirty="0">
                          <a:effectLst/>
                          <a:latin typeface="MULISH REGULAR ROMAN"/>
                        </a:rPr>
                        <a:t> </a:t>
                      </a:r>
                      <a:r>
                        <a:rPr lang="en-US" sz="1100" b="0" kern="1200" baseline="30000" dirty="0">
                          <a:effectLst/>
                          <a:latin typeface="MULISH REGULAR ROMAN"/>
                        </a:rPr>
                        <a:t> </a:t>
                      </a:r>
                      <a:r>
                        <a:rPr lang="en-US" sz="1100" b="0" kern="1200" dirty="0">
                          <a:effectLst/>
                          <a:latin typeface="MULISH REGULAR ROMAN"/>
                        </a:rPr>
                        <a:t>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7</a:t>
                      </a:r>
                    </a:p>
                  </a:txBody>
                  <a:tcPr marL="9525" marR="9525" marT="9525" marB="0" anchor="ctr"/>
                </a:tc>
                <a:tc>
                  <a:txBody>
                    <a:bodyPr/>
                    <a:lstStyle/>
                    <a:p>
                      <a:pPr algn="ctr" fontAlgn="b"/>
                      <a:r>
                        <a:rPr lang="en-US" sz="1100" b="0" i="0" u="none" strike="noStrike">
                          <a:solidFill>
                            <a:srgbClr val="000000"/>
                          </a:solidFill>
                          <a:effectLst/>
                          <a:latin typeface="MULISH BLACK ROMAN"/>
                        </a:rPr>
                        <a:t>14%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28.6%</a:t>
                      </a:r>
                    </a:p>
                  </a:txBody>
                  <a:tcPr marL="9525" marR="9525" marT="9525" marB="0" anchor="ctr"/>
                </a:tc>
                <a:tc>
                  <a:txBody>
                    <a:bodyPr/>
                    <a:lstStyle/>
                    <a:p>
                      <a:pPr algn="ctr" fontAlgn="b"/>
                      <a:r>
                        <a:rPr lang="en-US" sz="1100" b="0" i="0" u="none" strike="noStrike">
                          <a:solidFill>
                            <a:srgbClr val="000000"/>
                          </a:solidFill>
                          <a:effectLst/>
                          <a:latin typeface="MULISH BLACK ROMAN"/>
                        </a:rPr>
                        <a:t>71.4%</a:t>
                      </a:r>
                    </a:p>
                  </a:txBody>
                  <a:tcPr marL="9525" marR="9525" marT="9525" marB="0" anchor="ctr"/>
                </a:tc>
                <a:extLst>
                  <a:ext uri="{0D108BD9-81ED-4DB2-BD59-A6C34878D82A}">
                    <a16:rowId xmlns:a16="http://schemas.microsoft.com/office/drawing/2014/main" val="10006"/>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6</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7"/>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7</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8"/>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8</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9"/>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9</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12%</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extLst>
                  <a:ext uri="{0D108BD9-81ED-4DB2-BD59-A6C34878D82A}">
                    <a16:rowId xmlns:a16="http://schemas.microsoft.com/office/drawing/2014/main" val="10010"/>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10</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10%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extLst>
                  <a:ext uri="{0D108BD9-81ED-4DB2-BD59-A6C34878D82A}">
                    <a16:rowId xmlns:a16="http://schemas.microsoft.com/office/drawing/2014/main" val="10011"/>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11</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12"/>
                  </a:ext>
                </a:extLst>
              </a:tr>
              <a:tr h="324852">
                <a:tc>
                  <a:txBody>
                    <a:bodyPr/>
                    <a:lstStyle/>
                    <a:p>
                      <a:pPr marL="0" algn="ctr" rtl="0">
                        <a:spcBef>
                          <a:spcPts val="0"/>
                        </a:spcBef>
                        <a:spcAft>
                          <a:spcPts val="0"/>
                        </a:spcAft>
                      </a:pPr>
                      <a:r>
                        <a:rPr lang="en-US" sz="1100" b="0" kern="1200" dirty="0">
                          <a:effectLst/>
                          <a:latin typeface="MULISH REGULAR ROMAN"/>
                        </a:rPr>
                        <a:t>D.C.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10%</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40%</a:t>
                      </a:r>
                    </a:p>
                  </a:txBody>
                  <a:tcPr marL="9525" marR="9525" marT="9525" marB="0" anchor="ctr"/>
                </a:tc>
                <a:tc>
                  <a:txBody>
                    <a:bodyPr/>
                    <a:lstStyle/>
                    <a:p>
                      <a:pPr algn="ctr" fontAlgn="b"/>
                      <a:r>
                        <a:rPr lang="en-US" sz="1100" b="0" i="0" u="none" strike="noStrike">
                          <a:solidFill>
                            <a:srgbClr val="000000"/>
                          </a:solidFill>
                          <a:effectLst/>
                          <a:latin typeface="MULISH BLACK ROMAN"/>
                        </a:rPr>
                        <a:t>60%</a:t>
                      </a:r>
                    </a:p>
                  </a:txBody>
                  <a:tcPr marL="9525" marR="9525" marT="9525" marB="0" anchor="ctr"/>
                </a:tc>
                <a:extLst>
                  <a:ext uri="{0D108BD9-81ED-4DB2-BD59-A6C34878D82A}">
                    <a16:rowId xmlns:a16="http://schemas.microsoft.com/office/drawing/2014/main" val="10013"/>
                  </a:ext>
                </a:extLst>
              </a:tr>
              <a:tr h="324852">
                <a:tc>
                  <a:txBody>
                    <a:bodyPr/>
                    <a:lstStyle/>
                    <a:p>
                      <a:pPr marL="0" algn="ctr" rtl="0">
                        <a:spcBef>
                          <a:spcPts val="0"/>
                        </a:spcBef>
                        <a:spcAft>
                          <a:spcPts val="0"/>
                        </a:spcAft>
                      </a:pPr>
                      <a:r>
                        <a:rPr lang="en-US" sz="1100" b="0" kern="1200" dirty="0">
                          <a:latin typeface="MULISH REGULAR ROMAN"/>
                        </a:rPr>
                        <a:t>Fed.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dirty="0">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tc>
                  <a:txBody>
                    <a:bodyPr/>
                    <a:lstStyle/>
                    <a:p>
                      <a:pPr algn="ctr" fontAlgn="b"/>
                      <a:r>
                        <a:rPr lang="en-US" sz="1100" b="0" i="0" u="none" strike="noStrike" dirty="0">
                          <a:solidFill>
                            <a:srgbClr val="000000"/>
                          </a:solidFill>
                          <a:effectLst/>
                          <a:latin typeface="MULISH BLACK ROMAN"/>
                        </a:rPr>
                        <a:t>66.7%</a:t>
                      </a:r>
                    </a:p>
                  </a:txBody>
                  <a:tcPr marL="9525" marR="9525" marT="9525" marB="0" anchor="ctr"/>
                </a:tc>
                <a:extLst>
                  <a:ext uri="{0D108BD9-81ED-4DB2-BD59-A6C34878D82A}">
                    <a16:rowId xmlns:a16="http://schemas.microsoft.com/office/drawing/2014/main" val="10014"/>
                  </a:ext>
                </a:extLst>
              </a:tr>
              <a:tr h="324852">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47" y="5791194"/>
            <a:ext cx="10672816" cy="900246"/>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We treat consolidated cases emerging from different lower courts as single entries. For example, a consolidated case emerging from conflicting decisions in the U.S. Courts of Appeal for the Fifth and Ninth Circuits where the principal case on the court’s docket (e.g., the principal litigants of record) are those from the Fifth are reflected as a single entry from that circuit. Alternatively, consolidated cases emerging from the same lower court are treated as a single entry. </a:t>
            </a:r>
          </a:p>
          <a:p>
            <a:endParaRPr lang="en-US" sz="1050" dirty="0">
              <a:latin typeface="MULISH BLACK ROMAN"/>
              <a:cs typeface="Calibri" panose="020F0502020204030204"/>
            </a:endParaRPr>
          </a:p>
          <a:p>
            <a:r>
              <a:rPr lang="en-US" sz="1050" dirty="0">
                <a:latin typeface="MULISH BLACK ROMAN"/>
                <a:cs typeface="Calibri" panose="020F0502020204030204"/>
              </a:rPr>
              <a:t>* </a:t>
            </a:r>
            <a:r>
              <a:rPr lang="en-US" sz="1050" i="1" dirty="0">
                <a:latin typeface="MULISH BLACK ROMAN"/>
                <a:cs typeface="Calibri" panose="020F0502020204030204"/>
              </a:rPr>
              <a:t>A.A.R.P v. Trump </a:t>
            </a:r>
            <a:r>
              <a:rPr lang="en-US" sz="1050" dirty="0">
                <a:latin typeface="MULISH BLACK ROMAN"/>
                <a:cs typeface="Calibri" panose="020F0502020204030204"/>
              </a:rPr>
              <a:t>(5</a:t>
            </a:r>
            <a:r>
              <a:rPr lang="en-US" sz="1050" baseline="30000" dirty="0">
                <a:latin typeface="MULISH BLACK ROMAN"/>
                <a:cs typeface="Calibri" panose="020F0502020204030204"/>
              </a:rPr>
              <a:t>th</a:t>
            </a:r>
            <a:r>
              <a:rPr lang="en-US" sz="1050" dirty="0">
                <a:latin typeface="MULISH BLACK ROMAN"/>
                <a:cs typeface="Calibri" panose="020F0502020204030204"/>
              </a:rPr>
              <a:t> Circuit) was </a:t>
            </a:r>
            <a:r>
              <a:rPr lang="en-US" sz="1050" i="1" dirty="0">
                <a:latin typeface="MULISH BLACK ROMAN"/>
                <a:cs typeface="Calibri" panose="020F0502020204030204"/>
              </a:rPr>
              <a:t>Granted</a:t>
            </a:r>
            <a:r>
              <a:rPr lang="en-US" sz="1050" dirty="0">
                <a:latin typeface="MULISH BLACK ROMAN"/>
                <a:cs typeface="Calibri" panose="020F0502020204030204"/>
              </a:rPr>
              <a:t> and is not counted towards that circuit’s affirm (reverse) rates. </a:t>
            </a:r>
            <a:endParaRPr lang="en-US" sz="1050" i="1" dirty="0">
              <a:latin typeface="MULISH BLACK ROMAN"/>
              <a:cs typeface="Calibri" panose="020F0502020204030204"/>
            </a:endParaRP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16</a:t>
            </a:fld>
            <a:endParaRPr lang="en-US" dirty="0"/>
          </a:p>
        </p:txBody>
      </p:sp>
    </p:spTree>
    <p:extLst>
      <p:ext uri="{BB962C8B-B14F-4D97-AF65-F5344CB8AC3E}">
        <p14:creationId xmlns:p14="http://schemas.microsoft.com/office/powerpoint/2010/main" val="10335373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7898294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93128454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130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140.75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17</a:t>
            </a:fld>
            <a:endParaRPr lang="en-US"/>
          </a:p>
        </p:txBody>
      </p:sp>
      <p:pic>
        <p:nvPicPr>
          <p:cNvPr id="4" name="Picture 3" descr="A graph with numbers and lines&#10;&#10;AI-generated content may be incorrect.">
            <a:extLst>
              <a:ext uri="{FF2B5EF4-FFF2-40B4-BE49-F238E27FC236}">
                <a16:creationId xmlns:a16="http://schemas.microsoft.com/office/drawing/2014/main" id="{EFEC0D13-E384-F182-D1F6-2B44F39675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6" y="778359"/>
            <a:ext cx="5215464" cy="3219900"/>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4188468970"/>
              </p:ext>
            </p:extLst>
          </p:nvPr>
        </p:nvGraphicFramePr>
        <p:xfrm>
          <a:off x="224287" y="961859"/>
          <a:ext cx="11645661" cy="5351850"/>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Waetzig</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Hungary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Royal Canin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Bouarfa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Delligatti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SF v. EPA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Velazquez</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BLOM Bank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Feliciano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Perttu</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Soto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CC/Devas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Catholic Charities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NRC</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Rivers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Diamond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Trump v. J.G.G.</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Medical Marijuana</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BLOM Bank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Delligatti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Laboratory Corp.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SF v. EPA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McLaughlin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Perttu</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Calumet </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Advocate Christ Medical</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NRC</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Feliciano</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1658920410"/>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Fuld</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Calumet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rgbClr val="000000"/>
                          </a:solidFill>
                          <a:effectLst/>
                          <a:latin typeface="MULISH BLACK ROMAN"/>
                        </a:rPr>
                        <a:t>McLaughlin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 R.J. Reynolds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Fuld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MULISH BLACK ROMAN"/>
                        </a:rPr>
                        <a:t>R.J. Reynolds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1"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19</a:t>
            </a:fld>
            <a:endParaRPr lang="en-US"/>
          </a:p>
        </p:txBody>
      </p:sp>
    </p:spTree>
    <p:extLst>
      <p:ext uri="{BB962C8B-B14F-4D97-AF65-F5344CB8AC3E}">
        <p14:creationId xmlns:p14="http://schemas.microsoft.com/office/powerpoint/2010/main" val="444612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20</a:t>
            </a:fld>
            <a:endParaRPr lang="en-US"/>
          </a:p>
        </p:txBody>
      </p:sp>
      <p:pic>
        <p:nvPicPr>
          <p:cNvPr id="10" name="Picture 9" descr="A graph showing a chart&#10;&#10;AI-generated content may be incorrect.">
            <a:extLst>
              <a:ext uri="{FF2B5EF4-FFF2-40B4-BE49-F238E27FC236}">
                <a16:creationId xmlns:a16="http://schemas.microsoft.com/office/drawing/2014/main" id="{A25D2825-453C-6934-DC3C-8717727F779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1349778561"/>
              </p:ext>
            </p:extLst>
          </p:nvPr>
        </p:nvGraphicFramePr>
        <p:xfrm>
          <a:off x="0" y="792698"/>
          <a:ext cx="12192000" cy="5388820"/>
        </p:xfrm>
        <a:graphic>
          <a:graphicData uri="http://schemas.openxmlformats.org/drawingml/2006/table">
            <a:tbl>
              <a:tblPr firstRow="1" bandRow="1">
                <a:tableStyleId>{C083E6E3-FA7D-4D7B-A595-EF9225AFEA82}</a:tableStyleId>
              </a:tblPr>
              <a:tblGrid>
                <a:gridCol w="1353671">
                  <a:extLst>
                    <a:ext uri="{9D8B030D-6E8A-4147-A177-3AD203B41FA5}">
                      <a16:colId xmlns:a16="http://schemas.microsoft.com/office/drawing/2014/main" val="20000"/>
                    </a:ext>
                  </a:extLst>
                </a:gridCol>
                <a:gridCol w="477096">
                  <a:extLst>
                    <a:ext uri="{9D8B030D-6E8A-4147-A177-3AD203B41FA5}">
                      <a16:colId xmlns:a16="http://schemas.microsoft.com/office/drawing/2014/main" val="20001"/>
                    </a:ext>
                  </a:extLst>
                </a:gridCol>
                <a:gridCol w="234678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2205318">
                  <a:extLst>
                    <a:ext uri="{9D8B030D-6E8A-4147-A177-3AD203B41FA5}">
                      <a16:colId xmlns:a16="http://schemas.microsoft.com/office/drawing/2014/main" val="20004"/>
                    </a:ext>
                  </a:extLst>
                </a:gridCol>
                <a:gridCol w="1132031">
                  <a:extLst>
                    <a:ext uri="{9D8B030D-6E8A-4147-A177-3AD203B41FA5}">
                      <a16:colId xmlns:a16="http://schemas.microsoft.com/office/drawing/2014/main" val="20005"/>
                    </a:ext>
                  </a:extLst>
                </a:gridCol>
                <a:gridCol w="1775602">
                  <a:extLst>
                    <a:ext uri="{9D8B030D-6E8A-4147-A177-3AD203B41FA5}">
                      <a16:colId xmlns:a16="http://schemas.microsoft.com/office/drawing/2014/main" val="20006"/>
                    </a:ext>
                  </a:extLst>
                </a:gridCol>
                <a:gridCol w="1987096">
                  <a:extLst>
                    <a:ext uri="{9D8B030D-6E8A-4147-A177-3AD203B41FA5}">
                      <a16:colId xmlns:a16="http://schemas.microsoft.com/office/drawing/2014/main" val="20007"/>
                    </a:ext>
                  </a:extLst>
                </a:gridCol>
              </a:tblGrid>
              <a:tr h="37290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18355">
                <a:tc rowSpan="5">
                  <a:txBody>
                    <a:bodyPr/>
                    <a:lstStyle/>
                    <a:p>
                      <a:pPr algn="ctr" fontAlgn="b"/>
                      <a:r>
                        <a:rPr lang="en-US" sz="1100" b="1" u="none" strike="noStrike" dirty="0">
                          <a:solidFill>
                            <a:schemeClr val="tx1"/>
                          </a:solidFill>
                          <a:effectLst/>
                          <a:latin typeface="MULISH REGULAR ROMAN" pitchFamily="2" charset="77"/>
                        </a:rPr>
                        <a:t>Shortest</a:t>
                      </a:r>
                      <a:br>
                        <a:rPr lang="en-US" sz="1100" b="1" u="none" strike="noStrike" dirty="0">
                          <a:solidFill>
                            <a:schemeClr val="tx1"/>
                          </a:solidFill>
                          <a:effectLst/>
                          <a:latin typeface="MULISH REGULAR ROMAN" pitchFamily="2" charset="77"/>
                        </a:rPr>
                      </a:br>
                      <a:r>
                        <a:rPr lang="en-US" sz="1100" b="1" u="none" strike="noStrike" dirty="0">
                          <a:solidFill>
                            <a:schemeClr val="tx1"/>
                          </a:solidFill>
                          <a:effectLst/>
                          <a:latin typeface="MULISH REGULAR ROMAN" pitchFamily="2" charset="77"/>
                        </a:rPr>
                        <a:t>(Individual Opinions)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NVIDIA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12/11/2024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Facebook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1893">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Laboratory Corp.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 (8-1)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1835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Drummond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4-4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22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5/22/2025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823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Andrew</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Concurrence</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Alito</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7-2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82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18355">
                <a:tc rowSpan="6">
                  <a:txBody>
                    <a:bodyPr/>
                    <a:lstStyle/>
                    <a:p>
                      <a:pPr algn="ctr" fontAlgn="b"/>
                      <a:r>
                        <a:rPr lang="en-US" sz="1100" b="1"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(Individual Opinions)</a:t>
                      </a:r>
                    </a:p>
                  </a:txBody>
                  <a:tcPr marL="3315" marR="3315" marT="3315"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14,200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14,100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MULISH BLACK ROMAN"/>
                        </a:rPr>
                        <a:t>Skrmetti</a:t>
                      </a:r>
                      <a:endParaRPr lang="en-US" sz="1100" b="0" i="1"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9,800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9,300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316842">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Medical Marijuana</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Dissent</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8,200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358589">
                <a:tc rowSpan="5">
                  <a:txBody>
                    <a:bodyPr/>
                    <a:lstStyle/>
                    <a:p>
                      <a:pPr algn="ctr" fontAlgn="b"/>
                      <a:r>
                        <a:rPr lang="en-US" sz="1100" b="1" i="0"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(Total Combined)</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0" u="none" strike="noStrike" dirty="0">
                          <a:solidFill>
                            <a:schemeClr val="tx1"/>
                          </a:solidFill>
                          <a:effectLst/>
                          <a:latin typeface="MULISH REGULAR ROMAN" pitchFamily="2" charset="77"/>
                        </a:rPr>
                        <a:t>Rank</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Case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No. Opinions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Authors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Vote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Total Words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Decided</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extLst>
                  <a:ext uri="{0D108BD9-81ED-4DB2-BD59-A6C34878D82A}">
                    <a16:rowId xmlns:a16="http://schemas.microsoft.com/office/drawing/2014/main" val="820390063"/>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1</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Skrmetti</a:t>
                      </a:r>
                      <a:endParaRPr lang="en-US" sz="1100" b="0" i="1" u="none" strike="noStrike" dirty="0">
                        <a:solidFill>
                          <a:schemeClr val="tx1"/>
                        </a:solidFill>
                        <a:effectLst/>
                        <a:latin typeface="MULISH REGULAR ROMAN" pitchFamily="2" charset="77"/>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 Barrett; Kagan; Roberts;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34,200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06/18/2025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90266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Barrett;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24,900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5629374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 Gorsuch; Jackson; Kavanaugh;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17,700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28595251"/>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Barrett; Jackson; Kavanaugh;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17,400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17410"/>
                  </a:ext>
                </a:extLst>
              </a:tr>
              <a:tr h="218355">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Stanley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Jackson;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17,000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06/20/2025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26509378"/>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21</a:t>
            </a:fld>
            <a:endParaRPr lang="en-US"/>
          </a:p>
        </p:txBody>
      </p:sp>
    </p:spTree>
    <p:extLst>
      <p:ext uri="{BB962C8B-B14F-4D97-AF65-F5344CB8AC3E}">
        <p14:creationId xmlns:p14="http://schemas.microsoft.com/office/powerpoint/2010/main" val="5787724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CACFA-7A5B-6BF4-4290-7A40F516FB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AC53D5-5A4B-E885-00C2-3FDD957DAD10}"/>
              </a:ext>
            </a:extLst>
          </p:cNvPr>
          <p:cNvSpPr>
            <a:spLocks/>
          </p:cNvSpPr>
          <p:nvPr/>
        </p:nvSpPr>
        <p:spPr>
          <a:xfrm>
            <a:off x="4105834" y="1196415"/>
            <a:ext cx="6973551" cy="4132288"/>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0A5C8D90-3627-FABD-FB0B-9B412993E2E4}"/>
              </a:ext>
            </a:extLst>
          </p:cNvPr>
          <p:cNvGraphicFramePr>
            <a:graphicFrameLocks noGrp="1"/>
          </p:cNvGraphicFramePr>
          <p:nvPr>
            <p:extLst>
              <p:ext uri="{D42A27DB-BD31-4B8C-83A1-F6EECF244321}">
                <p14:modId xmlns:p14="http://schemas.microsoft.com/office/powerpoint/2010/main" val="2414058784"/>
              </p:ext>
            </p:extLst>
          </p:nvPr>
        </p:nvGraphicFramePr>
        <p:xfrm>
          <a:off x="545907" y="961858"/>
          <a:ext cx="2743200" cy="3559936"/>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88406">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392933">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308733">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4880.67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733">
                <a:tc>
                  <a:txBody>
                    <a:bodyPr/>
                    <a:lstStyle/>
                    <a:p>
                      <a:pPr algn="ctr" fontAlgn="b"/>
                      <a:r>
                        <a:rPr lang="en-US" sz="1100" b="0" u="none" strike="noStrike" dirty="0">
                          <a:solidFill>
                            <a:srgbClr val="000000"/>
                          </a:solidFill>
                          <a:effectLst/>
                          <a:latin typeface="MULISH BLACK ROMAN"/>
                        </a:rPr>
                        <a:t>Thomas</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4811.14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8733">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4277.58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8733">
                <a:tc>
                  <a:txBody>
                    <a:bodyPr/>
                    <a:lstStyle/>
                    <a:p>
                      <a:pPr algn="ctr" fontAlgn="b"/>
                      <a:r>
                        <a:rPr lang="en-US" sz="1100" b="0" u="none" strike="noStrike" dirty="0">
                          <a:solidFill>
                            <a:srgbClr val="000000"/>
                          </a:solidFill>
                          <a:effectLst/>
                          <a:latin typeface="MULISH BLACK ROMAN"/>
                        </a:rPr>
                        <a:t>Sotomayor</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3094.5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8733">
                <a:tc>
                  <a:txBody>
                    <a:bodyPr/>
                    <a:lstStyle/>
                    <a:p>
                      <a:pPr algn="ctr" fontAlgn="b"/>
                      <a:r>
                        <a:rPr lang="en-US" sz="1100" b="0" u="none" strike="noStrike" dirty="0">
                          <a:solidFill>
                            <a:srgbClr val="000000"/>
                          </a:solidFill>
                          <a:effectLst/>
                          <a:latin typeface="MULISH BLACK ROMAN"/>
                        </a:rPr>
                        <a:t>Kagan</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3258.38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8733">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3786.07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08733">
                <a:tc>
                  <a:txBody>
                    <a:bodyPr/>
                    <a:lstStyle/>
                    <a:p>
                      <a:pPr algn="ctr" fontAlgn="b"/>
                      <a:r>
                        <a:rPr lang="en-US" sz="1100" b="0" u="none" strike="noStrike" dirty="0">
                          <a:solidFill>
                            <a:srgbClr val="000000"/>
                          </a:solidFill>
                          <a:effectLst/>
                          <a:latin typeface="MULISH BLACK ROMAN"/>
                        </a:rPr>
                        <a:t>Kavanaugh</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3416.77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8733">
                <a:tc>
                  <a:txBody>
                    <a:bodyPr/>
                    <a:lstStyle/>
                    <a:p>
                      <a:pPr algn="ctr" fontAlgn="b"/>
                      <a:r>
                        <a:rPr lang="en-US" sz="1100" b="0" i="0" u="none" strike="noStrike" dirty="0">
                          <a:solidFill>
                            <a:srgbClr val="000000"/>
                          </a:solidFill>
                          <a:effectLst/>
                          <a:latin typeface="MULISH BLACK ROMAN"/>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3945.73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8733">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3206.7</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B58CB0A-1A00-0341-CBED-1A340D5B6E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 (Cont.)</a:t>
            </a:r>
          </a:p>
        </p:txBody>
      </p:sp>
      <p:sp>
        <p:nvSpPr>
          <p:cNvPr id="11" name="TextBox 10">
            <a:extLst>
              <a:ext uri="{FF2B5EF4-FFF2-40B4-BE49-F238E27FC236}">
                <a16:creationId xmlns:a16="http://schemas.microsoft.com/office/drawing/2014/main" id="{1DDF1A98-4954-F42F-6560-244F9F041761}"/>
              </a:ext>
            </a:extLst>
          </p:cNvPr>
          <p:cNvSpPr txBox="1"/>
          <p:nvPr/>
        </p:nvSpPr>
        <p:spPr>
          <a:xfrm>
            <a:off x="4876800" y="5399974"/>
            <a:ext cx="6202585" cy="430887"/>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a:t>
            </a:r>
          </a:p>
        </p:txBody>
      </p:sp>
      <p:sp>
        <p:nvSpPr>
          <p:cNvPr id="7" name="Slide Number Placeholder 6">
            <a:extLst>
              <a:ext uri="{FF2B5EF4-FFF2-40B4-BE49-F238E27FC236}">
                <a16:creationId xmlns:a16="http://schemas.microsoft.com/office/drawing/2014/main" id="{EA02EBCD-4099-42FF-CC0F-A83E48E7078E}"/>
              </a:ext>
            </a:extLst>
          </p:cNvPr>
          <p:cNvSpPr>
            <a:spLocks noGrp="1"/>
          </p:cNvSpPr>
          <p:nvPr>
            <p:ph type="sldNum" sz="quarter" idx="12"/>
          </p:nvPr>
        </p:nvSpPr>
        <p:spPr/>
        <p:txBody>
          <a:bodyPr/>
          <a:lstStyle/>
          <a:p>
            <a:fld id="{5E212BD6-99D2-4430-8307-3DFF6CB1AF68}" type="slidenum">
              <a:rPr lang="en-US" smtClean="0"/>
              <a:t>22</a:t>
            </a:fld>
            <a:endParaRPr lang="en-US"/>
          </a:p>
        </p:txBody>
      </p:sp>
      <p:pic>
        <p:nvPicPr>
          <p:cNvPr id="9" name="Picture 8" descr="A graph of different types of graphs&#10;&#10;AI-generated content may be incorrect.">
            <a:extLst>
              <a:ext uri="{FF2B5EF4-FFF2-40B4-BE49-F238E27FC236}">
                <a16:creationId xmlns:a16="http://schemas.microsoft.com/office/drawing/2014/main" id="{CA7E1612-EBDC-9245-FC4A-B332699BA43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5834" y="1196416"/>
            <a:ext cx="6973551" cy="4184130"/>
          </a:xfrm>
          <a:prstGeom prst="rect">
            <a:avLst/>
          </a:prstGeom>
        </p:spPr>
      </p:pic>
    </p:spTree>
    <p:extLst>
      <p:ext uri="{BB962C8B-B14F-4D97-AF65-F5344CB8AC3E}">
        <p14:creationId xmlns:p14="http://schemas.microsoft.com/office/powerpoint/2010/main" val="24412472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94086637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23</a:t>
            </a:fld>
            <a:endParaRPr lang="en-US"/>
          </a:p>
        </p:txBody>
      </p:sp>
      <p:sp>
        <p:nvSpPr>
          <p:cNvPr id="2" name="TextBox 1">
            <a:extLst>
              <a:ext uri="{FF2B5EF4-FFF2-40B4-BE49-F238E27FC236}">
                <a16:creationId xmlns:a16="http://schemas.microsoft.com/office/drawing/2014/main" id="{F26D9EE1-F030-3FDD-2CF9-9A4D537F2255}"/>
              </a:ext>
            </a:extLst>
          </p:cNvPr>
          <p:cNvSpPr txBox="1"/>
          <p:nvPr/>
        </p:nvSpPr>
        <p:spPr>
          <a:xfrm>
            <a:off x="357712" y="6275365"/>
            <a:ext cx="10515599" cy="600164"/>
          </a:xfrm>
          <a:prstGeom prst="rect">
            <a:avLst/>
          </a:prstGeom>
          <a:noFill/>
        </p:spPr>
        <p:txBody>
          <a:bodyPr wrap="square" rtlCol="0">
            <a:spAutoFit/>
          </a:bodyPr>
          <a:lstStyle/>
          <a:p>
            <a:r>
              <a:rPr lang="en-US" sz="1100" dirty="0">
                <a:latin typeface="MULISH BLACK ROMAN"/>
              </a:rPr>
              <a:t>*  Justices Thomas and Gorsch would vote to grant the petition and set the case for argument.</a:t>
            </a:r>
          </a:p>
          <a:p>
            <a:r>
              <a:rPr lang="en-US" sz="1100" dirty="0">
                <a:latin typeface="MULISH BLACK ROMAN"/>
              </a:rPr>
              <a:t>* Justice Barrett (I) joined the majority but only with respect to Part II, (II), authored a separate opinion concurring (</a:t>
            </a:r>
            <a:r>
              <a:rPr lang="en-US" sz="1100" i="1" dirty="0">
                <a:latin typeface="MULISH BLACK ROMAN"/>
              </a:rPr>
              <a:t>in part</a:t>
            </a:r>
            <a:r>
              <a:rPr lang="en-US" sz="1100" dirty="0">
                <a:latin typeface="MULISH BLACK ROMAN"/>
              </a:rPr>
              <a:t>) and dissenting (</a:t>
            </a:r>
            <a:r>
              <a:rPr lang="en-US" sz="1100" i="1" dirty="0">
                <a:latin typeface="MULISH BLACK ROMAN"/>
              </a:rPr>
              <a:t>in part</a:t>
            </a:r>
            <a:r>
              <a:rPr lang="en-US" sz="1100" dirty="0">
                <a:latin typeface="MULISH BLACK ROMAN"/>
              </a:rPr>
              <a:t>), and joined Justice Thomas’ dissent with respect to Parts IV-A-1, IV-A-2, and IV-A-3. </a:t>
            </a:r>
          </a:p>
        </p:txBody>
      </p:sp>
    </p:spTree>
    <p:extLst>
      <p:ext uri="{BB962C8B-B14F-4D97-AF65-F5344CB8AC3E}">
        <p14:creationId xmlns:p14="http://schemas.microsoft.com/office/powerpoint/2010/main" val="6198849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052947451"/>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Velazquez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430887"/>
          </a:xfrm>
          <a:prstGeom prst="rect">
            <a:avLst/>
          </a:prstGeom>
          <a:noFill/>
        </p:spPr>
        <p:txBody>
          <a:bodyPr wrap="square" rtlCol="0">
            <a:spAutoFit/>
          </a:bodyPr>
          <a:lstStyle/>
          <a:p>
            <a:r>
              <a:rPr lang="en-US" sz="1100" dirty="0">
                <a:latin typeface="MULISH BLACK ROMAN"/>
              </a:rPr>
              <a:t>* Chief Justice Roberts would have voted to deny the application.</a:t>
            </a:r>
            <a:br>
              <a:rPr lang="en-US" sz="1100" dirty="0">
                <a:latin typeface="MULISH BLACK ROMAN"/>
              </a:rPr>
            </a:br>
            <a:r>
              <a:rPr lang="en-US" sz="1100" dirty="0">
                <a:latin typeface="MULISH BLACK ROMAN"/>
              </a:rPr>
              <a:t>** Justice Barrett authored an opinion dissenting (</a:t>
            </a:r>
            <a:r>
              <a:rPr lang="en-US" sz="1100" i="1" dirty="0">
                <a:latin typeface="MULISH BLACK ROMAN"/>
              </a:rPr>
              <a:t>in part</a:t>
            </a:r>
            <a:r>
              <a:rPr lang="en-US" sz="1100" dirty="0">
                <a:latin typeface="MULISH BLACK ROMAN"/>
              </a:rPr>
              <a:t>) – this opinion is coded as a dissent since there was no additional concurrence (</a:t>
            </a:r>
            <a:r>
              <a:rPr lang="en-US" sz="1100" i="1" dirty="0">
                <a:latin typeface="MULISH BLACK ROMAN"/>
              </a:rPr>
              <a:t>in part</a:t>
            </a:r>
            <a:r>
              <a:rPr lang="en-US" sz="1100" dirty="0">
                <a:latin typeface="MULISH BLACK ROMAN"/>
              </a:rPr>
              <a:t>). </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24</a:t>
            </a:fld>
            <a:endParaRPr lang="en-US" dirty="0"/>
          </a:p>
        </p:txBody>
      </p:sp>
    </p:spTree>
    <p:extLst>
      <p:ext uri="{BB962C8B-B14F-4D97-AF65-F5344CB8AC3E}">
        <p14:creationId xmlns:p14="http://schemas.microsoft.com/office/powerpoint/2010/main" val="33742460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24944705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 (8-1)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dirty="0"/>
              <a:t>* Oklahoma Charter Schools v. Drummond </a:t>
            </a:r>
            <a:r>
              <a:rPr lang="en-US" sz="1100" dirty="0"/>
              <a:t>was decided </a:t>
            </a:r>
            <a:r>
              <a:rPr lang="en-US" sz="1100" i="1" dirty="0"/>
              <a:t>per </a:t>
            </a:r>
            <a:r>
              <a:rPr lang="en-US" sz="1100" i="1" dirty="0" err="1"/>
              <a:t>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25</a:t>
            </a:fld>
            <a:endParaRPr lang="en-US"/>
          </a:p>
        </p:txBody>
      </p:sp>
    </p:spTree>
    <p:extLst>
      <p:ext uri="{BB962C8B-B14F-4D97-AF65-F5344CB8AC3E}">
        <p14:creationId xmlns:p14="http://schemas.microsoft.com/office/powerpoint/2010/main" val="1610198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074750852"/>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justice to dissent in full, the decision is coded as (8-1). Although Justice Sotomayor joined Justice Jackson’s dissent with respect to elements of Parts III and IV, they joined with the plurality of the court in not reversing the 11</a:t>
            </a:r>
            <a:r>
              <a:rPr lang="en-US" sz="1100" baseline="30000" dirty="0">
                <a:latin typeface="MULISH BLACK ROMAN"/>
              </a:rPr>
              <a:t>th</a:t>
            </a:r>
            <a:r>
              <a:rPr lang="en-US" sz="1100" dirty="0">
                <a:latin typeface="MULISH BLACK ROMAN"/>
              </a:rPr>
              <a:t> Circuit. </a:t>
            </a:r>
            <a:endParaRPr lang="en-US" sz="1100" dirty="0">
              <a:highlight>
                <a:srgbClr val="FFFF00"/>
              </a:highlight>
              <a:latin typeface="MULISH BLACK ROMAN"/>
            </a:endParaRPr>
          </a:p>
        </p:txBody>
      </p:sp>
    </p:spTree>
    <p:extLst>
      <p:ext uri="{BB962C8B-B14F-4D97-AF65-F5344CB8AC3E}">
        <p14:creationId xmlns:p14="http://schemas.microsoft.com/office/powerpoint/2010/main" val="18556569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2312235919"/>
              </p:ext>
            </p:extLst>
          </p:nvPr>
        </p:nvGraphicFramePr>
        <p:xfrm>
          <a:off x="304798" y="765228"/>
          <a:ext cx="11492146" cy="5923169"/>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37770">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58514">
                <a:tc>
                  <a:txBody>
                    <a:bodyPr/>
                    <a:lstStyle/>
                    <a:p>
                      <a:pPr algn="l" fontAlgn="b"/>
                      <a:r>
                        <a:rPr lang="en-US" sz="900" b="0" i="1" u="none" strike="noStrike" dirty="0">
                          <a:solidFill>
                            <a:srgbClr val="000000"/>
                          </a:solidFill>
                          <a:effectLst/>
                          <a:latin typeface="MULISH BLACK ROMAN"/>
                        </a:rPr>
                        <a:t> Williams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58514">
                <a:tc>
                  <a:txBody>
                    <a:bodyPr/>
                    <a:lstStyle/>
                    <a:p>
                      <a:pPr algn="l" fontAlgn="b"/>
                      <a:r>
                        <a:rPr lang="en-US" sz="900" b="0" i="1" u="none" strike="noStrike" dirty="0">
                          <a:solidFill>
                            <a:srgbClr val="000000"/>
                          </a:solidFill>
                          <a:effectLst/>
                          <a:latin typeface="MULISH BLACK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a:solidFill>
                            <a:srgbClr val="000000"/>
                          </a:solidFill>
                          <a:effectLst/>
                          <a:latin typeface="MULISH BLACK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58514">
                <a:tc>
                  <a:txBody>
                    <a:bodyPr/>
                    <a:lstStyle/>
                    <a:p>
                      <a:pPr algn="l" fontAlgn="b"/>
                      <a:r>
                        <a:rPr lang="en-US" sz="900" b="0" i="1" u="none" strike="noStrike" dirty="0">
                          <a:solidFill>
                            <a:srgbClr val="000000"/>
                          </a:solidFill>
                          <a:effectLst/>
                          <a:latin typeface="MULISH BLACK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58514">
                <a:tc>
                  <a:txBody>
                    <a:bodyPr/>
                    <a:lstStyle/>
                    <a:p>
                      <a:pPr algn="l" fontAlgn="b"/>
                      <a:r>
                        <a:rPr lang="en-US" sz="900" b="0" i="1" u="none" strike="noStrike" dirty="0">
                          <a:solidFill>
                            <a:srgbClr val="000000"/>
                          </a:solidFill>
                          <a:effectLst/>
                          <a:latin typeface="MULISH BLACK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58514">
                <a:tc>
                  <a:txBody>
                    <a:bodyPr/>
                    <a:lstStyle/>
                    <a:p>
                      <a:pPr algn="l" fontAlgn="b"/>
                      <a:r>
                        <a:rPr lang="en-US" sz="900" b="0" i="1" u="none" strike="noStrike" dirty="0">
                          <a:solidFill>
                            <a:srgbClr val="000000"/>
                          </a:solidFill>
                          <a:effectLst/>
                          <a:latin typeface="MULISH BLACK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Velazquez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kern="1200" dirty="0">
                          <a:solidFill>
                            <a:schemeClr val="tx1"/>
                          </a:solidFill>
                          <a:effectLst/>
                          <a:latin typeface="MULISH BLACK ROMAN"/>
                          <a:ea typeface="+mn-ea"/>
                          <a:cs typeface="+mn-cs"/>
                        </a:rPr>
                        <a:t>Kousisis</a:t>
                      </a:r>
                      <a:endParaRPr lang="en-US" sz="900" i="1"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58514">
                <a:tc>
                  <a:txBody>
                    <a:bodyPr/>
                    <a:lstStyle/>
                    <a:p>
                      <a:pPr algn="l" fontAlgn="b"/>
                      <a:r>
                        <a:rPr lang="en-US" sz="900" b="0" i="1" u="none" strike="noStrike" dirty="0">
                          <a:solidFill>
                            <a:srgbClr val="000000"/>
                          </a:solidFill>
                          <a:effectLst/>
                          <a:latin typeface="MULISH BLACK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CAFED</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58514">
                <a:tc>
                  <a:txBody>
                    <a:bodyPr/>
                    <a:lstStyle/>
                    <a:p>
                      <a:pPr algn="l" fontAlgn="b"/>
                      <a:r>
                        <a:rPr lang="en-US" sz="900" b="0" i="1" u="none" strike="noStrike" dirty="0">
                          <a:solidFill>
                            <a:srgbClr val="000000"/>
                          </a:solidFill>
                          <a:effectLst/>
                          <a:latin typeface="MULISH BLACK ROMAN"/>
                        </a:rPr>
                        <a:t> Bouarfa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58514">
                <a:tc>
                  <a:txBody>
                    <a:bodyPr/>
                    <a:lstStyle/>
                    <a:p>
                      <a:pPr algn="l" fontAlgn="b"/>
                      <a:r>
                        <a:rPr lang="en-US" sz="900" b="0" i="1" u="none" strike="noStrike" dirty="0">
                          <a:solidFill>
                            <a:srgbClr val="000000"/>
                          </a:solidFill>
                          <a:effectLst/>
                          <a:latin typeface="MULISH BLACK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CAFED</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58514">
                <a:tc>
                  <a:txBody>
                    <a:bodyPr/>
                    <a:lstStyle/>
                    <a:p>
                      <a:pPr algn="l" fontAlgn="b"/>
                      <a:r>
                        <a:rPr lang="en-US" sz="900" b="0" i="1" u="none" strike="noStrike" dirty="0">
                          <a:solidFill>
                            <a:srgbClr val="000000"/>
                          </a:solidFill>
                          <a:effectLst/>
                          <a:latin typeface="MULISH BLACK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58514">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80119">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58514">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algn="l" fontAlgn="b"/>
                      <a:r>
                        <a:rPr lang="en-US" sz="900" b="0" i="1" u="none" strike="noStrike" dirty="0">
                          <a:solidFill>
                            <a:srgbClr val="000000"/>
                          </a:solidFill>
                          <a:effectLst/>
                          <a:latin typeface="MULISH BLACK ROMAN"/>
                        </a:rPr>
                        <a:t>Hamm</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CA11</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on the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58514">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dirty="0">
                          <a:solidFill>
                            <a:srgbClr val="000000"/>
                          </a:solidFill>
                          <a:effectLst/>
                          <a:latin typeface="MULISH BLACK ROMAN"/>
                        </a:rPr>
                        <a:t>Andrew</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CA10</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on the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10</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a:solidFill>
                            <a:srgbClr val="000000"/>
                          </a:solidFill>
                          <a:effectLst/>
                          <a:latin typeface="MULISH BLACK ROMAN"/>
                        </a:rPr>
                        <a:t>DOE v. CA</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G</a:t>
                      </a:r>
                    </a:p>
                  </a:txBody>
                  <a:tcPr marL="45720" marR="0" marT="0" marB="0" anchor="ctr"/>
                </a:tc>
                <a:tc>
                  <a:txBody>
                    <a:bodyPr/>
                    <a:lstStyle/>
                    <a:p>
                      <a:pPr algn="l" fontAlgn="b"/>
                      <a:r>
                        <a:rPr lang="en-US" sz="900" b="0" i="0" u="none" strike="noStrike">
                          <a:solidFill>
                            <a:srgbClr val="000000"/>
                          </a:solidFill>
                          <a:effectLst/>
                          <a:latin typeface="MULISH BLACK ROMAN"/>
                        </a:rPr>
                        <a:t>DCMA</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algn="l" fontAlgn="b"/>
                      <a:r>
                        <a:rPr lang="en-US" sz="900" b="0" i="1" u="none" strike="noStrike" dirty="0">
                          <a:solidFill>
                            <a:srgbClr val="000000"/>
                          </a:solidFill>
                          <a:effectLst/>
                          <a:latin typeface="MULISH BLACK ROMAN"/>
                        </a:rPr>
                        <a:t>Trump v. J.G.G.</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dirty="0">
                          <a:solidFill>
                            <a:srgbClr val="000000"/>
                          </a:solidFill>
                          <a:effectLst/>
                          <a:latin typeface="MULISH BLACK ROMAN"/>
                        </a:rPr>
                        <a:t>DCDC</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algn="l" fontAlgn="b"/>
                      <a:r>
                        <a:rPr lang="en-US" sz="900" b="0" i="1" u="none" strike="noStrike" dirty="0">
                          <a:solidFill>
                            <a:srgbClr val="000000"/>
                          </a:solidFill>
                          <a:effectLst/>
                          <a:latin typeface="MULISH BLACK ROMAN"/>
                        </a:rPr>
                        <a:t>A.A.R.P v. Trump</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G</a:t>
                      </a:r>
                    </a:p>
                  </a:txBody>
                  <a:tcPr marL="45720" marR="0" marT="0" marB="0" anchor="ctr"/>
                </a:tc>
                <a:tc>
                  <a:txBody>
                    <a:bodyPr/>
                    <a:lstStyle/>
                    <a:p>
                      <a:pPr algn="l" fontAlgn="b"/>
                      <a:r>
                        <a:rPr lang="en-US" sz="900" b="0" i="0" u="none" strike="noStrike" dirty="0">
                          <a:solidFill>
                            <a:srgbClr val="000000"/>
                          </a:solidFill>
                          <a:effectLst/>
                          <a:latin typeface="MULISH BLACK ROMAN"/>
                        </a:rPr>
                        <a:t>CA5</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62</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 </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266973">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27</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32658</TotalTime>
  <Words>4141</Words>
  <Application>Microsoft Office PowerPoint</Application>
  <PresentationFormat>Widescreen</PresentationFormat>
  <Paragraphs>1583</Paragraphs>
  <Slides>27</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27</vt:i4>
      </vt:variant>
    </vt:vector>
  </HeadingPairs>
  <TitlesOfParts>
    <vt:vector size="38"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25,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455</cp:revision>
  <cp:lastPrinted>2019-06-28T21:02:00Z</cp:lastPrinted>
  <dcterms:created xsi:type="dcterms:W3CDTF">2019-02-07T19:44:00Z</dcterms:created>
  <dcterms:modified xsi:type="dcterms:W3CDTF">2025-06-25T20:55:15Z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