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omments/comment2.xml" ContentType="application/vnd.openxmlformats-officedocument.presentationml.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92" r:id="rId2"/>
    <p:sldId id="269" r:id="rId3"/>
    <p:sldId id="393" r:id="rId4"/>
    <p:sldId id="402" r:id="rId5"/>
    <p:sldId id="381" r:id="rId6"/>
    <p:sldId id="345" r:id="rId7"/>
    <p:sldId id="411" r:id="rId8"/>
    <p:sldId id="390" r:id="rId9"/>
    <p:sldId id="391" r:id="rId10"/>
    <p:sldId id="299" r:id="rId11"/>
    <p:sldId id="343" r:id="rId12"/>
    <p:sldId id="412" r:id="rId13"/>
    <p:sldId id="395" r:id="rId14"/>
    <p:sldId id="407" r:id="rId15"/>
    <p:sldId id="396" r:id="rId16"/>
    <p:sldId id="383" r:id="rId17"/>
    <p:sldId id="340" r:id="rId18"/>
    <p:sldId id="406" r:id="rId19"/>
    <p:sldId id="404" r:id="rId20"/>
    <p:sldId id="405" r:id="rId21"/>
    <p:sldId id="410" r:id="rId22"/>
    <p:sldId id="409" r:id="rId23"/>
    <p:sldId id="350" r:id="rId24"/>
    <p:sldId id="324" r:id="rId25"/>
    <p:sldId id="398" r:id="rId26"/>
    <p:sldId id="399" r:id="rId27"/>
    <p:sldId id="400" r:id="rId28"/>
    <p:sldId id="401" r:id="rId29"/>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411"/>
            <p14:sldId id="390"/>
            <p14:sldId id="391"/>
            <p14:sldId id="299"/>
            <p14:sldId id="343"/>
            <p14:sldId id="412"/>
            <p14:sldId id="395"/>
            <p14:sldId id="407"/>
            <p14:sldId id="396"/>
            <p14:sldId id="383"/>
            <p14:sldId id="340"/>
            <p14:sldId id="406"/>
            <p14:sldId id="404"/>
            <p14:sldId id="405"/>
            <p14:sldId id="410"/>
            <p14:sldId id="409"/>
            <p14:sldId id="350"/>
            <p14:sldId id="324"/>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0F9147"/>
    <a:srgbClr val="FDD532"/>
    <a:srgbClr val="4F4789"/>
    <a:srgbClr val="0469A9"/>
    <a:srgbClr val="4FEDED"/>
    <a:srgbClr val="A90404"/>
    <a:srgbClr val="5B9BD5"/>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1"/>
    <p:restoredTop sz="95170"/>
  </p:normalViewPr>
  <p:slideViewPr>
    <p:cSldViewPr snapToGrid="0">
      <p:cViewPr varScale="1">
        <p:scale>
          <a:sx n="99" d="100"/>
          <a:sy n="99" d="100"/>
        </p:scale>
        <p:origin x="108" y="342"/>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3" dt="2021-06-22T17:11:09.111" idx="92">
    <p:pos x="10" y="10"/>
    <p:text>Majority opinion author: Column AO
Vote: Column BH
Days between arg and opinion: Column AM
Judgment: Column BP
Court below: Column G
If you want to find exact argument order (again, not a priority): https://www.supremecourt.gov/oral_arguments/calendarsandlists.aspx</p:text>
    <p:extLst>
      <p:ext uri="{C676402C-5697-4E1C-873F-D02D1690AC5C}">
        <p15:threadingInfo xmlns:p15="http://schemas.microsoft.com/office/powerpoint/2012/main" timeZoneBias="24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3" dt="2021-06-22T17:25:40.094" idx="91">
    <p:pos x="10" y="10"/>
    <p:text>Put in order of "R" number, column AG - it's more or less date decided but w/a technicality.
Case name: column D
Decided: column AH
Vote: column BH
Author: column AO
Majority: For 9-0/8-0/8-1/7-1 cases, use vote (column AH) and if needed a quick glance at who wrote the dissenting opinion (column AT). For all other cases, use columns CA-CI.
If a justice is recused, you'll notice it by a blank cell in columns CA-CI.</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5/12/2025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14</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15</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5/12/2025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5/12/2025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5/12/2025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5/12/2025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comments" Target="../comments/comment2.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MAY 14,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1703814600"/>
              </p:ext>
            </p:extLst>
          </p:nvPr>
        </p:nvGraphicFramePr>
        <p:xfrm>
          <a:off x="347690" y="1106041"/>
          <a:ext cx="11431022" cy="50695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3</a:t>
                      </a: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4</a:t>
                      </a: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5</a:t>
                      </a: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6-7</a:t>
                      </a: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 . . . . . . . . . . . . . . . . . . . . . . . . . . . . . . . . . . . . . . . . . . . . . . . . . . . . . . . . . . . . . . . . . . . . . . . . . . . . . . . . . . . . . . . . . . </a:t>
                      </a:r>
                    </a:p>
                  </a:txBody>
                  <a:tcPr marT="0" marB="0"/>
                </a:tc>
                <a:tc>
                  <a:txBody>
                    <a:bodyPr/>
                    <a:lstStyle/>
                    <a:p>
                      <a:pPr algn="r"/>
                      <a:r>
                        <a:rPr lang="en-US" sz="1400" dirty="0">
                          <a:latin typeface="MULISH REGULAR ROMAN" pitchFamily="2" charset="77"/>
                        </a:rPr>
                        <a:t>8</a:t>
                      </a: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9</a:t>
                      </a: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 . . . . . . . . . . . . . . . . . . . . . . . . . . . . . . . . . . . . . . . . . . . . . . . . . . . . . . . . . . . . . . . . . . . . . . . . . . . . . . . . . . . . . . . . . . . . . </a:t>
                      </a:r>
                    </a:p>
                  </a:txBody>
                  <a:tcPr marT="0" marB="0"/>
                </a:tc>
                <a:tc>
                  <a:txBody>
                    <a:bodyPr/>
                    <a:lstStyle/>
                    <a:p>
                      <a:pPr algn="r"/>
                      <a:r>
                        <a:rPr lang="en-US" sz="1400" dirty="0">
                          <a:latin typeface="MULISH REGULAR ROMAN" pitchFamily="2" charset="77"/>
                        </a:rPr>
                        <a:t>10-11</a:t>
                      </a: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Opinion Lengths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12</a:t>
                      </a:r>
                    </a:p>
                  </a:txBody>
                  <a:tcPr marT="0" marB="0"/>
                </a:tc>
                <a:extLst>
                  <a:ext uri="{0D108BD9-81ED-4DB2-BD59-A6C34878D82A}">
                    <a16:rowId xmlns:a16="http://schemas.microsoft.com/office/drawing/2014/main" val="2976990729"/>
                  </a:ext>
                </a:extLst>
              </a:tr>
              <a:tr h="338866">
                <a:tc>
                  <a:txBody>
                    <a:bodyPr/>
                    <a:lstStyle/>
                    <a:p>
                      <a:r>
                        <a:rPr lang="en-US" sz="1400" dirty="0">
                          <a:latin typeface="MULISH REGULAR ROMAN" pitchFamily="2" charset="77"/>
                        </a:rPr>
                        <a:t>Frequency in the Majority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13-15</a:t>
                      </a:r>
                    </a:p>
                  </a:txBody>
                  <a:tcPr marT="0" marB="0"/>
                </a:tc>
                <a:extLst>
                  <a:ext uri="{0D108BD9-81ED-4DB2-BD59-A6C34878D82A}">
                    <a16:rowId xmlns:a16="http://schemas.microsoft.com/office/drawing/2014/main" val="2363128489"/>
                  </a:ext>
                </a:extLst>
              </a:tr>
              <a:tr h="325432">
                <a:tc>
                  <a:txBody>
                    <a:bodyPr/>
                    <a:lstStyle/>
                    <a:p>
                      <a:r>
                        <a:rPr lang="en-US" sz="1400" dirty="0">
                          <a:latin typeface="MULISH REGULAR ROMAN" pitchFamily="2" charset="77"/>
                        </a:rPr>
                        <a:t>Strength of the Majority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16</a:t>
                      </a: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Merits Cases by Vote Split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17-18</a:t>
                      </a: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Unanimity  .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19-20</a:t>
                      </a:r>
                    </a:p>
                  </a:txBody>
                  <a:tcPr marT="0" marB="0"/>
                </a:tc>
                <a:extLst>
                  <a:ext uri="{0D108BD9-81ED-4DB2-BD59-A6C34878D82A}">
                    <a16:rowId xmlns:a16="http://schemas.microsoft.com/office/drawing/2014/main" val="21350234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Judicial Review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21</a:t>
                      </a:r>
                    </a:p>
                  </a:txBody>
                  <a:tcPr marT="0" marB="0"/>
                </a:tc>
                <a:extLst>
                  <a:ext uri="{0D108BD9-81ED-4DB2-BD59-A6C34878D82A}">
                    <a16:rowId xmlns:a16="http://schemas.microsoft.com/office/drawing/2014/main" val="2340122278"/>
                  </a:ext>
                </a:extLst>
              </a:tr>
              <a:tr h="338866">
                <a:tc>
                  <a:txBody>
                    <a:bodyPr/>
                    <a:lstStyle/>
                    <a:p>
                      <a:r>
                        <a:rPr lang="en-US" sz="1400" dirty="0">
                          <a:latin typeface="MULISH REGULAR ROMAN" pitchFamily="2" charset="77"/>
                        </a:rPr>
                        <a:t>Justice Agreement &amp; Coalitions  . . . . . . . . . . . . . . . . . . . . . . . . . . . . . . . . . . . . . . . . . . . . . . . . . . . . . . . . . . . . . . . . . . . . . . . . . . . . . . . . . . . . . . . . . . . . . . . . . </a:t>
                      </a:r>
                    </a:p>
                  </a:txBody>
                  <a:tcPr marT="0" marB="0"/>
                </a:tc>
                <a:tc>
                  <a:txBody>
                    <a:bodyPr/>
                    <a:lstStyle/>
                    <a:p>
                      <a:pPr algn="r"/>
                      <a:r>
                        <a:rPr lang="en-US" sz="1400" dirty="0">
                          <a:latin typeface="MULISH REGULAR ROMAN" pitchFamily="2" charset="77"/>
                        </a:rPr>
                        <a:t>22-24</a:t>
                      </a: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Voting Alignments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25-28</a:t>
                      </a: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2608319132"/>
              </p:ext>
            </p:extLst>
          </p:nvPr>
        </p:nvGraphicFramePr>
        <p:xfrm>
          <a:off x="395056" y="857559"/>
          <a:ext cx="11401887" cy="5944974"/>
        </p:xfrm>
        <a:graphic>
          <a:graphicData uri="http://schemas.openxmlformats.org/drawingml/2006/table">
            <a:tbl>
              <a:tblPr firstRow="1" bandRow="1">
                <a:tableStyleId>{C083E6E3-FA7D-4D7B-A595-EF9225AFEA82}</a:tableStyleId>
              </a:tblPr>
              <a:tblGrid>
                <a:gridCol w="984623">
                  <a:extLst>
                    <a:ext uri="{9D8B030D-6E8A-4147-A177-3AD203B41FA5}">
                      <a16:colId xmlns:a16="http://schemas.microsoft.com/office/drawing/2014/main" val="20000"/>
                    </a:ext>
                  </a:extLst>
                </a:gridCol>
                <a:gridCol w="142321">
                  <a:extLst>
                    <a:ext uri="{9D8B030D-6E8A-4147-A177-3AD203B41FA5}">
                      <a16:colId xmlns:a16="http://schemas.microsoft.com/office/drawing/2014/main" val="2854710428"/>
                    </a:ext>
                  </a:extLst>
                </a:gridCol>
                <a:gridCol w="502791">
                  <a:extLst>
                    <a:ext uri="{9D8B030D-6E8A-4147-A177-3AD203B41FA5}">
                      <a16:colId xmlns:a16="http://schemas.microsoft.com/office/drawing/2014/main" val="20001"/>
                    </a:ext>
                  </a:extLst>
                </a:gridCol>
                <a:gridCol w="346750">
                  <a:extLst>
                    <a:ext uri="{9D8B030D-6E8A-4147-A177-3AD203B41FA5}">
                      <a16:colId xmlns:a16="http://schemas.microsoft.com/office/drawing/2014/main" val="20002"/>
                    </a:ext>
                  </a:extLst>
                </a:gridCol>
                <a:gridCol w="557852">
                  <a:extLst>
                    <a:ext uri="{9D8B030D-6E8A-4147-A177-3AD203B41FA5}">
                      <a16:colId xmlns:a16="http://schemas.microsoft.com/office/drawing/2014/main" val="20003"/>
                    </a:ext>
                  </a:extLst>
                </a:gridCol>
                <a:gridCol w="239676">
                  <a:extLst>
                    <a:ext uri="{9D8B030D-6E8A-4147-A177-3AD203B41FA5}">
                      <a16:colId xmlns:a16="http://schemas.microsoft.com/office/drawing/2014/main" val="20004"/>
                    </a:ext>
                  </a:extLst>
                </a:gridCol>
                <a:gridCol w="606816">
                  <a:extLst>
                    <a:ext uri="{9D8B030D-6E8A-4147-A177-3AD203B41FA5}">
                      <a16:colId xmlns:a16="http://schemas.microsoft.com/office/drawing/2014/main" val="20005"/>
                    </a:ext>
                  </a:extLst>
                </a:gridCol>
                <a:gridCol w="1252156">
                  <a:extLst>
                    <a:ext uri="{9D8B030D-6E8A-4147-A177-3AD203B41FA5}">
                      <a16:colId xmlns:a16="http://schemas.microsoft.com/office/drawing/2014/main" val="20009"/>
                    </a:ext>
                  </a:extLst>
                </a:gridCol>
                <a:gridCol w="620303">
                  <a:extLst>
                    <a:ext uri="{9D8B030D-6E8A-4147-A177-3AD203B41FA5}">
                      <a16:colId xmlns:a16="http://schemas.microsoft.com/office/drawing/2014/main" val="2523461480"/>
                    </a:ext>
                  </a:extLst>
                </a:gridCol>
                <a:gridCol w="317401">
                  <a:extLst>
                    <a:ext uri="{9D8B030D-6E8A-4147-A177-3AD203B41FA5}">
                      <a16:colId xmlns:a16="http://schemas.microsoft.com/office/drawing/2014/main" val="20011"/>
                    </a:ext>
                  </a:extLst>
                </a:gridCol>
                <a:gridCol w="537466">
                  <a:extLst>
                    <a:ext uri="{9D8B030D-6E8A-4147-A177-3AD203B41FA5}">
                      <a16:colId xmlns:a16="http://schemas.microsoft.com/office/drawing/2014/main" val="20012"/>
                    </a:ext>
                  </a:extLst>
                </a:gridCol>
                <a:gridCol w="398761">
                  <a:extLst>
                    <a:ext uri="{9D8B030D-6E8A-4147-A177-3AD203B41FA5}">
                      <a16:colId xmlns:a16="http://schemas.microsoft.com/office/drawing/2014/main" val="20013"/>
                    </a:ext>
                  </a:extLst>
                </a:gridCol>
                <a:gridCol w="641489">
                  <a:extLst>
                    <a:ext uri="{9D8B030D-6E8A-4147-A177-3AD203B41FA5}">
                      <a16:colId xmlns:a16="http://schemas.microsoft.com/office/drawing/2014/main" val="20014"/>
                    </a:ext>
                  </a:extLst>
                </a:gridCol>
                <a:gridCol w="1400798">
                  <a:extLst>
                    <a:ext uri="{9D8B030D-6E8A-4147-A177-3AD203B41FA5}">
                      <a16:colId xmlns:a16="http://schemas.microsoft.com/office/drawing/2014/main" val="20018"/>
                    </a:ext>
                  </a:extLst>
                </a:gridCol>
                <a:gridCol w="766403">
                  <a:extLst>
                    <a:ext uri="{9D8B030D-6E8A-4147-A177-3AD203B41FA5}">
                      <a16:colId xmlns:a16="http://schemas.microsoft.com/office/drawing/2014/main" val="1361156796"/>
                    </a:ext>
                  </a:extLst>
                </a:gridCol>
                <a:gridCol w="273851">
                  <a:extLst>
                    <a:ext uri="{9D8B030D-6E8A-4147-A177-3AD203B41FA5}">
                      <a16:colId xmlns:a16="http://schemas.microsoft.com/office/drawing/2014/main" val="20021"/>
                    </a:ext>
                  </a:extLst>
                </a:gridCol>
                <a:gridCol w="365760">
                  <a:extLst>
                    <a:ext uri="{9D8B030D-6E8A-4147-A177-3AD203B41FA5}">
                      <a16:colId xmlns:a16="http://schemas.microsoft.com/office/drawing/2014/main" val="1036429855"/>
                    </a:ext>
                  </a:extLst>
                </a:gridCol>
                <a:gridCol w="563471">
                  <a:extLst>
                    <a:ext uri="{9D8B030D-6E8A-4147-A177-3AD203B41FA5}">
                      <a16:colId xmlns:a16="http://schemas.microsoft.com/office/drawing/2014/main" val="20022"/>
                    </a:ext>
                  </a:extLst>
                </a:gridCol>
                <a:gridCol w="372264">
                  <a:extLst>
                    <a:ext uri="{9D8B030D-6E8A-4147-A177-3AD203B41FA5}">
                      <a16:colId xmlns:a16="http://schemas.microsoft.com/office/drawing/2014/main" val="20023"/>
                    </a:ext>
                  </a:extLst>
                </a:gridCol>
                <a:gridCol w="510935">
                  <a:extLst>
                    <a:ext uri="{9D8B030D-6E8A-4147-A177-3AD203B41FA5}">
                      <a16:colId xmlns:a16="http://schemas.microsoft.com/office/drawing/2014/main" val="20024"/>
                    </a:ext>
                  </a:extLst>
                </a:gridCol>
              </a:tblGrid>
              <a:tr h="244314">
                <a:tc gridSpan="7">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strike="sngStrike">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SMS</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BMK</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EK</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NMG</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SAA</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RBG</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gridSpan="2">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gridSpan="2">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hMerge="1">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209379160"/>
              </p:ext>
            </p:extLst>
          </p:nvPr>
        </p:nvGraphicFramePr>
        <p:xfrm>
          <a:off x="344808" y="918414"/>
          <a:ext cx="11135992" cy="5212080"/>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74320">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ctr"/>
                      <a:r>
                        <a:rPr lang="en-US" sz="1100" b="0" i="0" u="none" strike="noStrike">
                          <a:solidFill>
                            <a:srgbClr val="000000"/>
                          </a:solidFill>
                          <a:effectLst/>
                          <a:latin typeface="MULISH REGULAR ROMAN"/>
                        </a:rPr>
                        <a:t>1</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1.50%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extLst>
                  <a:ext uri="{0D108BD9-81ED-4DB2-BD59-A6C34878D82A}">
                    <a16:rowId xmlns:a16="http://schemas.microsoft.com/office/drawing/2014/main" val="10002"/>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3"/>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4"/>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8</a:t>
                      </a:r>
                    </a:p>
                  </a:txBody>
                  <a:tcPr marL="9525" marR="9525" marT="9525" marB="0" anchor="ctr"/>
                </a:tc>
                <a:tc>
                  <a:txBody>
                    <a:bodyPr/>
                    <a:lstStyle/>
                    <a:p>
                      <a:pPr algn="ctr" fontAlgn="ctr"/>
                      <a:r>
                        <a:rPr lang="en-US" sz="1100" b="0" i="0" u="none" strike="noStrike">
                          <a:solidFill>
                            <a:srgbClr val="000000"/>
                          </a:solidFill>
                          <a:effectLst/>
                          <a:latin typeface="MULISH REGULAR ROMAN"/>
                        </a:rPr>
                        <a:t>12.10%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5"/>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12</a:t>
                      </a:r>
                    </a:p>
                  </a:txBody>
                  <a:tcPr marL="9525" marR="9525" marT="9525" marB="0" anchor="ctr"/>
                </a:tc>
                <a:tc>
                  <a:txBody>
                    <a:bodyPr/>
                    <a:lstStyle/>
                    <a:p>
                      <a:pPr algn="ctr" fontAlgn="ctr"/>
                      <a:r>
                        <a:rPr lang="en-US" sz="1100" b="0" i="0" u="none" strike="noStrike">
                          <a:solidFill>
                            <a:srgbClr val="000000"/>
                          </a:solidFill>
                          <a:effectLst/>
                          <a:latin typeface="MULISH REGULAR ROMAN"/>
                        </a:rPr>
                        <a:t>18.20%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6"/>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7"/>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9"/>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0"/>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1"/>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274320">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5</a:t>
                      </a:r>
                    </a:p>
                  </a:txBody>
                  <a:tcPr marL="9525" marR="9525" marT="9525" marB="0" anchor="ctr"/>
                </a:tc>
                <a:tc>
                  <a:txBody>
                    <a:bodyPr/>
                    <a:lstStyle/>
                    <a:p>
                      <a:pPr algn="ctr" fontAlgn="ctr"/>
                      <a:r>
                        <a:rPr lang="en-US" sz="1100" b="0" i="0" u="none" strike="noStrike">
                          <a:solidFill>
                            <a:srgbClr val="000000"/>
                          </a:solidFill>
                          <a:effectLst/>
                          <a:latin typeface="MULISH REGULAR ROMAN"/>
                        </a:rPr>
                        <a:t>7.60%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33.30%</a:t>
                      </a:r>
                    </a:p>
                  </a:txBody>
                  <a:tcPr marL="9525" marR="9525" marT="9525" marB="0" anchor="ctr"/>
                </a:tc>
                <a:tc>
                  <a:txBody>
                    <a:bodyPr/>
                    <a:lstStyle/>
                    <a:p>
                      <a:pPr algn="ctr" fontAlgn="ctr"/>
                      <a:r>
                        <a:rPr lang="en-US" sz="1100" b="0" i="0" u="none" strike="noStrike">
                          <a:solidFill>
                            <a:srgbClr val="000000"/>
                          </a:solidFill>
                          <a:effectLst/>
                          <a:latin typeface="MULISH REGULAR ROMAN"/>
                        </a:rPr>
                        <a:t>66.70%</a:t>
                      </a:r>
                    </a:p>
                  </a:txBody>
                  <a:tcPr marL="9525" marR="9525" marT="9525" marB="0" anchor="ctr"/>
                </a:tc>
                <a:extLst>
                  <a:ext uri="{0D108BD9-81ED-4DB2-BD59-A6C34878D82A}">
                    <a16:rowId xmlns:a16="http://schemas.microsoft.com/office/drawing/2014/main" val="10013"/>
                  </a:ext>
                </a:extLst>
              </a:tr>
              <a:tr h="274320">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4"/>
                  </a:ext>
                </a:extLst>
              </a:tr>
              <a:tr h="274320">
                <a:tc>
                  <a:txBody>
                    <a:bodyPr/>
                    <a:lstStyle/>
                    <a:p>
                      <a:pPr marL="0" lvl="0" algn="ctr">
                        <a:spcBef>
                          <a:spcPts val="0"/>
                        </a:spcBef>
                        <a:spcAft>
                          <a:spcPts val="0"/>
                        </a:spcAft>
                        <a:buNone/>
                      </a:pPr>
                      <a:r>
                        <a:rPr lang="en-US" sz="1100" b="0" kern="1200" dirty="0">
                          <a:latin typeface="MULISH REGULAR ROMAN"/>
                        </a:rPr>
                        <a:t>Armed Forces</a:t>
                      </a:r>
                    </a:p>
                  </a:txBody>
                  <a:tcPr marL="0" marR="0" marT="0" marB="0" anchor="ctr"/>
                </a:tc>
                <a:tc>
                  <a:txBody>
                    <a:bodyPr/>
                    <a:lstStyle/>
                    <a:p>
                      <a:pPr marL="0" lvl="0" algn="ctr">
                        <a:spcBef>
                          <a:spcPts val="0"/>
                        </a:spcBef>
                        <a:spcAft>
                          <a:spcPts val="0"/>
                        </a:spcAft>
                        <a:buNone/>
                      </a:pPr>
                      <a:endParaRPr lang="en-US" sz="1100" kern="1200" dirty="0">
                        <a:latin typeface="MULISH REGULAR ROMAN"/>
                        <a:cs typeface="Century" panose="02040604050505020304" charset="0"/>
                      </a:endParaRPr>
                    </a:p>
                  </a:txBody>
                  <a:tcPr anchor="ctr"/>
                </a:tc>
                <a:tc>
                  <a:txBody>
                    <a:bodyPr/>
                    <a:lstStyle/>
                    <a:p>
                      <a:pPr marL="0" lvl="0" algn="ctr">
                        <a:spcBef>
                          <a:spcPts val="0"/>
                        </a:spcBef>
                        <a:spcAft>
                          <a:spcPts val="0"/>
                        </a:spcAft>
                        <a:buNone/>
                      </a:pPr>
                      <a:endParaRPr lang="en-US" sz="1100" dirty="0">
                        <a:latin typeface="MULISH REGULAR ROMAN"/>
                        <a:cs typeface="Century" panose="02040604050505020304" charset="0"/>
                      </a:endParaRPr>
                    </a:p>
                  </a:txBody>
                  <a:tcPr anchor="ctr"/>
                </a:tc>
                <a:tc>
                  <a:txBody>
                    <a:bodyPr/>
                    <a:lstStyle/>
                    <a:p>
                      <a:pPr marL="0" lvl="0" algn="ctr">
                        <a:spcBef>
                          <a:spcPts val="0"/>
                        </a:spcBef>
                        <a:spcAft>
                          <a:spcPts val="0"/>
                        </a:spcAft>
                        <a:buNone/>
                      </a:pPr>
                      <a:endParaRPr lang="en-US" sz="1100" dirty="0">
                        <a:effectLst/>
                        <a:latin typeface="MULISH REGULAR ROMAN"/>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a:cs typeface="Century" panose="02040604050505020304" charset="0"/>
                      </a:endParaRPr>
                    </a:p>
                  </a:txBody>
                  <a:tcPr marL="0" marR="0" marT="0" marB="0" anchor="ctr"/>
                </a:tc>
                <a:extLst>
                  <a:ext uri="{0D108BD9-81ED-4DB2-BD59-A6C34878D82A}">
                    <a16:rowId xmlns:a16="http://schemas.microsoft.com/office/drawing/2014/main" val="10015"/>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6"/>
                  </a:ext>
                </a:extLst>
              </a:tr>
              <a:tr h="274320">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7"/>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74320">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a:ln>
            <a:solidFill>
              <a:schemeClr val="tx1"/>
            </a:solidFill>
          </a:ln>
        </p:spPr>
        <p:txBody>
          <a:bodyPr wrap="square" rtlCol="0">
            <a:spAutoFit/>
          </a:bodyPr>
          <a:lstStyle/>
          <a:p>
            <a:r>
              <a:rPr lang="en-US" sz="1100" dirty="0">
                <a:latin typeface="MULISH BLACK ROMAN"/>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886965F-2646-E621-37BA-3FE15F51FAA6}"/>
              </a:ext>
            </a:extLst>
          </p:cNvPr>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7</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Tree>
    <p:extLst>
      <p:ext uri="{BB962C8B-B14F-4D97-AF65-F5344CB8AC3E}">
        <p14:creationId xmlns:p14="http://schemas.microsoft.com/office/powerpoint/2010/main" val="3385928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with lines and dots&#10;&#10;AI-generated content may be incorrect.">
            <a:extLst>
              <a:ext uri="{FF2B5EF4-FFF2-40B4-BE49-F238E27FC236}">
                <a16:creationId xmlns:a16="http://schemas.microsoft.com/office/drawing/2014/main" id="{E0CD3F0C-9BBC-8F23-9045-550FE381050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02295" y="808786"/>
            <a:ext cx="5452985" cy="3271791"/>
          </a:xfrm>
          <a:prstGeom prst="rect">
            <a:avLst/>
          </a:prstGeom>
        </p:spPr>
      </p:pic>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163531461"/>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Bourafa</a:t>
                      </a:r>
                      <a:endParaRPr lang="en-US" sz="1100" b="0" i="1"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Jackson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Valazquez</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Feliciano</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12/09/2024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24408275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104d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136d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102d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102d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96.3d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158d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105d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173d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86d</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Days by Term</a:t>
            </a:r>
          </a:p>
        </p:txBody>
      </p:sp>
    </p:spTree>
    <p:extLst>
      <p:ext uri="{BB962C8B-B14F-4D97-AF65-F5344CB8AC3E}">
        <p14:creationId xmlns:p14="http://schemas.microsoft.com/office/powerpoint/2010/main" val="60501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9</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10" name="Picture 9" descr="A graph of different colored bars&#10;&#10;AI-generated content may be incorrect.">
            <a:extLst>
              <a:ext uri="{FF2B5EF4-FFF2-40B4-BE49-F238E27FC236}">
                <a16:creationId xmlns:a16="http://schemas.microsoft.com/office/drawing/2014/main" id="{407B9E20-CC36-0C55-0365-97F82128192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74920" y="792955"/>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3461492712"/>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Alito</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Sotomayor</a:t>
                      </a: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Kagan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Gorsuch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Kavanaugh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Barrett</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Jackson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Waetzig</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Hungary</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Royal Canin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dirty="0" err="1">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dirty="0">
                          <a:solidFill>
                            <a:schemeClr val="tx1"/>
                          </a:solidFill>
                          <a:effectLst/>
                          <a:latin typeface="MULISH REGULAR ROMAN" pitchFamily="2" charset="77"/>
                        </a:rPr>
                        <a:t>Dissenting</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11</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11" name="Picture 10" descr="A chart with different colored squares&#10;&#10;AI-generated content may be incorrect.">
            <a:extLst>
              <a:ext uri="{FF2B5EF4-FFF2-40B4-BE49-F238E27FC236}">
                <a16:creationId xmlns:a16="http://schemas.microsoft.com/office/drawing/2014/main" id="{2C1E4675-C606-4C1D-5B62-4A1F5AAF88F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2375" y="800100"/>
            <a:ext cx="10515600" cy="5257800"/>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pic>
        <p:nvPicPr>
          <p:cNvPr id="3" name="Picture 2" descr="A graph of different types of numbers&#10;&#10;AI-generated content may be incorrect.">
            <a:extLst>
              <a:ext uri="{FF2B5EF4-FFF2-40B4-BE49-F238E27FC236}">
                <a16:creationId xmlns:a16="http://schemas.microsoft.com/office/drawing/2014/main" id="{4445419E-7590-6237-5E1A-E163EC8828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80075" y="143482"/>
            <a:ext cx="6270610" cy="3762366"/>
          </a:xfrm>
          <a:prstGeom prst="rect">
            <a:avLst/>
          </a:prstGeom>
        </p:spPr>
      </p:pic>
      <p:sp>
        <p:nvSpPr>
          <p:cNvPr id="4" name="Slide Number Placeholder 3">
            <a:extLst>
              <a:ext uri="{FF2B5EF4-FFF2-40B4-BE49-F238E27FC236}">
                <a16:creationId xmlns:a16="http://schemas.microsoft.com/office/drawing/2014/main" id="{8EA6C3B9-A2FC-D321-C691-CFFF5EA1F038}"/>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12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3,414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5,987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3,888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3,541</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3,380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3,814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2,400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3,415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3,328</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648974" y="1424501"/>
            <a:ext cx="1690777" cy="1200329"/>
          </a:xfrm>
          <a:prstGeom prst="rect">
            <a:avLst/>
          </a:prstGeom>
          <a:noFill/>
          <a:ln>
            <a:solidFill>
              <a:schemeClr val="tx1"/>
            </a:solidFill>
          </a:ln>
        </p:spPr>
        <p:txBody>
          <a:bodyPr wrap="square" rtlCol="0">
            <a:spAutoFit/>
          </a:bodyPr>
          <a:lstStyle/>
          <a:p>
            <a:r>
              <a:rPr lang="en-US" sz="1200" dirty="0">
                <a:latin typeface="MULISH REGULAR ROMAN"/>
              </a:rPr>
              <a:t>Figure shows the average length (in words) of opinions issued by the Court by type between the 2016 and 2024 terms. </a:t>
            </a:r>
          </a:p>
        </p:txBody>
      </p:sp>
    </p:spTree>
    <p:extLst>
      <p:ext uri="{BB962C8B-B14F-4D97-AF65-F5344CB8AC3E}">
        <p14:creationId xmlns:p14="http://schemas.microsoft.com/office/powerpoint/2010/main" val="578772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pic>
        <p:nvPicPr>
          <p:cNvPr id="12" name="Picture 11" descr="A brown and blue bar graph&#10;&#10;AI-generated content may be incorrect.">
            <a:extLst>
              <a:ext uri="{FF2B5EF4-FFF2-40B4-BE49-F238E27FC236}">
                <a16:creationId xmlns:a16="http://schemas.microsoft.com/office/drawing/2014/main" id="{0B7CB55B-B7C2-FDA0-DD82-80F63AA49DC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35893" y="822431"/>
            <a:ext cx="8688564" cy="5213138"/>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14</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pic>
        <p:nvPicPr>
          <p:cNvPr id="9" name="Picture 8" descr="A graph with a bar of brown and blue bars&#10;&#10;AI-generated content may be incorrect.">
            <a:extLst>
              <a:ext uri="{FF2B5EF4-FFF2-40B4-BE49-F238E27FC236}">
                <a16:creationId xmlns:a16="http://schemas.microsoft.com/office/drawing/2014/main" id="{F51318E8-F559-A4AD-FA5E-9D1035699B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4367" y="822430"/>
            <a:ext cx="8688566" cy="5213139"/>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15</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pic>
        <p:nvPicPr>
          <p:cNvPr id="15" name="Picture 14" descr="A graph with numbers and a bar&#10;&#10;AI-generated content may be incorrect.">
            <a:extLst>
              <a:ext uri="{FF2B5EF4-FFF2-40B4-BE49-F238E27FC236}">
                <a16:creationId xmlns:a16="http://schemas.microsoft.com/office/drawing/2014/main" id="{41EED993-2F94-7817-FBF8-7FB945406C3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4368" y="822431"/>
            <a:ext cx="8688564" cy="5213138"/>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4024486521"/>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kern="120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kern="120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16</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3372439660"/>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21504907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pic>
        <p:nvPicPr>
          <p:cNvPr id="27" name="Picture 26" descr="A diagram of a pie chart&#10;&#10;AI-generated content may be incorrect.">
            <a:extLst>
              <a:ext uri="{FF2B5EF4-FFF2-40B4-BE49-F238E27FC236}">
                <a16:creationId xmlns:a16="http://schemas.microsoft.com/office/drawing/2014/main" id="{BCD322BE-FA2C-71CE-A5FF-046F5BBB3C2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9" name="Picture 8" descr="A diagram of a pie chart&#10;&#10;AI-generated content may be incorrect.">
            <a:extLst>
              <a:ext uri="{FF2B5EF4-FFF2-40B4-BE49-F238E27FC236}">
                <a16:creationId xmlns:a16="http://schemas.microsoft.com/office/drawing/2014/main" id="{625CC5D8-FE62-097A-6B78-448A284788A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4701396" y="313035"/>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pic>
        <p:nvPicPr>
          <p:cNvPr id="7" name="Picture 6" descr="A graph with numbers and lines&#10;&#10;AI-generated content may be incorrect.">
            <a:extLst>
              <a:ext uri="{FF2B5EF4-FFF2-40B4-BE49-F238E27FC236}">
                <a16:creationId xmlns:a16="http://schemas.microsoft.com/office/drawing/2014/main" id="{D3DE9CA5-7AAD-B5F9-A955-55249E99BA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6301"/>
            <a:ext cx="9144019" cy="5486411"/>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DFB6-033C-601C-8092-86C0EC3E494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220D9B9-5C26-E1AA-628F-A03A8933F26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E0211174-1643-401A-449B-28F6F61980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6" name="TextBox 5">
            <a:extLst>
              <a:ext uri="{FF2B5EF4-FFF2-40B4-BE49-F238E27FC236}">
                <a16:creationId xmlns:a16="http://schemas.microsoft.com/office/drawing/2014/main" id="{6EB03E43-76B9-077C-F614-FAAF678AF050}"/>
              </a:ext>
            </a:extLst>
          </p:cNvPr>
          <p:cNvSpPr txBox="1"/>
          <p:nvPr/>
        </p:nvSpPr>
        <p:spPr>
          <a:xfrm>
            <a:off x="4701396" y="198408"/>
            <a:ext cx="5874589" cy="646331"/>
          </a:xfrm>
          <a:prstGeom prst="rect">
            <a:avLst/>
          </a:prstGeom>
          <a:noFill/>
          <a:ln>
            <a:solidFill>
              <a:schemeClr val="tx1"/>
            </a:solidFill>
          </a:ln>
        </p:spPr>
        <p:txBody>
          <a:bodyPr wrap="square" rtlCol="0">
            <a:spAutoFit/>
          </a:bodyPr>
          <a:lstStyle/>
          <a:p>
            <a:r>
              <a:rPr lang="en-US" sz="1200" dirty="0"/>
              <a:t>This figure shows the percentage of unanimous Supreme Court decisions from OT05-OT24. The size of the bars indicate how </a:t>
            </a:r>
            <a:r>
              <a:rPr lang="en-US" sz="1200" i="1" dirty="0"/>
              <a:t>surprising</a:t>
            </a:r>
            <a:r>
              <a:rPr lang="en-US" sz="1200" dirty="0"/>
              <a:t> or </a:t>
            </a:r>
            <a:r>
              <a:rPr lang="en-US" sz="1200" i="1" dirty="0"/>
              <a:t>typical</a:t>
            </a:r>
            <a:r>
              <a:rPr lang="en-US" sz="1200" dirty="0"/>
              <a:t> each year's unanimity was – such that higher (lower) indicates greater (lesser) unanimity than expected given the caseload. </a:t>
            </a:r>
            <a:endParaRPr lang="en-US" sz="1200" dirty="0">
              <a:latin typeface="MULISH REGULAR ROMAN"/>
            </a:endParaRPr>
          </a:p>
        </p:txBody>
      </p:sp>
      <p:pic>
        <p:nvPicPr>
          <p:cNvPr id="10" name="Picture 9" descr="A graph with a line graph&#10;&#10;AI-generated content may be incorrect.">
            <a:extLst>
              <a:ext uri="{FF2B5EF4-FFF2-40B4-BE49-F238E27FC236}">
                <a16:creationId xmlns:a16="http://schemas.microsoft.com/office/drawing/2014/main" id="{614DDC44-91A8-853B-835A-E987932ADFE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031674"/>
            <a:ext cx="9144019" cy="5486411"/>
          </a:xfrm>
          <a:prstGeom prst="rect">
            <a:avLst/>
          </a:prstGeom>
        </p:spPr>
      </p:pic>
    </p:spTree>
    <p:extLst>
      <p:ext uri="{BB962C8B-B14F-4D97-AF65-F5344CB8AC3E}">
        <p14:creationId xmlns:p14="http://schemas.microsoft.com/office/powerpoint/2010/main" val="1644993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pic>
        <p:nvPicPr>
          <p:cNvPr id="10" name="Picture 9" descr="A graph of different colored lines&#10;&#10;AI-generated content may be incorrect.">
            <a:extLst>
              <a:ext uri="{FF2B5EF4-FFF2-40B4-BE49-F238E27FC236}">
                <a16:creationId xmlns:a16="http://schemas.microsoft.com/office/drawing/2014/main" id="{0C15BC23-64CE-E954-A569-D5AFA3B882A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61625" y="1060166"/>
            <a:ext cx="8684855" cy="5789903"/>
          </a:xfrm>
          <a:prstGeom prst="rect">
            <a:avLst/>
          </a:prstGeom>
        </p:spPr>
      </p:pic>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21</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422360" y="128592"/>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spTree>
    <p:extLst>
      <p:ext uri="{BB962C8B-B14F-4D97-AF65-F5344CB8AC3E}">
        <p14:creationId xmlns:p14="http://schemas.microsoft.com/office/powerpoint/2010/main" val="4025921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4110889251"/>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DOE v. CA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Roberts, Alito, Sotomayor, Kagan, Kavanaugh, Barrett, Jackson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Andrew</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22</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3299391135"/>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6</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22%</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35.3</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23</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D44D38DE-EF84-FFB1-D9C0-1DA8AA60C9FD}"/>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32" name="Picture 31" descr="A group of people in suits&#10;&#10;AI-generated content may be incorrect.">
            <a:extLst>
              <a:ext uri="{FF2B5EF4-FFF2-40B4-BE49-F238E27FC236}">
                <a16:creationId xmlns:a16="http://schemas.microsoft.com/office/drawing/2014/main" id="{570932A4-868B-543B-AEB1-760A221049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5012" y="940903"/>
            <a:ext cx="7075370" cy="5896142"/>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24</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18" name="Picture 17" descr="A group of people in suits&#10;&#10;AI-generated content may be incorrect.">
            <a:extLst>
              <a:ext uri="{FF2B5EF4-FFF2-40B4-BE49-F238E27FC236}">
                <a16:creationId xmlns:a16="http://schemas.microsoft.com/office/drawing/2014/main" id="{95D0DF2C-7BEA-3290-93FC-1C04C74869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3172" y="866274"/>
            <a:ext cx="7190070" cy="599172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25</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45454191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2901576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0198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18319</TotalTime>
  <Words>4297</Words>
  <Application>Microsoft Office PowerPoint</Application>
  <PresentationFormat>Widescreen</PresentationFormat>
  <Paragraphs>1102</Paragraphs>
  <Slides>28</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MAY 14,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233</cp:revision>
  <cp:lastPrinted>2019-06-28T21:02:00Z</cp:lastPrinted>
  <dcterms:created xsi:type="dcterms:W3CDTF">2019-02-07T19:44:00Z</dcterms:created>
  <dcterms:modified xsi:type="dcterms:W3CDTF">2025-05-14T20:57:20Z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