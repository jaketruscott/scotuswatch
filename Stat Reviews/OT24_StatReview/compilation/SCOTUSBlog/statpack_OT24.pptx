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414" r:id="rId23"/>
    <p:sldId id="343" r:id="rId24"/>
    <p:sldId id="412" r:id="rId25"/>
    <p:sldId id="398" r:id="rId26"/>
    <p:sldId id="399" r:id="rId27"/>
    <p:sldId id="400" r:id="rId28"/>
    <p:sldId id="401"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414"/>
            <p14:sldId id="343"/>
            <p14:sldId id="412"/>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B9BD5"/>
    <a:srgbClr val="4E478A"/>
    <a:srgbClr val="0F9147"/>
    <a:srgbClr val="FDD532"/>
    <a:srgbClr val="4F4789"/>
    <a:srgbClr val="0469A9"/>
    <a:srgbClr val="4FEDED"/>
    <a:srgbClr val="A90404"/>
    <a:srgbClr val="D2DEE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561"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6/12/2025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12,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pic>
        <p:nvPicPr>
          <p:cNvPr id="4" name="Picture 3" descr="A graph of different colored squares&#10;&#10;AI-generated content may be incorrect.">
            <a:extLst>
              <a:ext uri="{FF2B5EF4-FFF2-40B4-BE49-F238E27FC236}">
                <a16:creationId xmlns:a16="http://schemas.microsoft.com/office/drawing/2014/main" id="{4E7899A7-68A0-D670-4BDA-6AA911DE479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6" y="896353"/>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2083649185"/>
              </p:ext>
            </p:extLst>
          </p:nvPr>
        </p:nvGraphicFramePr>
        <p:xfrm>
          <a:off x="320850" y="796386"/>
          <a:ext cx="11550300" cy="5473153"/>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Bankruptcy clawback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4" name="Picture 3" descr="A graph with numbers and lines&#10;&#10;AI-generated content may be incorrect.">
            <a:extLst>
              <a:ext uri="{FF2B5EF4-FFF2-40B4-BE49-F238E27FC236}">
                <a16:creationId xmlns:a16="http://schemas.microsoft.com/office/drawing/2014/main" id="{75AB4753-3B98-0ECB-6F21-CC3FD4ABF1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pic>
        <p:nvPicPr>
          <p:cNvPr id="4" name="Picture 3" descr="A group of people in a row&#10;&#10;AI-generated content may be incorrect.">
            <a:extLst>
              <a:ext uri="{FF2B5EF4-FFF2-40B4-BE49-F238E27FC236}">
                <a16:creationId xmlns:a16="http://schemas.microsoft.com/office/drawing/2014/main" id="{8452CD62-53AA-3827-9333-8971A1CEBBB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standing in front of a graph&#10;&#10;AI-generated content may be incorrect.">
            <a:extLst>
              <a:ext uri="{FF2B5EF4-FFF2-40B4-BE49-F238E27FC236}">
                <a16:creationId xmlns:a16="http://schemas.microsoft.com/office/drawing/2014/main" id="{18BC4ED0-7C0E-7361-1199-0DB2271EC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59611"/>
            <a:ext cx="8705777" cy="5223466"/>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standing in front of a graph&#10;&#10;AI-generated content may be incorrect.">
            <a:extLst>
              <a:ext uri="{FF2B5EF4-FFF2-40B4-BE49-F238E27FC236}">
                <a16:creationId xmlns:a16="http://schemas.microsoft.com/office/drawing/2014/main" id="{8812488D-CE41-558E-A162-27AF9946EEB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noGrp="1" noRot="1" noMove="1" noResize="1" noEditPoints="1" noAdjustHandles="1" noChangeArrowheads="1" noChangeShapeType="1"/>
          </p:cNvSpPr>
          <p:nvPr/>
        </p:nvSpPr>
        <p:spPr>
          <a:xfrm>
            <a:off x="1006639" y="1200410"/>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Justices in non-unanimous cases during the 2020-2024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majority coalition consisting of all the Justices appointed by a . Alternatively, the </a:t>
            </a:r>
            <a:r>
              <a:rPr lang="en-US" sz="1200" b="1" dirty="0">
                <a:highlight>
                  <a:srgbClr val="C0C0C0"/>
                </a:highlight>
              </a:rPr>
              <a:t>LIGHT GREY</a:t>
            </a:r>
            <a:r>
              <a:rPr lang="en-US" sz="1200" dirty="0"/>
              <a:t> bars indicate the percentage of cases where the Justice was the lone dissenter from a majority consisting of the remaining Republican appointees. </a:t>
            </a:r>
            <a:r>
              <a:rPr lang="en-US" sz="1200" dirty="0">
                <a:highlight>
                  <a:srgbClr val="FFFF00"/>
                </a:highlight>
              </a:rPr>
              <a:t>UPDATE EXPLANATION</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5" name="Picture 4" descr="A group of people in suits&#10;&#10;AI-generated content may be incorrect.">
            <a:extLst>
              <a:ext uri="{FF2B5EF4-FFF2-40B4-BE49-F238E27FC236}">
                <a16:creationId xmlns:a16="http://schemas.microsoft.com/office/drawing/2014/main" id="{061C2146-2338-1CB3-E084-B3DB5066F7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200410"/>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FCF33C47-B987-063E-4EBE-971D06638F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4" name="Picture 3" descr="A group of people in a graph&#10;&#10;AI-generated content may be incorrect.">
            <a:extLst>
              <a:ext uri="{FF2B5EF4-FFF2-40B4-BE49-F238E27FC236}">
                <a16:creationId xmlns:a16="http://schemas.microsoft.com/office/drawing/2014/main" id="{C364B88F-FBA3-1EB4-F741-1F1CCBB569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796267052"/>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8.2</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1871385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565891121"/>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OT05-OT24</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11" name="Picture 10" descr="A diagram of a pie chart&#10;&#10;AI-generated content may be incorrect.">
            <a:extLst>
              <a:ext uri="{FF2B5EF4-FFF2-40B4-BE49-F238E27FC236}">
                <a16:creationId xmlns:a16="http://schemas.microsoft.com/office/drawing/2014/main" id="{E5C7F085-0C41-F458-27E9-B80D994437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8" name="Picture 7" descr="A diagram of a pie chart&#10;&#10;AI-generated content may be incorrect.">
            <a:extLst>
              <a:ext uri="{FF2B5EF4-FFF2-40B4-BE49-F238E27FC236}">
                <a16:creationId xmlns:a16="http://schemas.microsoft.com/office/drawing/2014/main" id="{FF962F73-0E2C-09A7-9FD9-564FB51581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Several different types of graphs&#10;&#10;AI-generated content may be incorrect.">
            <a:extLst>
              <a:ext uri="{FF2B5EF4-FFF2-40B4-BE49-F238E27FC236}">
                <a16:creationId xmlns:a16="http://schemas.microsoft.com/office/drawing/2014/main" id="{EBDF3045-E175-1FDF-407B-9D7EEF8D89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8096"/>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2693726279"/>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3</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Miller, Parish, Zuch</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Sotomayor, Kagan, Gorsuch, Kavanaugh, Barrett, Jackson</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143528756"/>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15%</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34.8</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85823481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4718649" y="128140"/>
            <a:ext cx="6762151" cy="707886"/>
          </a:xfrm>
          <a:prstGeom prst="rect">
            <a:avLst/>
          </a:prstGeom>
          <a:noFill/>
          <a:ln>
            <a:solidFill>
              <a:schemeClr val="tx1"/>
            </a:solidFill>
          </a:ln>
        </p:spPr>
        <p:txBody>
          <a:bodyPr wrap="square" rtlCol="0">
            <a:spAutoFit/>
          </a:bodyPr>
          <a:lstStyle/>
          <a:p>
            <a:r>
              <a:rPr lang="en-US" sz="1000" dirty="0">
                <a:latin typeface="MULISH BLACK ROMAN"/>
                <a:cs typeface="Calibri" panose="020F0502020204030204"/>
              </a:rPr>
              <a:t>For the Circuit Scorecard, we treat consolidated cases emerging from different courts below as separate entries. For example, a consolidated case emerging from conflicting decisions in the Fifth and Ninth U.S. Circuit Courts of Appeal are coded as two independent entries. Alternatively, consolidated cases emerging from the same court below (e.g., both emerging from the Fifth Circuit)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2745200703"/>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Seven County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Kouisisis</a:t>
                      </a:r>
                      <a:endParaRPr lang="en-US" sz="1100" b="0" i="1" u="none" strike="noStrike" dirty="0">
                        <a:solidFill>
                          <a:srgbClr val="000000"/>
                        </a:solidFill>
                        <a:effectLst/>
                        <a:latin typeface="MULISH BLACK ROMAN"/>
                      </a:endParaRP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165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12/09/2024</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05/22/2025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4" name="Picture 3" descr="A graph with numbers and lines&#10;&#10;AI-generated content may be incorrect.">
            <a:extLst>
              <a:ext uri="{FF2B5EF4-FFF2-40B4-BE49-F238E27FC236}">
                <a16:creationId xmlns:a16="http://schemas.microsoft.com/office/drawing/2014/main" id="{BEBDCA83-24F7-2198-D78F-6C496C7B38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20498" y="786952"/>
            <a:ext cx="5228402" cy="3137041"/>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2450848293"/>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295058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446128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10" name="Picture 9" descr="A graph with different colored squares&#10;&#10;AI-generated content may be incorrect.">
            <a:extLst>
              <a:ext uri="{FF2B5EF4-FFF2-40B4-BE49-F238E27FC236}">
                <a16:creationId xmlns:a16="http://schemas.microsoft.com/office/drawing/2014/main" id="{DA93CC98-8F95-F65C-9FAA-ED05E32AEE3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p:cNvSpPr>
          <p:nvPr/>
        </p:nvSpPr>
        <p:spPr>
          <a:xfrm>
            <a:off x="5384800" y="230909"/>
            <a:ext cx="6046595" cy="3540280"/>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3166730038"/>
              </p:ext>
            </p:extLst>
          </p:nvPr>
        </p:nvGraphicFramePr>
        <p:xfrm>
          <a:off x="288396" y="3902035"/>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811271778"/>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3595.67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4761.71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3907.4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3194.43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3476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3584.45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2441.4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3677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2844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24</a:t>
            </a:fld>
            <a:endParaRPr lang="en-US"/>
          </a:p>
        </p:txBody>
      </p:sp>
      <p:pic>
        <p:nvPicPr>
          <p:cNvPr id="4" name="Picture 3" descr="A graph of different types of graphs&#10;&#10;AI-generated content may be incorrect.">
            <a:extLst>
              <a:ext uri="{FF2B5EF4-FFF2-40B4-BE49-F238E27FC236}">
                <a16:creationId xmlns:a16="http://schemas.microsoft.com/office/drawing/2014/main" id="{0EEEFCC6-AC6A-FC30-3E99-612189B79F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4" y="212760"/>
            <a:ext cx="6046595" cy="3580224"/>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5250619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23105691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370140817"/>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855656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4009667581"/>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26449</TotalTime>
  <Words>4118</Words>
  <Application>Microsoft Office PowerPoint</Application>
  <PresentationFormat>Widescreen</PresentationFormat>
  <Paragraphs>1555</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12,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311</cp:revision>
  <cp:lastPrinted>2019-06-28T21:02:00Z</cp:lastPrinted>
  <dcterms:created xsi:type="dcterms:W3CDTF">2019-02-07T19:44:00Z</dcterms:created>
  <dcterms:modified xsi:type="dcterms:W3CDTF">2025-06-12T19:35:29Z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