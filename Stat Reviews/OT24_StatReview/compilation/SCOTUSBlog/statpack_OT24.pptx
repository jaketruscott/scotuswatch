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3.xml" ContentType="application/vnd.openxmlformats-officedocument.presentationml.comments+xml"/>
  <Override PartName="/ppt/notesSlides/notesSlide10.xml" ContentType="application/vnd.openxmlformats-officedocument.presentationml.notesSlide+xml"/>
  <Override PartName="/ppt/comments/comment4.xml" ContentType="application/vnd.openxmlformats-officedocument.presentationml.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sldIdLst>
    <p:sldId id="392" r:id="rId2"/>
    <p:sldId id="269" r:id="rId3"/>
    <p:sldId id="393" r:id="rId4"/>
    <p:sldId id="402" r:id="rId5"/>
    <p:sldId id="381" r:id="rId6"/>
    <p:sldId id="345" r:id="rId7"/>
    <p:sldId id="390" r:id="rId8"/>
    <p:sldId id="391" r:id="rId9"/>
    <p:sldId id="299" r:id="rId10"/>
    <p:sldId id="343" r:id="rId11"/>
    <p:sldId id="395" r:id="rId12"/>
    <p:sldId id="407" r:id="rId13"/>
    <p:sldId id="396" r:id="rId14"/>
    <p:sldId id="383" r:id="rId15"/>
    <p:sldId id="340" r:id="rId16"/>
    <p:sldId id="406" r:id="rId17"/>
    <p:sldId id="404" r:id="rId18"/>
    <p:sldId id="405" r:id="rId19"/>
    <p:sldId id="410" r:id="rId20"/>
    <p:sldId id="409" r:id="rId21"/>
    <p:sldId id="350" r:id="rId22"/>
    <p:sldId id="324" r:id="rId23"/>
    <p:sldId id="403" r:id="rId24"/>
    <p:sldId id="398" r:id="rId25"/>
    <p:sldId id="399" r:id="rId26"/>
    <p:sldId id="400" r:id="rId27"/>
    <p:sldId id="401" r:id="rId28"/>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390"/>
            <p14:sldId id="391"/>
            <p14:sldId id="299"/>
            <p14:sldId id="343"/>
            <p14:sldId id="395"/>
            <p14:sldId id="407"/>
            <p14:sldId id="396"/>
            <p14:sldId id="383"/>
            <p14:sldId id="340"/>
            <p14:sldId id="406"/>
            <p14:sldId id="404"/>
            <p14:sldId id="405"/>
            <p14:sldId id="410"/>
            <p14:sldId id="409"/>
            <p14:sldId id="350"/>
            <p14:sldId id="324"/>
            <p14:sldId id="403"/>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3"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0F9147"/>
    <a:srgbClr val="FDD532"/>
    <a:srgbClr val="4F4789"/>
    <a:srgbClr val="0469A9"/>
    <a:srgbClr val="4FEDED"/>
    <a:srgbClr val="A90404"/>
    <a:srgbClr val="5B9BD5"/>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11" d="100"/>
          <a:sy n="111" d="100"/>
        </p:scale>
        <p:origin x="558" y="96"/>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commentAuthors" Target="commentAuthors.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3" dt="2021-06-22T17:13:40.226" idx="87">
    <p:pos x="10" y="10"/>
    <p:text>Days: Column AM
Author: Column AO
Vote: Column BH
Date argued: Column T
Date decided: Column AH</p:text>
    <p:extLst>
      <p:ext uri="{C676402C-5697-4E1C-873F-D02D1690AC5C}">
        <p15:threadingInfo xmlns:p15="http://schemas.microsoft.com/office/powerpoint/2012/main" timeZoneBias="24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3" dt="2021-06-22T17:13:40.226" idx="93">
    <p:pos x="10" y="10"/>
    <p:text>Days: Column AM
Author: Column AO
Vote: Column BH
Date argued: Column T
Date decided: Column AH</p:text>
    <p:extLst>
      <p:ext uri="{C676402C-5697-4E1C-873F-D02D1690AC5C}">
        <p15:threadingInfo xmlns:p15="http://schemas.microsoft.com/office/powerpoint/2012/main" timeZoneBias="24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3" dt="2021-06-22T17:25:40.094" idx="91">
    <p:pos x="10" y="10"/>
    <p:text>Put in order of "R" number, column AG - it's more or less date decided but w/a technicality.
Case name: column D
Decided: column AH
Vote: column BH
Author: column AO
Majority: For 9-0/8-0/8-1/7-1 cases, use vote (column AH) and if needed a quick glance at who wrote the dissenting opinion (column AT). For all other cases, use columns CA-CI.
If a justice is recused, you'll notice it by a blank cell in columns CA-CI.</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12</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comments" Target="../comments/comment4.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__,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12,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2794905230"/>
              </p:ext>
            </p:extLst>
          </p:nvPr>
        </p:nvGraphicFramePr>
        <p:xfrm>
          <a:off x="347690" y="1106041"/>
          <a:ext cx="11431022" cy="54218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_______________________________________________________________________________________________________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________________________________________________________________________________________________________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____________________________________________________________________________________ </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Frequency in the majority 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363128489"/>
                  </a:ext>
                </a:extLst>
              </a:tr>
              <a:tr h="338866">
                <a:tc>
                  <a:txBody>
                    <a:bodyPr/>
                    <a:lstStyle/>
                    <a:p>
                      <a:r>
                        <a:rPr lang="en-US" sz="1400" dirty="0">
                          <a:latin typeface="MULISH REGULAR ROMAN" pitchFamily="2" charset="77"/>
                        </a:rPr>
                        <a:t>Strength of the majority  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Recusals  __________________________________________________________________________________________________________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027874517"/>
                  </a:ext>
                </a:extLst>
              </a:tr>
              <a:tr h="338866">
                <a:tc>
                  <a:txBody>
                    <a:bodyPr/>
                    <a:lstStyle/>
                    <a:p>
                      <a:r>
                        <a:rPr lang="en-US" sz="1400" dirty="0">
                          <a:latin typeface="MULISH REGULAR ROMAN" pitchFamily="2" charset="77"/>
                        </a:rPr>
                        <a:t>Merits cases by vote split 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Unanimous cases 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13502349"/>
                  </a:ext>
                </a:extLst>
              </a:tr>
              <a:tr h="338866">
                <a:tc>
                  <a:txBody>
                    <a:bodyPr/>
                    <a:lstStyle/>
                    <a:p>
                      <a:r>
                        <a:rPr lang="en-US" sz="1400" dirty="0">
                          <a:latin typeface="MULISH REGULAR ROMAN" pitchFamily="2" charset="77"/>
                        </a:rPr>
                        <a:t>Closely divided cases  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075258031"/>
                  </a:ext>
                </a:extLst>
              </a:tr>
              <a:tr h="338866">
                <a:tc>
                  <a:txBody>
                    <a:bodyPr/>
                    <a:lstStyle/>
                    <a:p>
                      <a:r>
                        <a:rPr lang="en-US" sz="1400" dirty="0">
                          <a:latin typeface="MULISH REGULAR ROMAN" pitchFamily="2" charset="77"/>
                        </a:rPr>
                        <a:t>Justice agreement  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Oral argument  _____________________________________________________________________________________________________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2003988982"/>
                  </a:ext>
                </a:extLst>
              </a:tr>
              <a:tr h="338866">
                <a:tc>
                  <a:txBody>
                    <a:bodyPr/>
                    <a:lstStyle/>
                    <a:p>
                      <a:r>
                        <a:rPr lang="en-US" sz="1400" dirty="0">
                          <a:latin typeface="MULISH REGULAR ROMAN" pitchFamily="2" charset="77"/>
                        </a:rPr>
                        <a:t>Voting alignment ___________________________________________________________________________________________________</a:t>
                      </a:r>
                    </a:p>
                  </a:txBody>
                  <a:tcPr marT="0" marB="0"/>
                </a:tc>
                <a:tc>
                  <a:txBody>
                    <a:bodyPr/>
                    <a:lstStyle/>
                    <a:p>
                      <a:pPr algn="r"/>
                      <a:r>
                        <a:rPr lang="en-US" sz="1400" dirty="0">
                          <a:latin typeface="MULISH REGULAR ROMAN" pitchFamily="2" charset="77"/>
                        </a:rPr>
                        <a:t>#</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007014042"/>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7">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4">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a:effectLst/>
                          <a:latin typeface="MULISH REGULAR ROMAN"/>
                        </a:rPr>
                        <a:t>Kagan</a:t>
                      </a:r>
                      <a:endParaRPr lang="en-US" sz="900" i="1"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BLACK ROMAN"/>
                        </a:rPr>
                        <a:t>Alito</a:t>
                      </a:r>
                      <a:endParaRPr lang="en-US" sz="900" i="1"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BLACK ROMAN"/>
                        </a:rPr>
                        <a:t>Jackson</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Kavanaugh</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Sotomayor</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PC</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Gorsuch</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Thomas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a:rPr>
                        <a:t>PC</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4265941375"/>
              </p:ext>
            </p:extLst>
          </p:nvPr>
        </p:nvGraphicFramePr>
        <p:xfrm>
          <a:off x="344808" y="918414"/>
          <a:ext cx="11135992" cy="5212080"/>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74320">
                <a:tc>
                  <a:txBody>
                    <a:bodyPr/>
                    <a:lstStyle/>
                    <a:p>
                      <a:pPr marL="0" algn="ctr" rtl="0" eaLnBrk="1" fontAlgn="auto" latinLnBrk="0" hangingPunct="1">
                        <a:spcBef>
                          <a:spcPts val="0"/>
                        </a:spcBef>
                        <a:spcAft>
                          <a:spcPts val="0"/>
                        </a:spcAft>
                      </a:pPr>
                      <a:r>
                        <a:rPr lang="en-US" sz="1100" b="1" kern="1200" dirty="0">
                          <a:latin typeface="MULISH REGULAR ROMAN" pitchFamily="2" charset="77"/>
                        </a:rPr>
                        <a:t>​Court below</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pitchFamily="2" charset="77"/>
                        </a:rPr>
                        <a:t># of Cases</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pitchFamily="2" charset="77"/>
                        </a:rPr>
                        <a:t>% of Cases</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pitchFamily="2" charset="77"/>
                        </a:rPr>
                        <a:t># Decided​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pitchFamily="2" charset="77"/>
                        </a:rPr>
                        <a:t># Affirmed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pitchFamily="2" charset="77"/>
                        </a:rPr>
                        <a:t># Reversed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pitchFamily="2" charset="77"/>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pitchFamily="2" charset="77"/>
                        </a:rPr>
                        <a:t>% Reversed</a:t>
                      </a:r>
                      <a:endParaRPr lang="en-US" sz="1100" b="1" dirty="0">
                        <a:effectLst/>
                        <a:latin typeface="MULISH REGULAR ROMAN" pitchFamily="2" charset="77"/>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1st Cir.​</a:t>
                      </a:r>
                      <a:endParaRPr lang="en-US" sz="1100" b="0" dirty="0">
                        <a:effectLst/>
                        <a:latin typeface="MULISH REGULAR ROMAN" pitchFamily="2" charset="77"/>
                      </a:endParaRPr>
                    </a:p>
                  </a:txBody>
                  <a:tcPr marL="0" marR="0" marT="0" marB="0" anchor="ctr">
                    <a:lnT w="12700" cmpd="sng">
                      <a:noFill/>
                    </a:lnT>
                  </a:tcP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a:t>
                      </a:r>
                    </a:p>
                  </a:txBody>
                  <a:tcPr anchor="ctr">
                    <a:lnT w="12700" cmpd="sng">
                      <a:noFill/>
                    </a:lnT>
                  </a:tcP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1.5%</a:t>
                      </a:r>
                    </a:p>
                  </a:txBody>
                  <a:tcPr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lnT w="12700" cmpd="sng">
                      <a:noFill/>
                    </a:lnT>
                  </a:tcP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lnT w="12700" cmpd="sng">
                      <a:noFill/>
                    </a:lnT>
                  </a:tcPr>
                </a:tc>
                <a:extLst>
                  <a:ext uri="{0D108BD9-81ED-4DB2-BD59-A6C34878D82A}">
                    <a16:rowId xmlns:a16="http://schemas.microsoft.com/office/drawing/2014/main" val="10002"/>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2nd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6</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9.1%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4</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3"/>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3rd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3%</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4"/>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4th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8</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12.1%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5"/>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5th</a:t>
                      </a:r>
                      <a:r>
                        <a:rPr lang="en-US" sz="1100" b="0" kern="1200" baseline="30000" dirty="0">
                          <a:effectLst/>
                          <a:latin typeface="MULISH REGULAR ROMAN" pitchFamily="2" charset="77"/>
                        </a:rPr>
                        <a:t> </a:t>
                      </a:r>
                      <a:r>
                        <a:rPr lang="en-US" sz="1100" b="0" kern="1200" dirty="0">
                          <a:effectLst/>
                          <a:latin typeface="MULISH REGULAR ROMAN" pitchFamily="2" charset="77"/>
                        </a:rPr>
                        <a:t>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12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18.2%</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6"/>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6th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7"/>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7th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0.03%</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8"/>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8th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2</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3%</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09"/>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9th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6</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9.1%</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0"/>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10th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3</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1"/>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pitchFamily="2" charset="77"/>
                        </a:rPr>
                        <a:t>11th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base"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2"/>
                  </a:ext>
                </a:extLst>
              </a:tr>
              <a:tr h="274320">
                <a:tc>
                  <a:txBody>
                    <a:bodyPr/>
                    <a:lstStyle/>
                    <a:p>
                      <a:pPr marL="0" algn="ctr" rtl="0">
                        <a:spcBef>
                          <a:spcPts val="0"/>
                        </a:spcBef>
                        <a:spcAft>
                          <a:spcPts val="0"/>
                        </a:spcAft>
                      </a:pPr>
                      <a:r>
                        <a:rPr lang="en-US" sz="1100" b="0" kern="1200" dirty="0">
                          <a:effectLst/>
                          <a:latin typeface="MULISH REGULAR ROMAN" pitchFamily="2" charset="77"/>
                        </a:rPr>
                        <a:t>D.C.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5</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7.6%</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50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3"/>
                  </a:ext>
                </a:extLst>
              </a:tr>
              <a:tr h="274320">
                <a:tc>
                  <a:txBody>
                    <a:bodyPr/>
                    <a:lstStyle/>
                    <a:p>
                      <a:pPr marL="0" algn="ctr" rtl="0">
                        <a:spcBef>
                          <a:spcPts val="0"/>
                        </a:spcBef>
                        <a:spcAft>
                          <a:spcPts val="0"/>
                        </a:spcAft>
                      </a:pPr>
                      <a:r>
                        <a:rPr lang="en-US" sz="1100" b="0" kern="1200" dirty="0">
                          <a:latin typeface="MULISH REGULAR ROMAN" pitchFamily="2" charset="77"/>
                        </a:rPr>
                        <a:t>Fed. Cir.​</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3</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4.5%</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4"/>
                  </a:ext>
                </a:extLst>
              </a:tr>
              <a:tr h="274320">
                <a:tc>
                  <a:txBody>
                    <a:bodyPr/>
                    <a:lstStyle/>
                    <a:p>
                      <a:pPr marL="0" lvl="0" algn="ctr">
                        <a:spcBef>
                          <a:spcPts val="0"/>
                        </a:spcBef>
                        <a:spcAft>
                          <a:spcPts val="0"/>
                        </a:spcAft>
                        <a:buNone/>
                      </a:pPr>
                      <a:r>
                        <a:rPr lang="en-US" sz="1100" b="0" kern="1200" dirty="0">
                          <a:latin typeface="MULISH REGULAR ROMAN" pitchFamily="2" charset="77"/>
                        </a:rPr>
                        <a:t>Armed Forces</a:t>
                      </a:r>
                    </a:p>
                  </a:txBody>
                  <a:tcPr marL="0" marR="0" marT="0" marB="0" anchor="ctr"/>
                </a:tc>
                <a:tc>
                  <a:txBody>
                    <a:bodyPr/>
                    <a:lstStyle/>
                    <a:p>
                      <a:pPr marL="0" lvl="0" algn="ctr">
                        <a:spcBef>
                          <a:spcPts val="0"/>
                        </a:spcBef>
                        <a:spcAft>
                          <a:spcPts val="0"/>
                        </a:spcAft>
                        <a:buNone/>
                      </a:pPr>
                      <a:endParaRPr lang="en-US" sz="1100" kern="1200" dirty="0">
                        <a:latin typeface="MULISH REGULAR ROMAN" pitchFamily="2" charset="77"/>
                        <a:cs typeface="Century" panose="02040604050505020304" charset="0"/>
                      </a:endParaRPr>
                    </a:p>
                  </a:txBody>
                  <a:tcPr anchor="ctr"/>
                </a:tc>
                <a:tc>
                  <a:txBody>
                    <a:bodyPr/>
                    <a:lstStyle/>
                    <a:p>
                      <a:pPr marL="0" lvl="0" algn="ctr">
                        <a:spcBef>
                          <a:spcPts val="0"/>
                        </a:spcBef>
                        <a:spcAft>
                          <a:spcPts val="0"/>
                        </a:spcAft>
                        <a:buNone/>
                      </a:pPr>
                      <a:endParaRPr lang="en-US" sz="1100" dirty="0">
                        <a:latin typeface="MULISH REGULAR ROMAN" pitchFamily="2" charset="77"/>
                        <a:cs typeface="Century" panose="02040604050505020304" charset="0"/>
                      </a:endParaRPr>
                    </a:p>
                  </a:txBody>
                  <a:tcPr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5"/>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State​ Court</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6.1%</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2</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100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6"/>
                  </a:ext>
                </a:extLst>
              </a:tr>
              <a:tr h="274320">
                <a:tc>
                  <a:txBody>
                    <a:bodyPr/>
                    <a:lstStyle/>
                    <a:p>
                      <a:pPr marL="0" algn="ctr" rtl="0">
                        <a:spcBef>
                          <a:spcPts val="0"/>
                        </a:spcBef>
                        <a:spcAft>
                          <a:spcPts val="0"/>
                        </a:spcAft>
                      </a:pPr>
                      <a:r>
                        <a:rPr lang="en-US" sz="1100" b="0" kern="1200" dirty="0">
                          <a:latin typeface="MULISH REGULAR ROMAN" pitchFamily="2" charset="77"/>
                        </a:rPr>
                        <a:t>District Court</a:t>
                      </a:r>
                      <a:endParaRPr lang="en-US" sz="1100" b="0" dirty="0">
                        <a:effectLst/>
                        <a:latin typeface="MULISH REGULAR ROMAN" pitchFamily="2" charset="77"/>
                      </a:endParaRPr>
                    </a:p>
                  </a:txBody>
                  <a:tcPr marL="0" marR="0" marT="0" marB="0" anchor="ctr"/>
                </a:tc>
                <a:tc>
                  <a:txBody>
                    <a:bodyPr/>
                    <a:lstStyle/>
                    <a:p>
                      <a:pPr marL="0" lvl="0" algn="ctr" rtl="0">
                        <a:spcBef>
                          <a:spcPts val="0"/>
                        </a:spcBef>
                        <a:spcAft>
                          <a:spcPts val="0"/>
                        </a:spcAft>
                        <a:buNone/>
                      </a:pPr>
                      <a:r>
                        <a:rPr lang="en-US" sz="1100" kern="1200" dirty="0">
                          <a:latin typeface="MULISH REGULAR ROMAN" pitchFamily="2" charset="77"/>
                          <a:cs typeface="Century" panose="02040604050505020304" charset="0"/>
                        </a:rPr>
                        <a:t>4</a:t>
                      </a:r>
                    </a:p>
                  </a:txBody>
                  <a:tcPr anchor="ctr"/>
                </a:tc>
                <a:tc>
                  <a:txBody>
                    <a:bodyPr/>
                    <a:lstStyle/>
                    <a:p>
                      <a:pPr marL="0" lvl="0" algn="ctr" rtl="0">
                        <a:spcBef>
                          <a:spcPts val="0"/>
                        </a:spcBef>
                        <a:spcAft>
                          <a:spcPts val="0"/>
                        </a:spcAft>
                        <a:buNone/>
                      </a:pPr>
                      <a:r>
                        <a:rPr lang="en-US" sz="1100" dirty="0">
                          <a:latin typeface="MULISH REGULAR ROMAN" pitchFamily="2" charset="77"/>
                          <a:cs typeface="Century" panose="02040604050505020304" charset="0"/>
                        </a:rPr>
                        <a:t>4.5%</a:t>
                      </a:r>
                    </a:p>
                  </a:txBody>
                  <a:tcPr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tc>
                  <a:txBody>
                    <a:bodyPr/>
                    <a:lstStyle/>
                    <a:p>
                      <a:pPr marL="0" algn="ctr" rtl="0" eaLnBrk="1" fontAlgn="auto" latinLnBrk="0" hangingPunct="1">
                        <a:spcBef>
                          <a:spcPts val="0"/>
                        </a:spcBef>
                        <a:spcAft>
                          <a:spcPts val="0"/>
                        </a:spcAft>
                      </a:pPr>
                      <a:r>
                        <a:rPr lang="en-US" sz="1100" dirty="0">
                          <a:effectLst/>
                          <a:latin typeface="MULISH REGULAR ROMAN" pitchFamily="2" charset="77"/>
                          <a:cs typeface="Century" panose="02040604050505020304" charset="0"/>
                        </a:rPr>
                        <a:t>0</a:t>
                      </a:r>
                      <a:r>
                        <a:rPr lang="en-US" sz="1100" dirty="0">
                          <a:latin typeface="MULISH REGULAR ROMAN" pitchFamily="2" charset="77"/>
                          <a:cs typeface="Century" panose="02040604050505020304" charset="0"/>
                        </a:rPr>
                        <a:t>%</a:t>
                      </a:r>
                      <a:endParaRPr lang="en-US" sz="1100" dirty="0">
                        <a:effectLst/>
                        <a:latin typeface="MULISH REGULAR ROMAN" pitchFamily="2" charset="77"/>
                        <a:cs typeface="Century" panose="02040604050505020304" charset="0"/>
                      </a:endParaRPr>
                    </a:p>
                  </a:txBody>
                  <a:tcPr marL="0" marR="0" marT="0" marB="0" anchor="ctr"/>
                </a:tc>
                <a:extLst>
                  <a:ext uri="{0D108BD9-81ED-4DB2-BD59-A6C34878D82A}">
                    <a16:rowId xmlns:a16="http://schemas.microsoft.com/office/drawing/2014/main" val="10017"/>
                  </a:ext>
                </a:extLst>
              </a:tr>
              <a:tr h="274320">
                <a:tc>
                  <a:txBody>
                    <a:bodyPr/>
                    <a:lstStyle/>
                    <a:p>
                      <a:pPr marL="0" algn="ctr" rtl="0" eaLnBrk="1" fontAlgn="base" latinLnBrk="0" hangingPunct="1">
                        <a:spcBef>
                          <a:spcPts val="0"/>
                        </a:spcBef>
                        <a:spcAft>
                          <a:spcPts val="0"/>
                        </a:spcAft>
                      </a:pPr>
                      <a:r>
                        <a:rPr lang="en-US" sz="1100" b="0" kern="1200" dirty="0">
                          <a:latin typeface="MULISH REGULAR ROMAN" pitchFamily="2" charset="77"/>
                        </a:rPr>
                        <a:t>Original​</a:t>
                      </a:r>
                      <a:endParaRPr lang="en-US" sz="1100" b="0" dirty="0">
                        <a:effectLst/>
                        <a:latin typeface="MULISH REGULAR ROMAN" pitchFamily="2" charset="77"/>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pitchFamily="2" charset="77"/>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pitchFamily="2" charset="77"/>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pitchFamily="2" charset="77"/>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74320">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p:spPr>
        <p:txBody>
          <a:bodyPr wrap="square" rtlCol="0">
            <a:spAutoFit/>
          </a:bodyPr>
          <a:lstStyle/>
          <a:p>
            <a:r>
              <a:rPr lang="en-US" sz="1100" i="1" dirty="0">
                <a:latin typeface="MULISH ITALIC" pitchFamily="2" charset="77"/>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7</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651726763"/>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Velazquez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Lackey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Roberts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Bufkin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10/16/2024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03/05/2025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4159705879"/>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104d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136d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96.3d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166d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105d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170d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86d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pic>
        <p:nvPicPr>
          <p:cNvPr id="3" name="Picture 2" descr="A graph with lines and dots&#10;&#10;AI-generated content may be incorrect.">
            <a:extLst>
              <a:ext uri="{FF2B5EF4-FFF2-40B4-BE49-F238E27FC236}">
                <a16:creationId xmlns:a16="http://schemas.microsoft.com/office/drawing/2014/main" id="{B349F165-9591-E105-D77F-73ABEF1C7DB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2880" y="808786"/>
            <a:ext cx="5452985" cy="3271791"/>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pic>
        <p:nvPicPr>
          <p:cNvPr id="4" name="Picture 3" descr="A graph of different colored bars&#10;&#10;AI-generated content may be incorrect.">
            <a:extLst>
              <a:ext uri="{FF2B5EF4-FFF2-40B4-BE49-F238E27FC236}">
                <a16:creationId xmlns:a16="http://schemas.microsoft.com/office/drawing/2014/main" id="{2CCF3395-8D97-B78B-F4F5-DAE8C46FD37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55550" y="961858"/>
            <a:ext cx="8442160" cy="5065296"/>
          </a:xfrm>
          <a:prstGeom prst="rect">
            <a:avLst/>
          </a:prstGeom>
        </p:spPr>
      </p:pic>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21520559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9</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4294456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080468">
                  <a:extLst>
                    <a:ext uri="{9D8B030D-6E8A-4147-A177-3AD203B41FA5}">
                      <a16:colId xmlns:a16="http://schemas.microsoft.com/office/drawing/2014/main" val="3152721366"/>
                    </a:ext>
                  </a:extLst>
                </a:gridCol>
                <a:gridCol w="1148539">
                  <a:extLst>
                    <a:ext uri="{9D8B030D-6E8A-4147-A177-3AD203B41FA5}">
                      <a16:colId xmlns:a16="http://schemas.microsoft.com/office/drawing/2014/main" val="2599236381"/>
                    </a:ext>
                  </a:extLst>
                </a:gridCol>
                <a:gridCol w="657825">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pic>
        <p:nvPicPr>
          <p:cNvPr id="8" name="Picture 7" descr="A graph with multiple colored squares&#10;&#10;AI-generated content may be incorrect.">
            <a:extLst>
              <a:ext uri="{FF2B5EF4-FFF2-40B4-BE49-F238E27FC236}">
                <a16:creationId xmlns:a16="http://schemas.microsoft.com/office/drawing/2014/main" id="{0014D635-2592-39E4-F0E8-3400CF32EE0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2375" y="963776"/>
            <a:ext cx="10515600" cy="5257800"/>
          </a:xfrm>
          <a:prstGeom prst="rect">
            <a:avLst/>
          </a:prstGeom>
        </p:spPr>
      </p:pic>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4162859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10" name="Picture 9" descr="A brown and blue rectangular object with white text&#10;&#10;AI-generated content may be incorrect.">
            <a:extLst>
              <a:ext uri="{FF2B5EF4-FFF2-40B4-BE49-F238E27FC236}">
                <a16:creationId xmlns:a16="http://schemas.microsoft.com/office/drawing/2014/main" id="{B079BC15-ACFC-2151-6628-207D2A62D4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55550" y="869939"/>
            <a:ext cx="8688564" cy="5213138"/>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12</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6" name="Picture 5" descr="A graph with blue and brown bars&#10;&#10;AI-generated content may be incorrect.">
            <a:extLst>
              <a:ext uri="{FF2B5EF4-FFF2-40B4-BE49-F238E27FC236}">
                <a16:creationId xmlns:a16="http://schemas.microsoft.com/office/drawing/2014/main" id="{2F325949-4ABE-7111-223C-7BD7437D9AD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55550" y="869938"/>
            <a:ext cx="8688565" cy="5213139"/>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pic>
        <p:nvPicPr>
          <p:cNvPr id="3" name="Picture 2" descr="A graph with blue and brown bars&#10;&#10;AI-generated content may be incorrect.">
            <a:extLst>
              <a:ext uri="{FF2B5EF4-FFF2-40B4-BE49-F238E27FC236}">
                <a16:creationId xmlns:a16="http://schemas.microsoft.com/office/drawing/2014/main" id="{130FB328-9EE4-475E-2320-12C947EA68D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8" y="862006"/>
            <a:ext cx="8688564" cy="5213138"/>
          </a:xfrm>
          <a:prstGeom prst="rect">
            <a:avLst/>
          </a:prstGeom>
        </p:spPr>
      </p:pic>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Tree>
    <p:extLst>
      <p:ext uri="{BB962C8B-B14F-4D97-AF65-F5344CB8AC3E}">
        <p14:creationId xmlns:p14="http://schemas.microsoft.com/office/powerpoint/2010/main" val="4060666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86718451"/>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Total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9-0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8-1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7-2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6-3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FFFF00"/>
                          </a:highlight>
                          <a:latin typeface="MULISH REGULAR ROMAN" pitchFamily="2" charset="77"/>
                        </a:rPr>
                        <a:t>5-4 </a:t>
                      </a:r>
                      <a:r>
                        <a:rPr lang="en-US" sz="1200" b="1" i="0" u="none" strike="noStrike" dirty="0">
                          <a:solidFill>
                            <a:schemeClr val="tx1"/>
                          </a:solidFill>
                          <a:effectLst/>
                          <a:highlight>
                            <a:srgbClr val="FFFF00"/>
                          </a:highligh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highlight>
                            <a:srgbClr val="00FFFF"/>
                          </a:highlight>
                          <a:latin typeface="MULISH REGULAR ROMAN" pitchFamily="2" charset="77"/>
                        </a:rPr>
                        <a:t>Average majority</a:t>
                      </a:r>
                      <a:endParaRPr lang="en-US" sz="1200" b="1" i="0" u="none" strike="noStrike" dirty="0">
                        <a:solidFill>
                          <a:schemeClr val="tx1"/>
                        </a:solidFill>
                        <a:effectLst/>
                        <a:highlight>
                          <a:srgbClr val="00FFFF"/>
                        </a:highligh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14</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996647691"/>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highlight>
                            <a:srgbClr val="00FFFF"/>
                          </a:highlight>
                          <a:latin typeface="MULISH REGULAR ROMAN" pitchFamily="2" charset="77"/>
                        </a:rPr>
                        <a:t>% of Opinions Decided Unanimously</a:t>
                      </a:r>
                      <a:endParaRPr lang="en-US" sz="1400" b="1" i="0" u="none" strike="noStrike" dirty="0">
                        <a:solidFill>
                          <a:schemeClr val="tx1"/>
                        </a:solidFill>
                        <a:effectLst/>
                        <a:highlight>
                          <a:srgbClr val="00FFFF"/>
                        </a:highligh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64977445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highlight>
                            <a:srgbClr val="00FFFF"/>
                          </a:highlight>
                          <a:latin typeface="MULISH REGULAR ROMAN" pitchFamily="2" charset="77"/>
                        </a:rPr>
                        <a:t>Solo Dissents</a:t>
                      </a:r>
                      <a:endParaRPr lang="en-US" sz="1400" b="1" i="0" u="none" strike="noStrike" dirty="0">
                        <a:solidFill>
                          <a:schemeClr val="tx1"/>
                        </a:solidFill>
                        <a:effectLst/>
                        <a:highlight>
                          <a:srgbClr val="00FFFF"/>
                        </a:highligh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15</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pic>
        <p:nvPicPr>
          <p:cNvPr id="20" name="Picture 19" descr="A diagram of a pie chart&#10;&#10;AI-generated content may be incorrect.">
            <a:extLst>
              <a:ext uri="{FF2B5EF4-FFF2-40B4-BE49-F238E27FC236}">
                <a16:creationId xmlns:a16="http://schemas.microsoft.com/office/drawing/2014/main" id="{0E46180A-EEDD-1204-3AFA-4F5C5802ABA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16</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Ideologically Split Cases</a:t>
            </a:r>
          </a:p>
        </p:txBody>
      </p:sp>
      <p:pic>
        <p:nvPicPr>
          <p:cNvPr id="3" name="Picture 2" descr="A diagram of a pie chart&#10;&#10;AI-generated content may be incorrect.">
            <a:extLst>
              <a:ext uri="{FF2B5EF4-FFF2-40B4-BE49-F238E27FC236}">
                <a16:creationId xmlns:a16="http://schemas.microsoft.com/office/drawing/2014/main" id="{D7537BED-5308-92BB-FCA2-30CA3D17F0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3"/>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pic>
        <p:nvPicPr>
          <p:cNvPr id="3" name="Picture 2" descr="A graph with numbers and lines&#10;&#10;AI-generated content may be incorrect.">
            <a:extLst>
              <a:ext uri="{FF2B5EF4-FFF2-40B4-BE49-F238E27FC236}">
                <a16:creationId xmlns:a16="http://schemas.microsoft.com/office/drawing/2014/main" id="{4D704934-018D-AFA6-5DF9-C0540066A0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3990" y="980195"/>
            <a:ext cx="9144019" cy="5486411"/>
          </a:xfrm>
          <a:prstGeom prst="rect">
            <a:avLst/>
          </a:prstGeom>
        </p:spPr>
      </p:pic>
      <p:sp>
        <p:nvSpPr>
          <p:cNvPr id="5" name="TextBox 4">
            <a:extLst>
              <a:ext uri="{FF2B5EF4-FFF2-40B4-BE49-F238E27FC236}">
                <a16:creationId xmlns:a16="http://schemas.microsoft.com/office/drawing/2014/main" id="{6BF81625-A47D-0204-D5A0-3B0AA1D6E6DC}"/>
              </a:ext>
            </a:extLst>
          </p:cNvPr>
          <p:cNvSpPr txBox="1"/>
          <p:nvPr/>
        </p:nvSpPr>
        <p:spPr>
          <a:xfrm>
            <a:off x="4701396" y="313035"/>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pic>
        <p:nvPicPr>
          <p:cNvPr id="5" name="Picture 4" descr="A graph with a line graph&#10;&#10;AI-generated content may be incorrect.">
            <a:extLst>
              <a:ext uri="{FF2B5EF4-FFF2-40B4-BE49-F238E27FC236}">
                <a16:creationId xmlns:a16="http://schemas.microsoft.com/office/drawing/2014/main" id="{9A2B38AB-4D7F-F8FC-3ED8-121987B7C49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3990" y="1031674"/>
            <a:ext cx="9144019" cy="5486411"/>
          </a:xfrm>
          <a:prstGeom prst="rect">
            <a:avLst/>
          </a:prstGeom>
        </p:spPr>
      </p:pic>
      <p:sp>
        <p:nvSpPr>
          <p:cNvPr id="6" name="TextBox 5">
            <a:extLst>
              <a:ext uri="{FF2B5EF4-FFF2-40B4-BE49-F238E27FC236}">
                <a16:creationId xmlns:a16="http://schemas.microsoft.com/office/drawing/2014/main" id="{6EB03E43-76B9-077C-F614-FAAF678AF050}"/>
              </a:ext>
            </a:extLst>
          </p:cNvPr>
          <p:cNvSpPr txBox="1"/>
          <p:nvPr/>
        </p:nvSpPr>
        <p:spPr>
          <a:xfrm>
            <a:off x="4701396" y="198408"/>
            <a:ext cx="5874589" cy="830997"/>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with error bars representing the standard error of the observed unanimity.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spTree>
    <p:extLst>
      <p:ext uri="{BB962C8B-B14F-4D97-AF65-F5344CB8AC3E}">
        <p14:creationId xmlns:p14="http://schemas.microsoft.com/office/powerpoint/2010/main" val="164499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422360" y="128592"/>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pic>
        <p:nvPicPr>
          <p:cNvPr id="3" name="Picture 2" descr="A graph of different colored bars&#10;&#10;AI-generated content may be incorrect.">
            <a:extLst>
              <a:ext uri="{FF2B5EF4-FFF2-40B4-BE49-F238E27FC236}">
                <a16:creationId xmlns:a16="http://schemas.microsoft.com/office/drawing/2014/main" id="{DCC493B0-D15E-A26B-32DF-22DCE60C98F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4565" y="994162"/>
            <a:ext cx="8602869" cy="5735246"/>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2846956150"/>
              </p:ext>
            </p:extLst>
          </p:nvPr>
        </p:nvGraphicFramePr>
        <p:xfrm>
          <a:off x="327329" y="904500"/>
          <a:ext cx="11538585" cy="1860892"/>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66294">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306622">
                <a:tc>
                  <a:txBody>
                    <a:bodyPr/>
                    <a:lstStyle/>
                    <a:p>
                      <a:pPr algn="l" fontAlgn="b"/>
                      <a:r>
                        <a:rPr lang="en-US" sz="1200" dirty="0">
                          <a:effectLst/>
                          <a:latin typeface="MULISH REGULAR ROMAN"/>
                        </a:rPr>
                        <a:t>Roberts, 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lnB w="12700" cap="flat" cmpd="sng" algn="ctr">
                      <a:solidFill>
                        <a:schemeClr val="tx1"/>
                      </a:solidFill>
                      <a:prstDash val="solid"/>
                      <a:round/>
                      <a:headEnd type="none" w="med" len="med"/>
                      <a:tailEnd type="none" w="med" len="med"/>
                    </a:lnB>
                  </a:tcPr>
                </a:tc>
                <a:tc>
                  <a:txBody>
                    <a:bodyPr/>
                    <a:lstStyle/>
                    <a:p>
                      <a:pPr algn="l" fontAlgn="b"/>
                      <a:r>
                        <a:rPr lang="en-US" sz="1200" b="0" i="1" u="none" strike="noStrike" dirty="0">
                          <a:solidFill>
                            <a:srgbClr val="000000"/>
                          </a:solidFill>
                          <a:effectLst/>
                          <a:latin typeface="MULISH REGULAR ROMAN"/>
                        </a:rPr>
                        <a:t>Trump v. J.G.G.</a:t>
                      </a:r>
                    </a:p>
                  </a:txBody>
                  <a:tcPr marR="5672" marT="5672"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20</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162214693"/>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6</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pic>
        <p:nvPicPr>
          <p:cNvPr id="25" name="Picture 24" descr="A group of people in suits&#10;&#10;AI-generated content may be incorrect.">
            <a:extLst>
              <a:ext uri="{FF2B5EF4-FFF2-40B4-BE49-F238E27FC236}">
                <a16:creationId xmlns:a16="http://schemas.microsoft.com/office/drawing/2014/main" id="{4B425738-20CC-D4B5-325D-45C3509739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8399" y="963863"/>
            <a:ext cx="7072963" cy="5894137"/>
          </a:xfrm>
          <a:prstGeom prst="rect">
            <a:avLst/>
          </a:prstGeom>
        </p:spPr>
      </p:pic>
      <p:sp>
        <p:nvSpPr>
          <p:cNvPr id="30" name="TextBox 29">
            <a:extLst>
              <a:ext uri="{FF2B5EF4-FFF2-40B4-BE49-F238E27FC236}">
                <a16:creationId xmlns:a16="http://schemas.microsoft.com/office/drawing/2014/main" id="{D44D38DE-EF84-FFB1-D9C0-1DA8AA60C9FD}"/>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2490458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pic>
        <p:nvPicPr>
          <p:cNvPr id="15" name="Picture 14">
            <a:extLst>
              <a:ext uri="{FF2B5EF4-FFF2-40B4-BE49-F238E27FC236}">
                <a16:creationId xmlns:a16="http://schemas.microsoft.com/office/drawing/2014/main" id="{9942CBFE-B4E7-5232-EDD6-5FE434011AB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5992" y="833266"/>
            <a:ext cx="7075370" cy="5896142"/>
          </a:xfrm>
          <a:prstGeom prst="rect">
            <a:avLst/>
          </a:prstGeom>
        </p:spPr>
      </p:pic>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25729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7E7D5-A21C-AD99-D448-C3B4EB6BE37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1A86FFE-0CBD-2C4E-D04F-6C7EB7E58CC0}"/>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23</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AA70B56-E3A0-D69E-A404-3E0898FC0C04}"/>
              </a:ext>
            </a:extLst>
          </p:cNvPr>
          <p:cNvGraphicFramePr>
            <a:graphicFrameLocks noGrp="1"/>
          </p:cNvGraphicFramePr>
          <p:nvPr>
            <p:extLst>
              <p:ext uri="{D42A27DB-BD31-4B8C-83A1-F6EECF244321}">
                <p14:modId xmlns:p14="http://schemas.microsoft.com/office/powerpoint/2010/main" val="2719656592"/>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F1EDA938-D0A1-3241-4F10-5243EF537D6D}"/>
              </a:ext>
            </a:extLst>
          </p:cNvPr>
          <p:cNvGraphicFramePr>
            <a:graphicFrameLocks noGrp="1"/>
          </p:cNvGraphicFramePr>
          <p:nvPr>
            <p:extLst>
              <p:ext uri="{D42A27DB-BD31-4B8C-83A1-F6EECF244321}">
                <p14:modId xmlns:p14="http://schemas.microsoft.com/office/powerpoint/2010/main" val="1128476356"/>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5,987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3,888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3,541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3,380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2,400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3,328</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CC2D783-A1B5-FA39-F5AF-2F341C16BA4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99CF5190-5402-F10C-8B9B-A5FAF0DF535D}"/>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pic>
        <p:nvPicPr>
          <p:cNvPr id="9" name="Picture 8" descr="A graph of different types of numbers&#10;&#10;AI-generated content may be incorrect.">
            <a:extLst>
              <a:ext uri="{FF2B5EF4-FFF2-40B4-BE49-F238E27FC236}">
                <a16:creationId xmlns:a16="http://schemas.microsoft.com/office/drawing/2014/main" id="{E2FC222E-7A3A-751E-5777-798D7AA5A6C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4" y="128592"/>
            <a:ext cx="6270611" cy="3762366"/>
          </a:xfrm>
          <a:prstGeom prst="rect">
            <a:avLst/>
          </a:prstGeom>
        </p:spPr>
      </p:pic>
      <p:sp>
        <p:nvSpPr>
          <p:cNvPr id="11" name="TextBox 10">
            <a:extLst>
              <a:ext uri="{FF2B5EF4-FFF2-40B4-BE49-F238E27FC236}">
                <a16:creationId xmlns:a16="http://schemas.microsoft.com/office/drawing/2014/main" id="{EB5BD753-CB10-60ED-B4A8-8C4D0151DD72}"/>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(in words) of opinions issued by the Court by type between the 2016 and 2024 terms. </a:t>
            </a:r>
          </a:p>
        </p:txBody>
      </p:sp>
    </p:spTree>
    <p:extLst>
      <p:ext uri="{BB962C8B-B14F-4D97-AF65-F5344CB8AC3E}">
        <p14:creationId xmlns:p14="http://schemas.microsoft.com/office/powerpoint/2010/main" val="2427992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24</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7415837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endParaRPr lang="en-US" sz="1100" dirty="0">
                        <a:latin typeface="MULISH BLACK ROMAN"/>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18253</TotalTime>
  <Words>2716</Words>
  <Application>Microsoft Office PowerPoint</Application>
  <PresentationFormat>Widescreen</PresentationFormat>
  <Paragraphs>1082</Paragraphs>
  <Slides>27</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27</vt:i4>
      </vt:variant>
    </vt:vector>
  </HeadingPairs>
  <TitlesOfParts>
    <vt:vector size="38"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__, 2025  UPDATED MAY 12,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217</cp:revision>
  <cp:lastPrinted>2019-06-28T21:02:00Z</cp:lastPrinted>
  <dcterms:created xsi:type="dcterms:W3CDTF">2019-02-07T19:44:00Z</dcterms:created>
  <dcterms:modified xsi:type="dcterms:W3CDTF">2025-05-14T19:51:03Z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