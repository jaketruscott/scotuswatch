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417" r:id="rId15"/>
    <p:sldId id="340" r:id="rId16"/>
    <p:sldId id="406" r:id="rId17"/>
    <p:sldId id="381" r:id="rId18"/>
    <p:sldId id="390" r:id="rId19"/>
    <p:sldId id="299" r:id="rId20"/>
    <p:sldId id="414" r:id="rId21"/>
    <p:sldId id="343" r:id="rId22"/>
    <p:sldId id="412" r:id="rId23"/>
    <p:sldId id="415" r:id="rId24"/>
    <p:sldId id="398" r:id="rId25"/>
    <p:sldId id="399" r:id="rId26"/>
    <p:sldId id="400" r:id="rId27"/>
    <p:sldId id="401" r:id="rId28"/>
    <p:sldId id="416"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417"/>
            <p14:sldId id="340"/>
            <p14:sldId id="406"/>
            <p14:sldId id="381"/>
            <p14:sldId id="390"/>
            <p14:sldId id="299"/>
            <p14:sldId id="414"/>
            <p14:sldId id="343"/>
            <p14:sldId id="412"/>
            <p14:sldId id="415"/>
            <p14:sldId id="398"/>
            <p14:sldId id="399"/>
            <p14:sldId id="400"/>
            <p14:sldId id="401"/>
            <p14:sldId id="416"/>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CECE"/>
    <a:srgbClr val="EDEDED"/>
    <a:srgbClr val="4E478A"/>
    <a:srgbClr val="FFFFFF"/>
    <a:srgbClr val="5B9BD5"/>
    <a:srgbClr val="0F9147"/>
    <a:srgbClr val="FDD532"/>
    <a:srgbClr val="4F4789"/>
    <a:srgbClr val="0469A9"/>
    <a:srgbClr val="4FEDE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09"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7/2/2025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7/2/2025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270274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626B0-9FA2-B25B-45C1-0643DDB99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8D297-41AF-8233-FB75-665F598DE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ACE5C-C44E-FBA9-59AE-264455420B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959D40-C205-23B2-931A-4664C7D448F1}"/>
              </a:ext>
            </a:extLst>
          </p:cNvPr>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99575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7/2/2025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7/2/2025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7/2/2025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7/2/2025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7/2/2025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7/2/2025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7/2/2025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7/2/2025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7/2/2025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7/2/2025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7/2/2025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7/2/2025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8.xml"/><Relationship Id="rId3" Type="http://schemas.openxmlformats.org/officeDocument/2006/relationships/slide" Target="slide3.xml"/><Relationship Id="rId7" Type="http://schemas.openxmlformats.org/officeDocument/2006/relationships/slide" Target="slide8.xml"/><Relationship Id="rId12" Type="http://schemas.openxmlformats.org/officeDocument/2006/relationships/slide" Target="slide17.xml"/><Relationship Id="rId17" Type="http://schemas.openxmlformats.org/officeDocument/2006/relationships/slide" Target="slide29.xml"/><Relationship Id="rId2" Type="http://schemas.openxmlformats.org/officeDocument/2006/relationships/notesSlide" Target="../notesSlides/notesSlide2.xml"/><Relationship Id="rId16" Type="http://schemas.openxmlformats.org/officeDocument/2006/relationships/slide" Target="slide24.xml"/><Relationship Id="rId1" Type="http://schemas.openxmlformats.org/officeDocument/2006/relationships/slideLayout" Target="../slideLayouts/slideLayout2.xml"/><Relationship Id="rId6" Type="http://schemas.openxmlformats.org/officeDocument/2006/relationships/slide" Target="slide7.xml"/><Relationship Id="rId11" Type="http://schemas.openxmlformats.org/officeDocument/2006/relationships/slide" Target="slide15.xml"/><Relationship Id="rId5" Type="http://schemas.openxmlformats.org/officeDocument/2006/relationships/slide" Target="slide5.xml"/><Relationship Id="rId15" Type="http://schemas.openxmlformats.org/officeDocument/2006/relationships/slide" Target="slide22.xml"/><Relationship Id="rId10" Type="http://schemas.openxmlformats.org/officeDocument/2006/relationships/slide" Target="slide14.xml"/><Relationship Id="rId4" Type="http://schemas.openxmlformats.org/officeDocument/2006/relationships/slide" Target="slide4.xml"/><Relationship Id="rId9" Type="http://schemas.openxmlformats.org/officeDocument/2006/relationships/slide" Target="slide13.xml"/><Relationship Id="rId14"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cdb.la.psu.edu/"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0"/>
            <a:ext cx="4971156" cy="2827875"/>
          </a:xfrm>
          <a:noFill/>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000" b="1" dirty="0">
                <a:latin typeface="MULISH EXTRABOLD ROMAN" pitchFamily="2" charset="77"/>
              </a:rPr>
              <a:t>Updated </a:t>
            </a:r>
            <a:r>
              <a:rPr lang="en-US" sz="2000" b="1" dirty="0">
                <a:latin typeface="MULISH SEMIBOLD ROMAN" pitchFamily="2" charset="77"/>
              </a:rPr>
              <a:t>July 2, 2025</a:t>
            </a:r>
            <a:br>
              <a:rPr lang="en-US" sz="2800" b="1" dirty="0">
                <a:latin typeface="MULISH EXTRABOLD ROMAN" pitchFamily="2" charset="77"/>
              </a:rPr>
            </a:br>
            <a:br>
              <a:rPr lang="en-US" sz="2800" b="1" dirty="0">
                <a:latin typeface="MULISH EXTRABOLD ROMAN" pitchFamily="2" charset="77"/>
              </a:rPr>
            </a:br>
            <a:endParaRPr lang="en-US" sz="2800" b="1" dirty="0">
              <a:highlight>
                <a:srgbClr val="FF0000"/>
              </a:highlight>
              <a:latin typeface="MULISH EXTRABOLD ROMAN" pitchFamily="2" charset="77"/>
            </a:endParaRP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scotusblog@thedispatch.com </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892480"/>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941442708"/>
              </p:ext>
            </p:extLst>
          </p:nvPr>
        </p:nvGraphicFramePr>
        <p:xfrm>
          <a:off x="304800" y="923675"/>
          <a:ext cx="11582400" cy="49140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3" action="ppaction://hlinksldjump"/>
                        </a:rPr>
                        <a:t>3</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4" action="ppaction://hlinksldjump"/>
                        </a:rPr>
                        <a:t>4</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Opinions of the Court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5" action="ppaction://hlinksldjump"/>
                        </a:rPr>
                        <a:t>5-6</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6" action="ppaction://hlinksldjump"/>
                        </a:rPr>
                        <a:t>7</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7" action="ppaction://hlinksldjump"/>
                        </a:rPr>
                        <a:t>8-10</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8" action="ppaction://hlinksldjump"/>
                        </a:rPr>
                        <a:t>11-12</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9" action="ppaction://hlinksldjump"/>
                        </a:rPr>
                        <a:t>13</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0" action="ppaction://hlinksldjump"/>
                        </a:rPr>
                        <a:t>14</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41986428"/>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1" action="ppaction://hlinksldjump"/>
                        </a:rPr>
                        <a:t>15-16</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2" action="ppaction://hlinksldjump"/>
                        </a:rPr>
                        <a:t>17</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3" action="ppaction://hlinksldjump"/>
                        </a:rPr>
                        <a:t>18</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4" action="ppaction://hlinksldjump"/>
                        </a:rPr>
                        <a:t>19-21</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5" action="ppaction://hlinksldjump"/>
                        </a:rPr>
                        <a:t>22</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6" action="ppaction://hlinksldjump"/>
                        </a:rPr>
                        <a:t>24-28</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7" action="ppaction://hlinksldjump"/>
                        </a:rPr>
                        <a:t>29</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
        <p:nvSpPr>
          <p:cNvPr id="4" name="TextBox 3">
            <a:extLst>
              <a:ext uri="{FF2B5EF4-FFF2-40B4-BE49-F238E27FC236}">
                <a16:creationId xmlns:a16="http://schemas.microsoft.com/office/drawing/2014/main" id="{3DB3C640-4B22-B841-13EF-22759FE76720}"/>
              </a:ext>
            </a:extLst>
          </p:cNvPr>
          <p:cNvSpPr txBox="1"/>
          <p:nvPr/>
        </p:nvSpPr>
        <p:spPr>
          <a:xfrm>
            <a:off x="672353" y="1769192"/>
            <a:ext cx="10972799" cy="4339650"/>
          </a:xfrm>
          <a:prstGeom prst="rect">
            <a:avLst/>
          </a:prstGeom>
          <a:noFill/>
        </p:spPr>
        <p:txBody>
          <a:bodyPr wrap="square">
            <a:spAutoFit/>
          </a:bodyPr>
          <a:lstStyle/>
          <a:p>
            <a:r>
              <a:rPr lang="en-US" sz="1400" b="1" dirty="0">
                <a:effectLst/>
                <a:latin typeface="MULISH REGULAR ROMAN"/>
                <a:ea typeface="Times New Roman" panose="02020603050405020304" pitchFamily="18" charset="0"/>
                <a:cs typeface="Aptos" panose="020B0004020202020204" pitchFamily="34" charset="0"/>
              </a:rPr>
              <a:t>Steady Decline of Unanimity</a:t>
            </a:r>
            <a:r>
              <a:rPr lang="en-US" sz="1400" b="1" dirty="0">
                <a:latin typeface="MULISH REGULAR ROMAN"/>
                <a:ea typeface="Times New Roman" panose="02020603050405020304" pitchFamily="18" charset="0"/>
                <a:cs typeface="Aptos" panose="020B0004020202020204" pitchFamily="34" charset="0"/>
              </a:rPr>
              <a:t>.</a:t>
            </a:r>
            <a:r>
              <a:rPr lang="en-US" sz="1400" dirty="0">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42% of cases were decided unanimously this term – compared to 44% in the previous term and 50% in the 2022-23 term. </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6-3 Decisions</a:t>
            </a:r>
            <a:r>
              <a:rPr lang="en-US" sz="1400" b="1" dirty="0">
                <a:latin typeface="MULISH REGULAR ROMAN"/>
                <a:ea typeface="Times New Roman" panose="02020603050405020304" pitchFamily="18" charset="0"/>
                <a:cs typeface="Aptos" panose="020B0004020202020204" pitchFamily="34" charset="0"/>
              </a:rPr>
              <a:t>.</a:t>
            </a:r>
            <a:r>
              <a:rPr lang="en-US" sz="1400" dirty="0">
                <a:effectLst/>
                <a:latin typeface="MULISH REGULAR ROMAN"/>
                <a:ea typeface="Times New Roman" panose="02020603050405020304" pitchFamily="18" charset="0"/>
                <a:cs typeface="Aptos" panose="020B0004020202020204" pitchFamily="34" charset="0"/>
              </a:rPr>
              <a:t> </a:t>
            </a:r>
            <a:r>
              <a:rPr lang="en-US" sz="1200" dirty="0">
                <a:latin typeface="MULISH REGULAR ROMAN"/>
                <a:ea typeface="Times New Roman" panose="02020603050405020304" pitchFamily="18" charset="0"/>
                <a:cs typeface="Aptos" panose="020B0004020202020204" pitchFamily="34" charset="0"/>
              </a:rPr>
              <a:t>Ten </a:t>
            </a:r>
            <a:r>
              <a:rPr lang="en-US" sz="1200" dirty="0">
                <a:effectLst/>
                <a:latin typeface="MULISH REGULAR ROMAN"/>
                <a:ea typeface="Times New Roman" panose="02020603050405020304" pitchFamily="18" charset="0"/>
                <a:cs typeface="Aptos" panose="020B0004020202020204" pitchFamily="34" charset="0"/>
              </a:rPr>
              <a:t>decisions or 15% of decided cases were by 6-3 split votes. </a:t>
            </a:r>
          </a:p>
          <a:p>
            <a:endParaRPr lang="en-US" sz="1200" dirty="0">
              <a:latin typeface="MULISH REGULAR ROMAN"/>
              <a:ea typeface="Times New Roman" panose="02020603050405020304" pitchFamily="18" charset="0"/>
              <a:cs typeface="Aptos" panose="020B0004020202020204" pitchFamily="34" charset="0"/>
            </a:endParaRPr>
          </a:p>
          <a:p>
            <a:r>
              <a:rPr lang="en-US" sz="1400" b="1" dirty="0">
                <a:latin typeface="MULISH REGULAR ROMAN"/>
                <a:ea typeface="Times New Roman" panose="02020603050405020304" pitchFamily="18" charset="0"/>
                <a:cs typeface="Aptos" panose="020B0004020202020204" pitchFamily="34" charset="0"/>
              </a:rPr>
              <a:t>Ideological Splits in Closely Divided Cases</a:t>
            </a:r>
            <a:r>
              <a:rPr lang="en-US" sz="1200" b="1" dirty="0">
                <a:latin typeface="MULISH REGULAR ROMAN"/>
                <a:ea typeface="Times New Roman" panose="02020603050405020304" pitchFamily="18" charset="0"/>
                <a:cs typeface="Aptos" panose="020B0004020202020204" pitchFamily="34" charset="0"/>
              </a:rPr>
              <a:t>. </a:t>
            </a:r>
            <a:r>
              <a:rPr lang="en-US" sz="1200" dirty="0">
                <a:latin typeface="MULISH REGULAR ROMAN"/>
                <a:ea typeface="Times New Roman" panose="02020603050405020304" pitchFamily="18" charset="0"/>
                <a:cs typeface="Aptos" panose="020B0004020202020204" pitchFamily="34" charset="0"/>
              </a:rPr>
              <a:t>The Court divided 6-3 with Justices Sotomayor, Kagan, and Jackson dissenting in 9% of the opinions and with Justices Thomas, Alito, Gorsuch dissenting in 6% of the opinions. Including 5-4 opinions, all three of the Court's liberal justices were together in dissent in 15% of the cases. Decisions with three or more conservative justices in dissent made up 15% of cases as well and decisions with only conservative justices in the dissent made up 28% of the cases. </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Roberts at the Helm</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Chief Justice John Roberts was in the majority most frequently at 95% in all cases, 92% in non-unanimous cases, and 90% in closely divided cases, and he did not write a single separate opinion this term. Justice Kavanaugh was in the majority </a:t>
            </a:r>
            <a:r>
              <a:rPr lang="en-US" sz="1200" dirty="0">
                <a:latin typeface="MULISH REGULAR ROMAN"/>
                <a:ea typeface="Times New Roman" panose="02020603050405020304" pitchFamily="18" charset="0"/>
                <a:cs typeface="Aptos" panose="020B0004020202020204" pitchFamily="34" charset="0"/>
              </a:rPr>
              <a:t>second</a:t>
            </a:r>
            <a:r>
              <a:rPr lang="en-US" sz="1200" dirty="0">
                <a:effectLst/>
                <a:latin typeface="MULISH REGULAR ROMAN"/>
                <a:ea typeface="Times New Roman" panose="02020603050405020304" pitchFamily="18" charset="0"/>
                <a:cs typeface="Aptos" panose="020B0004020202020204" pitchFamily="34" charset="0"/>
              </a:rPr>
              <a:t> most frequently in all cases at 92%, followed by Justice Barrett at 89%.</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Liberals </a:t>
            </a:r>
            <a:r>
              <a:rPr lang="en-US" sz="1400" b="1" dirty="0">
                <a:latin typeface="MULISH REGULAR ROMAN"/>
                <a:ea typeface="Times New Roman" panose="02020603050405020304" pitchFamily="18" charset="0"/>
                <a:cs typeface="Aptos" panose="020B0004020202020204" pitchFamily="34" charset="0"/>
              </a:rPr>
              <a:t>G</a:t>
            </a:r>
            <a:r>
              <a:rPr lang="en-US" sz="1400" b="1" dirty="0">
                <a:effectLst/>
                <a:latin typeface="MULISH REGULAR ROMAN"/>
                <a:ea typeface="Times New Roman" panose="02020603050405020304" pitchFamily="18" charset="0"/>
                <a:cs typeface="Aptos" panose="020B0004020202020204" pitchFamily="34" charset="0"/>
              </a:rPr>
              <a:t>aining Ground</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Justice Kagan was in the majority 83% of the time in all cases this term – which was more common than Justices Thomas, Gorsuch, and Alito, who were each in the majority 78% of the time. Justice Sotomayor was also in the majority 78% of the time.</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Top Alignments at the Poles</a:t>
            </a:r>
            <a:r>
              <a:rPr lang="en-US" sz="1200" dirty="0">
                <a:effectLst/>
                <a:latin typeface="MULISH REGULAR ROMAN"/>
                <a:ea typeface="Times New Roman" panose="02020603050405020304" pitchFamily="18" charset="0"/>
                <a:cs typeface="Aptos" panose="020B0004020202020204" pitchFamily="34" charset="0"/>
              </a:rPr>
              <a:t>. The top alignment in all cases was between Justices Alito and Thomas at 97% of the time, while Justices Jackson and Sotomayor are next at 94</a:t>
            </a:r>
            <a:r>
              <a:rPr lang="en-US" sz="1200" dirty="0">
                <a:latin typeface="MULISH REGULAR ROMAN"/>
                <a:ea typeface="Times New Roman" panose="02020603050405020304" pitchFamily="18" charset="0"/>
                <a:cs typeface="Aptos" panose="020B0004020202020204" pitchFamily="34" charset="0"/>
              </a:rPr>
              <a:t>%</a:t>
            </a:r>
            <a:r>
              <a:rPr lang="en-US" sz="1200" dirty="0">
                <a:effectLst/>
                <a:latin typeface="MULISH REGULAR ROMAN"/>
                <a:ea typeface="Times New Roman" panose="02020603050405020304" pitchFamily="18" charset="0"/>
                <a:cs typeface="Aptos" panose="020B0004020202020204" pitchFamily="34" charset="0"/>
              </a:rPr>
              <a:t>. Chief Justice Roberts and</a:t>
            </a:r>
            <a:r>
              <a:rPr lang="en-US" sz="1200" dirty="0">
                <a:latin typeface="MULISH REGULAR ROMAN"/>
                <a:ea typeface="Times New Roman" panose="02020603050405020304" pitchFamily="18" charset="0"/>
                <a:cs typeface="Aptos" panose="020B0004020202020204" pitchFamily="34" charset="0"/>
              </a:rPr>
              <a:t> Justice </a:t>
            </a:r>
            <a:r>
              <a:rPr lang="en-US" sz="1200" dirty="0">
                <a:effectLst/>
                <a:latin typeface="MULISH REGULAR ROMAN"/>
                <a:ea typeface="Times New Roman" panose="02020603050405020304" pitchFamily="18" charset="0"/>
                <a:cs typeface="Aptos" panose="020B0004020202020204" pitchFamily="34" charset="0"/>
              </a:rPr>
              <a:t>Kavanaugh – who have aligned together more than any other justice pair in previous terms </a:t>
            </a:r>
            <a:r>
              <a:rPr lang="en-US" sz="1200" dirty="0">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aligned 91% of the time</a:t>
            </a:r>
            <a:r>
              <a:rPr lang="en-US" sz="1200" dirty="0">
                <a:latin typeface="MULISH REGULAR ROMAN"/>
                <a:ea typeface="Times New Roman" panose="02020603050405020304" pitchFamily="18" charset="0"/>
                <a:cs typeface="Aptos" panose="020B0004020202020204" pitchFamily="34" charset="0"/>
              </a:rPr>
              <a:t>. </a:t>
            </a:r>
          </a:p>
          <a:p>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Circuit Cases and Reversals</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Cases from the First, Fourth, Ninth, and Tenth Circuits were reversed 100% of the time. The Fifth Circuit had the most total cases reversed, with ten, though three were affirmed—resulting in a 77% reversal rate. This term was unusual in that the Ninth Circuit, which is typically the most reviewed, had fewer than one-third as many cases decided as the Fifth Circuit. Even the Fourth Circuit had twice as many cases decided—eight compared to the Ninth Circuit's four.</a:t>
            </a:r>
          </a:p>
          <a:p>
            <a:endParaRPr lang="en-US" sz="1200" dirty="0">
              <a:latin typeface="MULISH REGULAR ROMAN"/>
            </a:endParaRPr>
          </a:p>
        </p:txBody>
      </p:sp>
      <p:sp>
        <p:nvSpPr>
          <p:cNvPr id="7" name="TextBox 6">
            <a:extLst>
              <a:ext uri="{FF2B5EF4-FFF2-40B4-BE49-F238E27FC236}">
                <a16:creationId xmlns:a16="http://schemas.microsoft.com/office/drawing/2014/main" id="{B563B917-4791-BD3F-36A1-777202CB9BA1}"/>
              </a:ext>
            </a:extLst>
          </p:cNvPr>
          <p:cNvSpPr txBox="1"/>
          <p:nvPr/>
        </p:nvSpPr>
        <p:spPr>
          <a:xfrm>
            <a:off x="672353" y="1214319"/>
            <a:ext cx="6096000" cy="369332"/>
          </a:xfrm>
          <a:prstGeom prst="rect">
            <a:avLst/>
          </a:prstGeom>
          <a:noFill/>
        </p:spPr>
        <p:txBody>
          <a:bodyPr wrap="square">
            <a:spAutoFit/>
          </a:bodyPr>
          <a:lstStyle/>
          <a:p>
            <a:r>
              <a:rPr lang="en-US" sz="1800" b="1" u="sng" dirty="0">
                <a:effectLst/>
                <a:latin typeface="MULISH REGULAR ROMAN"/>
                <a:ea typeface="Times New Roman" panose="02020603050405020304" pitchFamily="18" charset="0"/>
                <a:cs typeface="Aptos" panose="020B0004020202020204" pitchFamily="34" charset="0"/>
              </a:rPr>
              <a:t>Key Findings in the Stat Pack for </a:t>
            </a:r>
            <a:r>
              <a:rPr lang="en-US" b="1" u="sng" dirty="0">
                <a:latin typeface="MULISH REGULAR ROMAN"/>
                <a:ea typeface="Times New Roman" panose="02020603050405020304" pitchFamily="18" charset="0"/>
                <a:cs typeface="Aptos" panose="020B0004020202020204" pitchFamily="34" charset="0"/>
              </a:rPr>
              <a:t>the 2024-25 Term</a:t>
            </a:r>
            <a:endParaRPr lang="en-US" b="1" u="sng" dirty="0">
              <a:latin typeface="MULISH REGULAR ROMAN"/>
            </a:endParaRPr>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a:solidFill>
                  <a:srgbClr val="A90404"/>
                </a:solidFill>
                <a:latin typeface="MULISH BOLD ROMAN" pitchFamily="2" charset="77"/>
              </a:rPr>
              <a:t>TOTAL OPINIONS OVER TIME</a:t>
            </a:r>
            <a:endParaRPr lang="en-US" sz="3600" dirty="0">
              <a:solidFill>
                <a:srgbClr val="A90404"/>
              </a:solidFill>
              <a:latin typeface="MULISH BOLD ROMAN" pitchFamily="2" charset="77"/>
            </a:endParaRP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646331"/>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Data from earlier terms were retrieved from the </a:t>
            </a:r>
            <a:r>
              <a:rPr lang="en-US" sz="1200" dirty="0">
                <a:latin typeface="MULISH REGULAR ROMAN"/>
                <a:hlinkClick r:id="rId3"/>
              </a:rPr>
              <a:t>Supreme Court Database</a:t>
            </a:r>
            <a:r>
              <a:rPr lang="en-US" sz="1200" dirty="0">
                <a:latin typeface="MULISH REGULAR ROMAN"/>
              </a:rPr>
              <a:t>.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while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 </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sp>
        <p:nvSpPr>
          <p:cNvPr id="4" name="TextBox 3">
            <a:extLst>
              <a:ext uri="{FF2B5EF4-FFF2-40B4-BE49-F238E27FC236}">
                <a16:creationId xmlns:a16="http://schemas.microsoft.com/office/drawing/2014/main" id="{5DBF1D46-C7EC-10E8-7883-4F62A4250A19}"/>
              </a:ext>
            </a:extLst>
          </p:cNvPr>
          <p:cNvSpPr txBox="1"/>
          <p:nvPr/>
        </p:nvSpPr>
        <p:spPr>
          <a:xfrm>
            <a:off x="7080449" y="212390"/>
            <a:ext cx="4273351" cy="600164"/>
          </a:xfrm>
          <a:prstGeom prst="rect">
            <a:avLst/>
          </a:prstGeom>
          <a:noFill/>
          <a:ln>
            <a:solidFill>
              <a:schemeClr val="tx1"/>
            </a:solidFill>
          </a:ln>
        </p:spPr>
        <p:txBody>
          <a:bodyPr wrap="square">
            <a:spAutoFit/>
          </a:bodyPr>
          <a:lstStyle/>
          <a:p>
            <a:r>
              <a:rPr lang="en-US" sz="1100" dirty="0">
                <a:latin typeface="MULISH REGULAR ROMAN"/>
              </a:rPr>
              <a:t>Please note that the Stat Pack only focuses on “Opinions of the Court” and not "Opinions Relating to Orders," the latter of which includes several of the cases on the so-called emergency/shadow docket</a:t>
            </a:r>
            <a:endParaRPr lang="en-US" sz="1100" dirty="0"/>
          </a:p>
        </p:txBody>
      </p:sp>
      <p:pic>
        <p:nvPicPr>
          <p:cNvPr id="9" name="Picture 8" descr="A graph of different colored bars&#10;&#10;AI-generated content may be incorrect.">
            <a:extLst>
              <a:ext uri="{FF2B5EF4-FFF2-40B4-BE49-F238E27FC236}">
                <a16:creationId xmlns:a16="http://schemas.microsoft.com/office/drawing/2014/main" id="{2BD08AF5-DFB5-20ED-7D5D-54C70C2C234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4841600"/>
              </p:ext>
            </p:extLst>
          </p:nvPr>
        </p:nvGraphicFramePr>
        <p:xfrm>
          <a:off x="320850" y="796386"/>
          <a:ext cx="11550300" cy="583489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A.A.R.P. v. Trump</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A.A.R.P v. Trump</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Immigration removal and procedural due process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570788897"/>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133299288"/>
                  </a:ext>
                </a:extLst>
              </a:tr>
              <a:tr h="194963">
                <a:tc>
                  <a:txBody>
                    <a:bodyPr/>
                    <a:lstStyle/>
                    <a:p>
                      <a:pPr algn="l" fontAlgn="b"/>
                      <a:r>
                        <a:rPr lang="en-US" sz="1050" b="0" i="0" u="none" strike="noStrike" dirty="0">
                          <a:solidFill>
                            <a:srgbClr val="000000"/>
                          </a:solidFill>
                          <a:effectLst/>
                          <a:latin typeface="MULISH BLACK ROMAN"/>
                        </a:rPr>
                        <a:t>Andrew v. White</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Andrew</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Due process and prejudicial evidence in capital trial</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363718120"/>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California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Education grants, APA challenge, and agency funding authority</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397630393"/>
                  </a:ext>
                </a:extLst>
              </a:tr>
              <a:tr h="122368">
                <a:tc>
                  <a:txBody>
                    <a:bodyPr/>
                    <a:lstStyle/>
                    <a:p>
                      <a:pPr algn="l" fontAlgn="b"/>
                      <a:r>
                        <a:rPr lang="en-US" sz="1050" b="0" i="0" u="none" strike="noStrike" dirty="0">
                          <a:solidFill>
                            <a:srgbClr val="000000"/>
                          </a:solidFill>
                          <a:effectLst/>
                          <a:latin typeface="MULISH BLACK ROMAN"/>
                        </a:rPr>
                        <a:t>Hamm v. Smith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Hamm</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Death penalty eligibility and intellectual disability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519977218"/>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241247474"/>
                  </a:ext>
                </a:extLst>
              </a:tr>
            </a:tbl>
          </a:graphicData>
        </a:graphic>
      </p:graphicFrame>
      <p:sp>
        <p:nvSpPr>
          <p:cNvPr id="2" name="TextBox 1">
            <a:extLst>
              <a:ext uri="{FF2B5EF4-FFF2-40B4-BE49-F238E27FC236}">
                <a16:creationId xmlns:a16="http://schemas.microsoft.com/office/drawing/2014/main" id="{CFEFF300-9952-DEB4-0F88-0CE50412B488}"/>
              </a:ext>
            </a:extLst>
          </p:cNvPr>
          <p:cNvSpPr txBox="1"/>
          <p:nvPr/>
        </p:nvSpPr>
        <p:spPr>
          <a:xfrm>
            <a:off x="8453718" y="88500"/>
            <a:ext cx="3417432" cy="646331"/>
          </a:xfrm>
          <a:prstGeom prst="rect">
            <a:avLst/>
          </a:prstGeom>
          <a:noFill/>
          <a:ln>
            <a:solidFill>
              <a:schemeClr val="tx1"/>
            </a:solidFill>
          </a:ln>
        </p:spPr>
        <p:txBody>
          <a:bodyPr wrap="square">
            <a:spAutoFit/>
          </a:bodyPr>
          <a:lstStyle/>
          <a:p>
            <a:r>
              <a:rPr lang="en-US" sz="900" dirty="0">
                <a:effectLst/>
                <a:latin typeface="Aptos" panose="020B0004020202020204" pitchFamily="34" charset="0"/>
                <a:ea typeface="Times New Roman" panose="02020603050405020304" pitchFamily="18" charset="0"/>
                <a:cs typeface="Aptos" panose="020B0004020202020204" pitchFamily="34" charset="0"/>
              </a:rPr>
              <a:t>Please note that we do not include </a:t>
            </a:r>
            <a:r>
              <a:rPr lang="en-US" sz="900" i="1" dirty="0">
                <a:effectLst/>
                <a:latin typeface="Aptos" panose="020B0004020202020204" pitchFamily="34" charset="0"/>
                <a:ea typeface="Times New Roman" panose="02020603050405020304" pitchFamily="18" charset="0"/>
                <a:cs typeface="Aptos" panose="020B0004020202020204" pitchFamily="34" charset="0"/>
              </a:rPr>
              <a:t>Goldey v. Fields</a:t>
            </a:r>
            <a:r>
              <a:rPr lang="en-US" sz="900" dirty="0">
                <a:effectLst/>
                <a:latin typeface="Aptos" panose="020B0004020202020204" pitchFamily="34" charset="0"/>
                <a:ea typeface="Times New Roman" panose="02020603050405020304" pitchFamily="18" charset="0"/>
                <a:cs typeface="Aptos" panose="020B0004020202020204" pitchFamily="34" charset="0"/>
              </a:rPr>
              <a:t>, which reversed and remanded the judgment of the U.S. Court of Appeals for the 4th Circuit on June 30, 2025 </a:t>
            </a:r>
            <a:r>
              <a:rPr lang="en-US" sz="900" dirty="0">
                <a:solidFill>
                  <a:srgbClr val="000000"/>
                </a:solidFill>
                <a:effectLst/>
                <a:latin typeface="Helvetica" panose="020B0604020202020204" pitchFamily="34" charset="0"/>
                <a:ea typeface="Times New Roman" panose="02020603050405020304" pitchFamily="18" charset="0"/>
              </a:rPr>
              <a:t>–</a:t>
            </a:r>
            <a:r>
              <a:rPr lang="en-US" sz="900" dirty="0">
                <a:effectLst/>
                <a:latin typeface="Aptos" panose="020B0004020202020204" pitchFamily="34" charset="0"/>
                <a:ea typeface="Times New Roman" panose="02020603050405020304" pitchFamily="18" charset="0"/>
                <a:cs typeface="Aptos" panose="020B0004020202020204" pitchFamily="34" charset="0"/>
              </a:rPr>
              <a:t> after the term had already concluded</a:t>
            </a:r>
            <a:endParaRPr lang="en-US" sz="900" dirty="0"/>
          </a:p>
        </p:txBody>
      </p:sp>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15503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524621050"/>
              </p:ext>
            </p:extLst>
          </p:nvPr>
        </p:nvGraphicFramePr>
        <p:xfrm>
          <a:off x="320850" y="796386"/>
          <a:ext cx="11550300" cy="5814766"/>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dirty="0">
                          <a:solidFill>
                            <a:srgbClr val="000000"/>
                          </a:solidFill>
                          <a:effectLst/>
                          <a:latin typeface="MULISH BLACK ROMAN"/>
                        </a:rPr>
                        <a:t>Trump v. J.G.G.</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Trump v. J.G.G.</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Alien detention and habeas under wartime authority</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769244260"/>
                  </a:ext>
                </a:extLst>
              </a:tr>
              <a:tr h="0">
                <a:tc>
                  <a:txBody>
                    <a:bodyPr/>
                    <a:lstStyle/>
                    <a:p>
                      <a:pPr algn="l" fontAlgn="b"/>
                      <a:r>
                        <a:rPr lang="en-US" sz="1050" b="0" i="0" u="none" strike="noStrike" dirty="0">
                          <a:solidFill>
                            <a:srgbClr val="000000"/>
                          </a:solidFill>
                          <a:effectLst/>
                          <a:latin typeface="MULISH BLACK ROMAN"/>
                        </a:rPr>
                        <a:t>United States v. Miller</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3020829133"/>
                  </a:ext>
                </a:extLst>
              </a:tr>
              <a:tr h="0">
                <a:tc>
                  <a:txBody>
                    <a:bodyPr/>
                    <a:lstStyle/>
                    <a:p>
                      <a:pPr algn="l" fontAlgn="b"/>
                      <a:r>
                        <a:rPr lang="en-US" sz="1050" b="0" i="0" u="none" strike="noStrike" dirty="0">
                          <a:solidFill>
                            <a:srgbClr val="000000"/>
                          </a:solidFill>
                          <a:effectLst/>
                          <a:latin typeface="MULISH BLACK ROMAN"/>
                        </a:rPr>
                        <a:t>United States v. </a:t>
                      </a:r>
                      <a:r>
                        <a:rPr lang="en-US" sz="1050" b="0" i="0" u="none" strike="noStrike" dirty="0" err="1">
                          <a:solidFill>
                            <a:srgbClr val="000000"/>
                          </a:solidFill>
                          <a:effectLst/>
                          <a:latin typeface="MULISH BLACK ROMAN"/>
                        </a:rPr>
                        <a:t>Skrmetti</a:t>
                      </a:r>
                      <a:endParaRPr lang="en-US" sz="1050" b="0" i="0" u="none" strike="noStrike" dirty="0">
                        <a:solidFill>
                          <a:srgbClr val="000000"/>
                        </a:solidFill>
                        <a:effectLst/>
                        <a:latin typeface="MULISH BLACK ROMAN"/>
                      </a:endParaRP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Transgender care ban for minors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r>
              <a:rPr lang="en-US" sz="1200" dirty="0">
                <a:solidFill>
                  <a:srgbClr val="FF0000"/>
                </a:solidFill>
              </a:rPr>
              <a:t>Dashed red </a:t>
            </a:r>
            <a:r>
              <a:rPr lang="en-US" sz="1200" dirty="0"/>
              <a:t>line represent longitudinal average (44.5%).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8" name="Picture 7" descr="A graph with numbers and lines&#10;&#10;AI-generated content may be incorrect.">
            <a:extLst>
              <a:ext uri="{FF2B5EF4-FFF2-40B4-BE49-F238E27FC236}">
                <a16:creationId xmlns:a16="http://schemas.microsoft.com/office/drawing/2014/main" id="{DAAB8057-C304-CF16-26D2-76DB4BF33B3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4" name="Picture 3" descr="A group of people in a row&#10;&#10;AI-generated content may be incorrect.">
            <a:extLst>
              <a:ext uri="{FF2B5EF4-FFF2-40B4-BE49-F238E27FC236}">
                <a16:creationId xmlns:a16="http://schemas.microsoft.com/office/drawing/2014/main" id="{E4A4258A-5AC9-9692-FAB5-2F2A69CA03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17267"/>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212688"/>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in a row&#10;&#10;AI-generated content may be incorrect.">
            <a:extLst>
              <a:ext uri="{FF2B5EF4-FFF2-40B4-BE49-F238E27FC236}">
                <a16:creationId xmlns:a16="http://schemas.microsoft.com/office/drawing/2014/main" id="{1A1D5901-7C13-725F-01D0-61BA2C4ABB5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17267"/>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standing in front of a graph&#10;&#10;AI-generated content may be incorrect.">
            <a:extLst>
              <a:ext uri="{FF2B5EF4-FFF2-40B4-BE49-F238E27FC236}">
                <a16:creationId xmlns:a16="http://schemas.microsoft.com/office/drawing/2014/main" id="{2C0E1584-087E-99E5-A86F-87BB4556D6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4" name="Picture 3" descr="A group of people in suits&#10;&#10;AI-generated content may be incorrect.">
            <a:extLst>
              <a:ext uri="{FF2B5EF4-FFF2-40B4-BE49-F238E27FC236}">
                <a16:creationId xmlns:a16="http://schemas.microsoft.com/office/drawing/2014/main" id="{0C4DF61A-1B35-C115-3F09-C470E3246FB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3E736751-6A6D-0E13-4BD8-8BD945ED8B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66354772"/>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Unanimous opinions</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7.71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1" dirty="0">
                          <a:solidFill>
                            <a:schemeClr val="tx1"/>
                          </a:solidFill>
                          <a:effectLst/>
                          <a:latin typeface="MULISH REGULAR ROMAN" pitchFamily="2" charset="77"/>
                        </a:rPr>
                        <a:t>56</a:t>
                      </a: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24</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4</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9</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11</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8</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7.47</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4192218082"/>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906326004"/>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636492">
                  <a:extLst>
                    <a:ext uri="{9D8B030D-6E8A-4147-A177-3AD203B41FA5}">
                      <a16:colId xmlns:a16="http://schemas.microsoft.com/office/drawing/2014/main" val="20000"/>
                    </a:ext>
                  </a:extLst>
                </a:gridCol>
                <a:gridCol w="1109026">
                  <a:extLst>
                    <a:ext uri="{9D8B030D-6E8A-4147-A177-3AD203B41FA5}">
                      <a16:colId xmlns:a16="http://schemas.microsoft.com/office/drawing/2014/main" val="20001"/>
                    </a:ext>
                  </a:extLst>
                </a:gridCol>
                <a:gridCol w="3434396">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r>
              <a:rPr lang="en-US" sz="1000" i="1" dirty="0"/>
              <a:t>Glossip</a:t>
            </a:r>
            <a:r>
              <a:rPr lang="en-US" sz="1000" dirty="0"/>
              <a:t> is included here as a (6-3) opinion.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3E480-6B4D-3550-1BDD-5F489A530B06}"/>
            </a:ext>
          </a:extLst>
        </p:cNvPr>
        <p:cNvGrpSpPr/>
        <p:nvPr/>
      </p:nvGrpSpPr>
      <p:grpSpPr>
        <a:xfrm>
          <a:off x="0" y="0"/>
          <a:ext cx="0" cy="0"/>
          <a:chOff x="0" y="0"/>
          <a:chExt cx="0" cy="0"/>
        </a:xfrm>
      </p:grpSpPr>
      <p:sp>
        <p:nvSpPr>
          <p:cNvPr id="11" name="Title 9">
            <a:extLst>
              <a:ext uri="{FF2B5EF4-FFF2-40B4-BE49-F238E27FC236}">
                <a16:creationId xmlns:a16="http://schemas.microsoft.com/office/drawing/2014/main" id="{CD0EE1E8-E914-C55B-6CE0-92ADC8C79B7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Closely Divided Cases</a:t>
            </a:r>
          </a:p>
        </p:txBody>
      </p:sp>
      <p:sp>
        <p:nvSpPr>
          <p:cNvPr id="3" name="Slide Number Placeholder 2">
            <a:extLst>
              <a:ext uri="{FF2B5EF4-FFF2-40B4-BE49-F238E27FC236}">
                <a16:creationId xmlns:a16="http://schemas.microsoft.com/office/drawing/2014/main" id="{BF169611-0076-FC6D-A24D-B5679EAF4DC1}"/>
              </a:ext>
            </a:extLst>
          </p:cNvPr>
          <p:cNvSpPr>
            <a:spLocks noGrp="1"/>
          </p:cNvSpPr>
          <p:nvPr>
            <p:ph type="sldNum" sz="quarter" idx="12"/>
          </p:nvPr>
        </p:nvSpPr>
        <p:spPr/>
        <p:txBody>
          <a:bodyPr/>
          <a:lstStyle/>
          <a:p>
            <a:fld id="{5E212BD6-99D2-4430-8307-3DFF6CB1AF68}" type="slidenum">
              <a:rPr lang="en-US" smtClean="0"/>
              <a:t>14</a:t>
            </a:fld>
            <a:endParaRPr lang="en-US"/>
          </a:p>
        </p:txBody>
      </p:sp>
      <p:graphicFrame>
        <p:nvGraphicFramePr>
          <p:cNvPr id="15" name="Table 14">
            <a:extLst>
              <a:ext uri="{FF2B5EF4-FFF2-40B4-BE49-F238E27FC236}">
                <a16:creationId xmlns:a16="http://schemas.microsoft.com/office/drawing/2014/main" id="{8508F7C2-ADCA-7744-5192-1DD0DD812A10}"/>
              </a:ext>
            </a:extLst>
          </p:cNvPr>
          <p:cNvGraphicFramePr>
            <a:graphicFrameLocks noGrp="1"/>
          </p:cNvGraphicFramePr>
          <p:nvPr>
            <p:extLst>
              <p:ext uri="{D42A27DB-BD31-4B8C-83A1-F6EECF244321}">
                <p14:modId xmlns:p14="http://schemas.microsoft.com/office/powerpoint/2010/main" val="3277506130"/>
              </p:ext>
            </p:extLst>
          </p:nvPr>
        </p:nvGraphicFramePr>
        <p:xfrm>
          <a:off x="539763" y="961859"/>
          <a:ext cx="5595779" cy="5688020"/>
        </p:xfrm>
        <a:graphic>
          <a:graphicData uri="http://schemas.openxmlformats.org/drawingml/2006/table">
            <a:tbl>
              <a:tblPr firstRow="1" bandRow="1">
                <a:tableStyleId>{C083E6E3-FA7D-4D7B-A595-EF9225AFEA82}</a:tableStyleId>
              </a:tblPr>
              <a:tblGrid>
                <a:gridCol w="1551806">
                  <a:extLst>
                    <a:ext uri="{9D8B030D-6E8A-4147-A177-3AD203B41FA5}">
                      <a16:colId xmlns:a16="http://schemas.microsoft.com/office/drawing/2014/main" val="3246856301"/>
                    </a:ext>
                  </a:extLst>
                </a:gridCol>
                <a:gridCol w="1370688">
                  <a:extLst>
                    <a:ext uri="{9D8B030D-6E8A-4147-A177-3AD203B41FA5}">
                      <a16:colId xmlns:a16="http://schemas.microsoft.com/office/drawing/2014/main" val="4231977322"/>
                    </a:ext>
                  </a:extLst>
                </a:gridCol>
                <a:gridCol w="1335741">
                  <a:extLst>
                    <a:ext uri="{9D8B030D-6E8A-4147-A177-3AD203B41FA5}">
                      <a16:colId xmlns:a16="http://schemas.microsoft.com/office/drawing/2014/main" val="688701947"/>
                    </a:ext>
                  </a:extLst>
                </a:gridCol>
                <a:gridCol w="1337544">
                  <a:extLst>
                    <a:ext uri="{9D8B030D-6E8A-4147-A177-3AD203B41FA5}">
                      <a16:colId xmlns:a16="http://schemas.microsoft.com/office/drawing/2014/main" val="4148251798"/>
                    </a:ext>
                  </a:extLst>
                </a:gridCol>
              </a:tblGrid>
              <a:tr h="328804">
                <a:tc>
                  <a:txBody>
                    <a:bodyPr/>
                    <a:lstStyle/>
                    <a:p>
                      <a:pPr algn="ctr" fontAlgn="b"/>
                      <a:r>
                        <a:rPr lang="en-US" sz="1100" b="1" i="0" u="none" strike="noStrike" dirty="0">
                          <a:solidFill>
                            <a:schemeClr val="tx1"/>
                          </a:solidFill>
                          <a:effectLst/>
                          <a:latin typeface="MULISH REGULAR ROMAN"/>
                        </a:rPr>
                        <a:t> Condition</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a:rPr>
                        <a:t>Percent of All 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fontAlgn="b"/>
                      <a:r>
                        <a:rPr lang="en-US" sz="1100" b="1" i="0" u="none" strike="noStrike" dirty="0">
                          <a:solidFill>
                            <a:schemeClr val="tx1"/>
                          </a:solidFill>
                          <a:effectLst/>
                          <a:latin typeface="MULISH REGULAR ROMAN"/>
                        </a:rPr>
                        <a:t>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dirty="0"/>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1885453"/>
                  </a:ext>
                </a:extLst>
              </a:tr>
              <a:tr h="238709">
                <a:tc rowSpan="7">
                  <a:txBody>
                    <a:bodyPr/>
                    <a:lstStyle/>
                    <a:p>
                      <a:pPr algn="ctr" fontAlgn="b"/>
                      <a:r>
                        <a:rPr lang="en-US" sz="1400" b="1" kern="1200" dirty="0">
                          <a:solidFill>
                            <a:schemeClr val="tx1"/>
                          </a:solidFill>
                          <a:effectLst/>
                          <a:latin typeface="MULISH REGULAR ROMAN"/>
                          <a:ea typeface="+mn-ea"/>
                          <a:cs typeface="+mn-cs"/>
                        </a:rPr>
                        <a:t>6-3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Sotomayor, Kagan, and Jackson </a:t>
                      </a:r>
                      <a:r>
                        <a:rPr lang="en-US" sz="1400" b="1" u="sng" kern="1200" dirty="0">
                          <a:solidFill>
                            <a:schemeClr val="tx1"/>
                          </a:solidFill>
                          <a:effectLst/>
                          <a:latin typeface="MULISH REGULAR ROMAN"/>
                          <a:ea typeface="+mn-ea"/>
                          <a:cs typeface="+mn-cs"/>
                        </a:rPr>
                        <a:t>dissenting </a:t>
                      </a:r>
                      <a:endParaRPr lang="en-US" sz="1400" b="1" i="0" u="sng" strike="noStrike" dirty="0">
                        <a:solidFill>
                          <a:schemeClr val="tx1"/>
                        </a:solidFill>
                        <a:effectLst/>
                        <a:latin typeface="MULISH REGULAR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9%</a:t>
                      </a: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Trump v. CASA</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1242377283"/>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Mahmoud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4883513"/>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Free Speech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333296706"/>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Medina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60591242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McLaughlin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732362404"/>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err="1">
                          <a:solidFill>
                            <a:srgbClr val="000000"/>
                          </a:solidFill>
                          <a:effectLst/>
                          <a:latin typeface="MULISH REGULAR ROMAN"/>
                        </a:rPr>
                        <a:t>Skrmetti</a:t>
                      </a:r>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41978098"/>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5397624"/>
                  </a:ext>
                </a:extLst>
              </a:tr>
              <a:tr h="0">
                <a:tc>
                  <a:txBody>
                    <a:bodyPr/>
                    <a:lstStyle/>
                    <a:p>
                      <a:pPr algn="ctr" fontAlgn="b"/>
                      <a:endParaRPr lang="en-US" sz="14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800" b="1" i="0" u="none" strike="noStrike" dirty="0">
                        <a:solidFill>
                          <a:schemeClr val="tx1"/>
                        </a:solidFill>
                        <a:effectLst/>
                        <a:latin typeface="MULISH REGULAR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18029873"/>
                  </a:ext>
                </a:extLst>
              </a:tr>
              <a:tr h="238709">
                <a:tc rowSpan="7">
                  <a:txBody>
                    <a:bodyPr/>
                    <a:lstStyle/>
                    <a:p>
                      <a:pPr algn="ctr"/>
                      <a:r>
                        <a:rPr lang="en-US" sz="1400" b="1" kern="1200" dirty="0">
                          <a:solidFill>
                            <a:schemeClr val="tx1"/>
                          </a:solidFill>
                          <a:effectLst/>
                          <a:latin typeface="MULISH REGULAR ROMAN"/>
                          <a:ea typeface="+mn-ea"/>
                          <a:cs typeface="+mn-cs"/>
                        </a:rPr>
                        <a:t>6-3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Thomas, Alito, Gorsuch </a:t>
                      </a:r>
                      <a:r>
                        <a:rPr lang="en-US" sz="1400" b="1" u="sng" kern="1200" dirty="0">
                          <a:solidFill>
                            <a:schemeClr val="tx1"/>
                          </a:solidFill>
                          <a:effectLst/>
                          <a:latin typeface="MULISH REGULAR ROMAN"/>
                          <a:ea typeface="+mn-ea"/>
                          <a:cs typeface="+mn-cs"/>
                        </a:rPr>
                        <a:t>dissenting </a:t>
                      </a:r>
                      <a:endParaRPr lang="en-US" sz="1400" b="1" u="sng" dirty="0">
                        <a:effectLst/>
                        <a:latin typeface="MULISH REGULAR ROMAN"/>
                      </a:endParaRPr>
                    </a:p>
                  </a:txBody>
                  <a:tcPr marL="3315" marR="3315" marT="3315" marB="0" anchor="ctr">
                    <a:lnT>
                      <a:noFill/>
                    </a:lnT>
                  </a:tcPr>
                </a:tc>
                <a:tc rowSpan="7">
                  <a:txBody>
                    <a:bodyPr/>
                    <a:lstStyle/>
                    <a:p>
                      <a:pPr algn="ctr" fontAlgn="b"/>
                      <a:r>
                        <a:rPr lang="en-US" sz="1400" b="0" i="0" u="none" strike="noStrike" dirty="0">
                          <a:solidFill>
                            <a:schemeClr val="tx1"/>
                          </a:solidFill>
                          <a:effectLst/>
                          <a:latin typeface="MULISH REGULAR ROMAN"/>
                        </a:rPr>
                        <a:t>6%</a:t>
                      </a:r>
                    </a:p>
                  </a:txBody>
                  <a:tcPr marL="3315" marR="3315" marT="3315" marB="0" anchor="ctr">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Kennedy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42394328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Consumers’ Research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381057661"/>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011103900"/>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NRC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48514159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32635498"/>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26747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dirty="0"/>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0611754"/>
                  </a:ext>
                </a:extLst>
              </a:tr>
              <a:tr h="162849">
                <a:tc>
                  <a:txBody>
                    <a:bodyPr/>
                    <a:lstStyle/>
                    <a:p>
                      <a:pPr algn="ctr" fontAlgn="b"/>
                      <a:endParaRPr lang="en-US" sz="1400" b="1" i="0" u="none" strike="noStrike" dirty="0">
                        <a:solidFill>
                          <a:schemeClr val="tx1"/>
                        </a:solidFill>
                        <a:effectLst/>
                        <a:latin typeface="MULISH REGULAR ROMAN"/>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3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16416733"/>
                  </a:ext>
                </a:extLst>
              </a:tr>
              <a:tr h="238709">
                <a:tc rowSpan="7">
                  <a:txBody>
                    <a:bodyPr/>
                    <a:lstStyle/>
                    <a:p>
                      <a:pPr algn="ctr" fontAlgn="b"/>
                      <a:r>
                        <a:rPr lang="en-US" sz="1400" b="1" kern="1200" dirty="0">
                          <a:solidFill>
                            <a:schemeClr val="tx1"/>
                          </a:solidFill>
                          <a:effectLst/>
                          <a:latin typeface="MULISH REGULAR ROMAN"/>
                          <a:ea typeface="+mn-ea"/>
                          <a:cs typeface="+mn-cs"/>
                        </a:rPr>
                        <a:t>Cases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Sotomayor, Kagan, and Jackson </a:t>
                      </a:r>
                      <a:br>
                        <a:rPr lang="en-US" sz="1400" b="1" kern="1200" dirty="0">
                          <a:solidFill>
                            <a:schemeClr val="tx1"/>
                          </a:solidFill>
                          <a:effectLst/>
                          <a:latin typeface="MULISH REGULAR ROMAN"/>
                          <a:ea typeface="+mn-ea"/>
                          <a:cs typeface="+mn-cs"/>
                        </a:rPr>
                      </a:br>
                      <a:r>
                        <a:rPr lang="en-US" sz="1400" b="1" u="sng" kern="1200" dirty="0">
                          <a:solidFill>
                            <a:schemeClr val="tx1"/>
                          </a:solidFill>
                          <a:effectLst/>
                          <a:latin typeface="MULISH REGULAR ROMAN"/>
                          <a:ea typeface="+mn-ea"/>
                          <a:cs typeface="+mn-cs"/>
                        </a:rPr>
                        <a:t>all in dissent</a:t>
                      </a:r>
                      <a:endParaRPr lang="en-US" sz="1400" b="1" i="0" u="sng"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6207869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Mahmoud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63836"/>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Free Speech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Riley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66762193"/>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5669722"/>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5427469"/>
                  </a:ext>
                </a:extLst>
              </a:tr>
              <a:tr h="207034">
                <a:tc vMerge="1">
                  <a:txBody>
                    <a:bodyPr/>
                    <a:lstStyle/>
                    <a:p>
                      <a:pPr algn="ctr" fontAlgn="b"/>
                      <a:endParaRPr lang="en-US" sz="11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err="1">
                          <a:solidFill>
                            <a:schemeClr val="tx1"/>
                          </a:solidFill>
                          <a:effectLst/>
                          <a:latin typeface="MULISH REGULAR ROMAN"/>
                        </a:rPr>
                        <a:t>Skrmetti</a:t>
                      </a:r>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99621928"/>
                  </a:ext>
                </a:extLst>
              </a:tr>
              <a:tr h="207034">
                <a:tc vMerge="1">
                  <a:txBody>
                    <a:bodyPr/>
                    <a:lstStyle/>
                    <a:p>
                      <a:pPr algn="ctr" fontAlgn="b"/>
                      <a:endParaRPr lang="en-US" sz="11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SF v. EPA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74753601"/>
                  </a:ext>
                </a:extLst>
              </a:tr>
            </a:tbl>
          </a:graphicData>
        </a:graphic>
      </p:graphicFrame>
      <p:graphicFrame>
        <p:nvGraphicFramePr>
          <p:cNvPr id="16" name="Table 15">
            <a:extLst>
              <a:ext uri="{FF2B5EF4-FFF2-40B4-BE49-F238E27FC236}">
                <a16:creationId xmlns:a16="http://schemas.microsoft.com/office/drawing/2014/main" id="{484FD5BE-05CF-144D-D37F-856016CFA329}"/>
              </a:ext>
            </a:extLst>
          </p:cNvPr>
          <p:cNvGraphicFramePr>
            <a:graphicFrameLocks noGrp="1"/>
          </p:cNvGraphicFramePr>
          <p:nvPr>
            <p:extLst>
              <p:ext uri="{D42A27DB-BD31-4B8C-83A1-F6EECF244321}">
                <p14:modId xmlns:p14="http://schemas.microsoft.com/office/powerpoint/2010/main" val="1286605128"/>
              </p:ext>
            </p:extLst>
          </p:nvPr>
        </p:nvGraphicFramePr>
        <p:xfrm>
          <a:off x="6135542" y="961858"/>
          <a:ext cx="5735608" cy="2000672"/>
        </p:xfrm>
        <a:graphic>
          <a:graphicData uri="http://schemas.openxmlformats.org/drawingml/2006/table">
            <a:tbl>
              <a:tblPr firstRow="1" bandRow="1">
                <a:tableStyleId>{C083E6E3-FA7D-4D7B-A595-EF9225AFEA82}</a:tableStyleId>
              </a:tblPr>
              <a:tblGrid>
                <a:gridCol w="1590583">
                  <a:extLst>
                    <a:ext uri="{9D8B030D-6E8A-4147-A177-3AD203B41FA5}">
                      <a16:colId xmlns:a16="http://schemas.microsoft.com/office/drawing/2014/main" val="1190599403"/>
                    </a:ext>
                  </a:extLst>
                </a:gridCol>
                <a:gridCol w="1404939">
                  <a:extLst>
                    <a:ext uri="{9D8B030D-6E8A-4147-A177-3AD203B41FA5}">
                      <a16:colId xmlns:a16="http://schemas.microsoft.com/office/drawing/2014/main" val="1661115979"/>
                    </a:ext>
                  </a:extLst>
                </a:gridCol>
                <a:gridCol w="1422275">
                  <a:extLst>
                    <a:ext uri="{9D8B030D-6E8A-4147-A177-3AD203B41FA5}">
                      <a16:colId xmlns:a16="http://schemas.microsoft.com/office/drawing/2014/main" val="661123820"/>
                    </a:ext>
                  </a:extLst>
                </a:gridCol>
                <a:gridCol w="1317811">
                  <a:extLst>
                    <a:ext uri="{9D8B030D-6E8A-4147-A177-3AD203B41FA5}">
                      <a16:colId xmlns:a16="http://schemas.microsoft.com/office/drawing/2014/main" val="2206763275"/>
                    </a:ext>
                  </a:extLst>
                </a:gridCol>
              </a:tblGrid>
              <a:tr h="328953">
                <a:tc>
                  <a:txBody>
                    <a:bodyPr/>
                    <a:lstStyle/>
                    <a:p>
                      <a:pPr algn="ctr" fontAlgn="b"/>
                      <a:r>
                        <a:rPr lang="en-US" sz="1100" b="1" i="0" u="none" strike="noStrike" dirty="0">
                          <a:solidFill>
                            <a:schemeClr val="tx1"/>
                          </a:solidFill>
                          <a:effectLst/>
                          <a:latin typeface="MULISH REGULAR ROMAN"/>
                        </a:rPr>
                        <a:t> Condition</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a:rPr>
                        <a:t>Percent of All 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fontAlgn="b"/>
                      <a:r>
                        <a:rPr lang="en-US" sz="1100" b="1" i="0" u="none" strike="noStrike" dirty="0">
                          <a:solidFill>
                            <a:schemeClr val="tx1"/>
                          </a:solidFill>
                          <a:effectLst/>
                          <a:latin typeface="MULISH REGULAR ROMAN"/>
                        </a:rPr>
                        <a:t>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dirty="0"/>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873646"/>
                  </a:ext>
                </a:extLst>
              </a:tr>
              <a:tr h="238817">
                <a:tc rowSpan="7">
                  <a:txBody>
                    <a:bodyPr/>
                    <a:lstStyle/>
                    <a:p>
                      <a:pPr algn="ctr" fontAlgn="b"/>
                      <a:r>
                        <a:rPr lang="en-US" sz="1400" b="1" kern="1200" dirty="0">
                          <a:solidFill>
                            <a:schemeClr val="tx1"/>
                          </a:solidFill>
                          <a:effectLst/>
                          <a:latin typeface="MULISH REGULAR ROMAN"/>
                          <a:ea typeface="+mn-ea"/>
                          <a:cs typeface="+mn-cs"/>
                        </a:rPr>
                        <a:t>Cases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three or more conservative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a:t>
                      </a:r>
                      <a:br>
                        <a:rPr lang="en-US" sz="1400" b="1" kern="1200" dirty="0">
                          <a:solidFill>
                            <a:schemeClr val="tx1"/>
                          </a:solidFill>
                          <a:effectLst/>
                          <a:latin typeface="MULISH REGULAR ROMAN"/>
                          <a:ea typeface="+mn-ea"/>
                          <a:cs typeface="+mn-cs"/>
                        </a:rPr>
                      </a:br>
                      <a:r>
                        <a:rPr lang="en-US" sz="1400" b="1" u="sng" kern="1200" dirty="0">
                          <a:solidFill>
                            <a:schemeClr val="tx1"/>
                          </a:solidFill>
                          <a:effectLst/>
                          <a:latin typeface="MULISH REGULAR ROMAN"/>
                          <a:ea typeface="+mn-ea"/>
                          <a:cs typeface="+mn-cs"/>
                        </a:rPr>
                        <a:t>dissenting</a:t>
                      </a:r>
                      <a:endParaRPr lang="en-US" sz="1400" b="1" i="0" u="sng" strike="noStrike" dirty="0">
                        <a:solidFill>
                          <a:schemeClr val="tx1"/>
                        </a:solidFill>
                        <a:effectLst/>
                        <a:latin typeface="MULISH REGULAR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15%</a:t>
                      </a: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Kennedy</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Perttu</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602973403"/>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Consumers’ Research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Hewitt</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38792617"/>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Gutierrez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777167640"/>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105960563"/>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288616544"/>
                  </a:ext>
                </a:extLst>
              </a:tr>
              <a:tr h="238817">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759771086"/>
                  </a:ext>
                </a:extLst>
              </a:tr>
              <a:tr h="238817">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30649792"/>
                  </a:ext>
                </a:extLst>
              </a:tr>
            </a:tbl>
          </a:graphicData>
        </a:graphic>
      </p:graphicFrame>
    </p:spTree>
    <p:extLst>
      <p:ext uri="{BB962C8B-B14F-4D97-AF65-F5344CB8AC3E}">
        <p14:creationId xmlns:p14="http://schemas.microsoft.com/office/powerpoint/2010/main" val="21330339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8" name="Picture 7" descr="A group of pie charts&#10;&#10;AI-generated content may be incorrect.">
            <a:extLst>
              <a:ext uri="{FF2B5EF4-FFF2-40B4-BE49-F238E27FC236}">
                <a16:creationId xmlns:a16="http://schemas.microsoft.com/office/drawing/2014/main" id="{F0FBB714-B724-DDF3-050B-9979C1003F8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9" name="Picture 8" descr="A diagram of a pie chart&#10;&#10;AI-generated content may be incorrect.">
            <a:extLst>
              <a:ext uri="{FF2B5EF4-FFF2-40B4-BE49-F238E27FC236}">
                <a16:creationId xmlns:a16="http://schemas.microsoft.com/office/drawing/2014/main" id="{590383DD-6158-C48D-700A-1AB2387E908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056959863"/>
              </p:ext>
            </p:extLst>
          </p:nvPr>
        </p:nvGraphicFramePr>
        <p:xfrm>
          <a:off x="344807" y="918414"/>
          <a:ext cx="10648855" cy="4872780"/>
        </p:xfrm>
        <a:graphic>
          <a:graphicData uri="http://schemas.openxmlformats.org/drawingml/2006/table">
            <a:tbl>
              <a:tblPr firstRow="1" bandRow="1">
                <a:tableStyleId>{C083E6E3-FA7D-4D7B-A595-EF9225AFEA82}</a:tableStyleId>
              </a:tblPr>
              <a:tblGrid>
                <a:gridCol w="1521265">
                  <a:extLst>
                    <a:ext uri="{9D8B030D-6E8A-4147-A177-3AD203B41FA5}">
                      <a16:colId xmlns:a16="http://schemas.microsoft.com/office/drawing/2014/main" val="20000"/>
                    </a:ext>
                  </a:extLst>
                </a:gridCol>
                <a:gridCol w="1521265">
                  <a:extLst>
                    <a:ext uri="{9D8B030D-6E8A-4147-A177-3AD203B41FA5}">
                      <a16:colId xmlns:a16="http://schemas.microsoft.com/office/drawing/2014/main" val="20001"/>
                    </a:ext>
                  </a:extLst>
                </a:gridCol>
                <a:gridCol w="1521265">
                  <a:extLst>
                    <a:ext uri="{9D8B030D-6E8A-4147-A177-3AD203B41FA5}">
                      <a16:colId xmlns:a16="http://schemas.microsoft.com/office/drawing/2014/main" val="1275153510"/>
                    </a:ext>
                  </a:extLst>
                </a:gridCol>
                <a:gridCol w="1521265">
                  <a:extLst>
                    <a:ext uri="{9D8B030D-6E8A-4147-A177-3AD203B41FA5}">
                      <a16:colId xmlns:a16="http://schemas.microsoft.com/office/drawing/2014/main" val="20004"/>
                    </a:ext>
                  </a:extLst>
                </a:gridCol>
                <a:gridCol w="1521265">
                  <a:extLst>
                    <a:ext uri="{9D8B030D-6E8A-4147-A177-3AD203B41FA5}">
                      <a16:colId xmlns:a16="http://schemas.microsoft.com/office/drawing/2014/main" val="20005"/>
                    </a:ext>
                  </a:extLst>
                </a:gridCol>
                <a:gridCol w="1521265">
                  <a:extLst>
                    <a:ext uri="{9D8B030D-6E8A-4147-A177-3AD203B41FA5}">
                      <a16:colId xmlns:a16="http://schemas.microsoft.com/office/drawing/2014/main" val="20006"/>
                    </a:ext>
                  </a:extLst>
                </a:gridCol>
                <a:gridCol w="1521265">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US" sz="1100" b="1" kern="1200" dirty="0">
                          <a:effectLst/>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a:t>
                      </a:r>
                      <a:r>
                        <a:rPr lang="en-US" sz="1100" b="0" kern="1200" baseline="30000" dirty="0">
                          <a:effectLst/>
                          <a:latin typeface="MULISH REGULAR ROMAN"/>
                        </a:rPr>
                        <a:t>nd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a:t>
                      </a:r>
                      <a:r>
                        <a:rPr lang="en-US" sz="1100" b="0" kern="1200" baseline="30000" dirty="0">
                          <a:effectLst/>
                          <a:latin typeface="MULISH REGULAR ROMAN"/>
                        </a:rPr>
                        <a:t>rd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a:t>
                      </a:r>
                      <a:r>
                        <a:rPr lang="en-US" sz="1100" b="0" kern="1200" baseline="30000" dirty="0">
                          <a:effectLst/>
                          <a:latin typeface="MULISH REGULAR ROMAN"/>
                        </a:rPr>
                        <a:t>th</a:t>
                      </a:r>
                      <a:r>
                        <a:rPr lang="en-US" sz="1100" b="0" kern="1200" dirty="0">
                          <a:effectLst/>
                          <a:latin typeface="MULISH REGULAR ROMAN"/>
                        </a:rPr>
                        <a:t> </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10</a:t>
                      </a:r>
                    </a:p>
                  </a:txBody>
                  <a:tcPr marL="9525" marR="9525" marT="9525" marB="0" anchor="ctr"/>
                </a:tc>
                <a:tc>
                  <a:txBody>
                    <a:bodyPr/>
                    <a:lstStyle/>
                    <a:p>
                      <a:pPr algn="ctr" fontAlgn="b"/>
                      <a:r>
                        <a:rPr lang="en-US" sz="1100" b="0" i="0" u="none" strike="noStrike">
                          <a:solidFill>
                            <a:srgbClr val="000000"/>
                          </a:solidFill>
                          <a:effectLst/>
                          <a:latin typeface="MULISH REGULAR ROMAN"/>
                        </a:rPr>
                        <a:t>23.1%</a:t>
                      </a:r>
                    </a:p>
                  </a:txBody>
                  <a:tcPr marL="9525" marR="9525" marT="9525" marB="0" anchor="ctr"/>
                </a:tc>
                <a:tc>
                  <a:txBody>
                    <a:bodyPr/>
                    <a:lstStyle/>
                    <a:p>
                      <a:pPr algn="ctr" fontAlgn="b"/>
                      <a:r>
                        <a:rPr lang="en-US" sz="1100" b="0" i="0" u="none" strike="noStrike">
                          <a:solidFill>
                            <a:srgbClr val="000000"/>
                          </a:solidFill>
                          <a:effectLst/>
                          <a:latin typeface="MULISH REGULAR ROMAN"/>
                        </a:rPr>
                        <a:t>76.9%</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7*</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33.3%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dirty="0">
                          <a:effectLst/>
                          <a:latin typeface="MULISH REGULAR ROMAN" pitchFamily="2" charset="77"/>
                        </a:rPr>
                        <a:t>62</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59</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15</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44</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47" y="6003935"/>
            <a:ext cx="10672816" cy="738664"/>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the same lower court as single entries. Alternatively, we treat </a:t>
            </a:r>
            <a:r>
              <a:rPr lang="en-US" sz="1050" i="1" dirty="0">
                <a:latin typeface="MULISH BLACK ROMAN"/>
                <a:cs typeface="Calibri" panose="020F0502020204030204"/>
              </a:rPr>
              <a:t>Trump v. CASA</a:t>
            </a:r>
            <a:r>
              <a:rPr lang="en-US" sz="1050" dirty="0">
                <a:latin typeface="MULISH BLACK ROMAN"/>
                <a:cs typeface="Calibri" panose="020F0502020204030204"/>
              </a:rPr>
              <a:t> as three separate entries that reversed the U.S. Courts of Appeal for the First, Fourth, and Ninth Circuits. </a:t>
            </a:r>
          </a:p>
          <a:p>
            <a:endParaRPr lang="en-US" sz="1050" dirty="0">
              <a:latin typeface="MULISH BLACK ROMAN"/>
              <a:cs typeface="Calibri" panose="020F0502020204030204"/>
            </a:endParaRPr>
          </a:p>
          <a:p>
            <a:r>
              <a:rPr lang="en-US" sz="1050" dirty="0">
                <a:latin typeface="MULISH BLACK ROMAN"/>
                <a:cs typeface="Calibri" panose="020F0502020204030204"/>
              </a:rPr>
              <a:t>* Three cases from the U.S. Court of Appeals for the Ninth Circuit were dismissed as improvidently granted and are not recorded as having been affirmed or reversed.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17</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825569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1537620183"/>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107.67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93.83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91.67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109.29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124.86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102.2</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18</a:t>
            </a:fld>
            <a:endParaRPr lang="en-US"/>
          </a:p>
        </p:txBody>
      </p:sp>
      <p:pic>
        <p:nvPicPr>
          <p:cNvPr id="4" name="Picture 3" descr="A graph with numbers and lines&#10;&#10;AI-generated content may be incorrect.">
            <a:extLst>
              <a:ext uri="{FF2B5EF4-FFF2-40B4-BE49-F238E27FC236}">
                <a16:creationId xmlns:a16="http://schemas.microsoft.com/office/drawing/2014/main" id="{0AC436F4-A748-447E-D11E-96635A4580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72253"/>
            <a:ext cx="5252900" cy="315174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182959336"/>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2249456028"/>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20</a:t>
            </a:fld>
            <a:endParaRPr lang="en-US"/>
          </a:p>
        </p:txBody>
      </p:sp>
    </p:spTree>
    <p:extLst>
      <p:ext uri="{BB962C8B-B14F-4D97-AF65-F5344CB8AC3E}">
        <p14:creationId xmlns:p14="http://schemas.microsoft.com/office/powerpoint/2010/main" val="444612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21</a:t>
            </a:fld>
            <a:endParaRPr lang="en-US"/>
          </a:p>
        </p:txBody>
      </p:sp>
      <p:pic>
        <p:nvPicPr>
          <p:cNvPr id="8" name="Picture 7" descr="A graph with multiple colored squares&#10;&#10;AI-generated content may be incorrect.">
            <a:extLst>
              <a:ext uri="{FF2B5EF4-FFF2-40B4-BE49-F238E27FC236}">
                <a16:creationId xmlns:a16="http://schemas.microsoft.com/office/drawing/2014/main" id="{2BC38A5D-F62B-1370-6167-ABC0061D04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1792899122"/>
              </p:ext>
            </p:extLst>
          </p:nvPr>
        </p:nvGraphicFramePr>
        <p:xfrm>
          <a:off x="0" y="792698"/>
          <a:ext cx="12192000" cy="5429545"/>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Gorsuch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14,200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14,100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Trump v. CASA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≈13,800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Kennedy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≈12,100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Mahmoud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≈11,900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MULISH BLACK ROMAN"/>
                          <a:ea typeface="+mn-ea"/>
                          <a:cs typeface="+mn-cs"/>
                        </a:rPr>
                        <a:t>06/27/2025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Trump v. CASA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Barrett; Jackson; Kavanaugh;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35,200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Barrett; Kagan; Roberts;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30,400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6/18/2025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Mahmoud</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≈26,000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Barrett;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≈25,000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2/25/2025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Consumers’ Research</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Gorsuch; Jackson; Kagan;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≈24,000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5787724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4122474312"/>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4,1</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3,900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3,800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15" name="Picture 14" descr="A graph of different types of graphs&#10;&#10;AI-generated content may be incorrect.">
            <a:extLst>
              <a:ext uri="{FF2B5EF4-FFF2-40B4-BE49-F238E27FC236}">
                <a16:creationId xmlns:a16="http://schemas.microsoft.com/office/drawing/2014/main" id="{3E2AEDC9-351B-539F-B512-F1047330A4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6280420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24</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57712" y="6275365"/>
            <a:ext cx="10515599" cy="600164"/>
          </a:xfrm>
          <a:prstGeom prst="rect">
            <a:avLst/>
          </a:prstGeom>
          <a:noFill/>
        </p:spPr>
        <p:txBody>
          <a:bodyPr wrap="square" rtlCol="0">
            <a:spAutoFit/>
          </a:bodyPr>
          <a:lstStyle/>
          <a:p>
            <a:r>
              <a:rPr lang="en-US" sz="1100" dirty="0">
                <a:latin typeface="MULISH BLACK ROMAN"/>
              </a:rPr>
              <a:t>*  Justices Thomas and Gorsuch would vote to grant the petition and set the case for argument.</a:t>
            </a:r>
          </a:p>
          <a:p>
            <a:r>
              <a:rPr lang="en-US" sz="1100" dirty="0">
                <a:latin typeface="MULISH BLACK ROMAN"/>
              </a:rPr>
              <a:t>** Justice Barrett joined the majority but only with respect to Part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5294745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a:ln>
            <a:noFill/>
          </a:ln>
        </p:spPr>
        <p:txBody>
          <a:bodyPr wrap="square" rtlCol="0">
            <a:spAutoFit/>
          </a:bodyPr>
          <a:lstStyle/>
          <a:p>
            <a:r>
              <a:rPr lang="en-US" sz="1100" dirty="0">
                <a:latin typeface="MULISH BLACK ROMAN"/>
              </a:rPr>
              <a:t>* Chief Justice Roberts would have voted to deny the application.</a:t>
            </a:r>
            <a:br>
              <a:rPr lang="en-US" sz="1100" dirty="0">
                <a:latin typeface="MULISH BLACK ROMAN"/>
              </a:rPr>
            </a:br>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25</a:t>
            </a:fld>
            <a:endParaRPr lang="en-US" dirty="0"/>
          </a:p>
        </p:txBody>
      </p:sp>
    </p:spTree>
    <p:extLst>
      <p:ext uri="{BB962C8B-B14F-4D97-AF65-F5344CB8AC3E}">
        <p14:creationId xmlns:p14="http://schemas.microsoft.com/office/powerpoint/2010/main" val="3374246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674966693"/>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no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1610198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276664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Hewitt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(5-4)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Medina</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0" i="0" u="none" strike="noStrike" noProof="0" dirty="0">
                          <a:effectLst/>
                          <a:latin typeface="MULISH REGULAR ROMAN" pitchFamily="2" charset="77"/>
                        </a:rPr>
                        <a:t>Gutierrez</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Furthermore, although Justice Sotomayor joined Justice Jackson’s dissent with respect to elements of Parts III and IV, she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C1F16-5A3E-F6DB-8734-F2DA2300600D}"/>
            </a:ext>
          </a:extLst>
        </p:cNvPr>
        <p:cNvGrpSpPr/>
        <p:nvPr/>
      </p:nvGrpSpPr>
      <p:grpSpPr>
        <a:xfrm>
          <a:off x="0" y="0"/>
          <a:ext cx="0" cy="0"/>
          <a:chOff x="0" y="0"/>
          <a:chExt cx="0" cy="0"/>
        </a:xfrm>
      </p:grpSpPr>
      <p:sp>
        <p:nvSpPr>
          <p:cNvPr id="5" name="Title 9">
            <a:extLst>
              <a:ext uri="{FF2B5EF4-FFF2-40B4-BE49-F238E27FC236}">
                <a16:creationId xmlns:a16="http://schemas.microsoft.com/office/drawing/2014/main" id="{61BB18CB-10A4-D734-CF1F-45CF69BD107E}"/>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A656CF48-091D-9B51-CB81-1A057A5F9DE2}"/>
              </a:ext>
            </a:extLst>
          </p:cNvPr>
          <p:cNvGraphicFramePr>
            <a:graphicFrameLocks noGrp="1"/>
          </p:cNvGraphicFramePr>
          <p:nvPr>
            <p:extLst>
              <p:ext uri="{D42A27DB-BD31-4B8C-83A1-F6EECF244321}">
                <p14:modId xmlns:p14="http://schemas.microsoft.com/office/powerpoint/2010/main" val="1048521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Riley</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06/26/2025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Trump v. CASA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Kennedy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Consumers’ Research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Mahmoud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Free Speech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81583391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05721243"/>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248342504"/>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05152479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21990833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5816003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937818E2-E095-5285-A815-C00B3B21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AAE59901-2801-5AAB-7510-1ED226327E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F6F74547-0150-0EFE-6C00-00FAA76C0B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A6D0ECCB-F81B-7E9B-41C5-7C6B86D15F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7517C51E-9457-C0C0-42C9-F56983B2A65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8BAA772D-CDE7-B803-FAB4-EC649546370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FD1AD885-9327-16CB-2E34-CC268609512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4E8B2092-89F8-3905-ECFD-56947315717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52A4609D-F6AB-1800-BB8F-37E9AE3C0B81}"/>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B60AE888-DE28-69D1-35CD-0E479950E933}"/>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B1EF2CEF-F517-9FC4-CDD4-F82229572DF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EA8CE1-ADDD-F482-146D-8A3BB0B07B57}"/>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ADCEE80-3603-E63B-A8E8-336C92E62E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7EABED-5287-C026-2C34-24AEC6C469E1}"/>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75D18796-EDE1-101A-B6DD-0208D20CFC11}"/>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8937854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794408230"/>
              </p:ext>
            </p:extLst>
          </p:nvPr>
        </p:nvGraphicFramePr>
        <p:xfrm>
          <a:off x="304798" y="765228"/>
          <a:ext cx="11492146" cy="5915822"/>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SCAL</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CA8</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CCAOK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CA11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CAFED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CA9</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165d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r>
                        <a:rPr lang="en-US" sz="900" b="0" i="0" u="none" strike="noStrike" noProof="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123d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gridSpan="5">
                  <a:txBody>
                    <a:bodyPr/>
                    <a:lstStyle/>
                    <a:p>
                      <a:pPr marL="0" algn="l" rtl="0" eaLnBrk="1" fontAlgn="base" latinLnBrk="0" hangingPunct="1">
                        <a:spcBef>
                          <a:spcPts val="0"/>
                        </a:spcBef>
                        <a:spcAft>
                          <a:spcPts val="0"/>
                        </a:spcAft>
                      </a:pPr>
                      <a:r>
                        <a:rPr lang="en-US" sz="900" i="1" dirty="0">
                          <a:effectLst/>
                          <a:latin typeface="MULISH REGULAR ROMAN" pitchFamily="2" charset="77"/>
                        </a:rPr>
                        <a:t>Slated for </a:t>
                      </a:r>
                      <a:r>
                        <a:rPr lang="en-US" sz="900" i="1" dirty="0" err="1">
                          <a:effectLst/>
                          <a:latin typeface="MULISH REGULAR ROMAN" pitchFamily="2" charset="77"/>
                        </a:rPr>
                        <a:t>reargument</a:t>
                      </a:r>
                      <a:endParaRPr lang="en-US" sz="900" i="1"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5-4</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95d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6-3</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94d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Gorsuch</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6-3</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68d</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56</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67d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66</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0</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67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BLACK ROMAN"/>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r>
                        <a:rPr lang="en-US" sz="900" dirty="0">
                          <a:latin typeface="MULISH BLACK ROMAN"/>
                        </a:rPr>
                        <a:t>Barrett</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6-3</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44d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35571</TotalTime>
  <Words>5083</Words>
  <Application>Microsoft Office PowerPoint</Application>
  <PresentationFormat>Widescreen</PresentationFormat>
  <Paragraphs>1784</Paragraphs>
  <Slides>29</Slides>
  <Notes>14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29</vt:i4>
      </vt:variant>
    </vt:vector>
  </HeadingPairs>
  <TitlesOfParts>
    <vt:vector size="41" baseType="lpstr">
      <vt:lpstr>Aptos</vt:lpstr>
      <vt:lpstr>Arial</vt:lpstr>
      <vt:lpstr>Calibri</vt:lpstr>
      <vt:lpstr>Calibri Light</vt:lpstr>
      <vt:lpstr>Helvetica</vt:lpstr>
      <vt:lpstr>MULISH BLACK ROMAN</vt:lpstr>
      <vt:lpstr>MULISH BOLD ROMAN</vt:lpstr>
      <vt:lpstr>MULISH EXTRABOLD ROMAN</vt:lpstr>
      <vt:lpstr>MULISH ITALIC</vt:lpstr>
      <vt:lpstr>MULISH REGULAR ROMAN</vt:lpstr>
      <vt:lpstr>MULISH SEMIBOLD ROMAN</vt:lpstr>
      <vt:lpstr>Office Theme</vt:lpstr>
      <vt:lpstr>Final Stat Pack for the 2024-25 term  Updated July 2, 2025  </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569</cp:revision>
  <cp:lastPrinted>2019-06-28T21:02:00Z</cp:lastPrinted>
  <dcterms:created xsi:type="dcterms:W3CDTF">2019-02-07T19:44:00Z</dcterms:created>
  <dcterms:modified xsi:type="dcterms:W3CDTF">2025-07-02T14:33:36Z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