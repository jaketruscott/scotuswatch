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handoutMasterIdLst>
    <p:handoutMasterId r:id="rId30"/>
  </p:handoutMasterIdLst>
  <p:sldIdLst>
    <p:sldId id="392" r:id="rId2"/>
    <p:sldId id="269" r:id="rId3"/>
    <p:sldId id="393" r:id="rId4"/>
    <p:sldId id="391" r:id="rId5"/>
    <p:sldId id="345" r:id="rId6"/>
    <p:sldId id="411" r:id="rId7"/>
    <p:sldId id="404" r:id="rId8"/>
    <p:sldId id="395" r:id="rId9"/>
    <p:sldId id="407" r:id="rId10"/>
    <p:sldId id="396" r:id="rId11"/>
    <p:sldId id="413" r:id="rId12"/>
    <p:sldId id="324" r:id="rId13"/>
    <p:sldId id="383" r:id="rId14"/>
    <p:sldId id="340" r:id="rId15"/>
    <p:sldId id="406" r:id="rId16"/>
    <p:sldId id="381" r:id="rId17"/>
    <p:sldId id="390" r:id="rId18"/>
    <p:sldId id="299" r:id="rId19"/>
    <p:sldId id="414" r:id="rId20"/>
    <p:sldId id="343" r:id="rId21"/>
    <p:sldId id="412" r:id="rId22"/>
    <p:sldId id="415" r:id="rId23"/>
    <p:sldId id="398" r:id="rId24"/>
    <p:sldId id="399" r:id="rId25"/>
    <p:sldId id="400" r:id="rId26"/>
    <p:sldId id="401" r:id="rId27"/>
    <p:sldId id="402" r:id="rId28"/>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413"/>
            <p14:sldId id="324"/>
            <p14:sldId id="383"/>
            <p14:sldId id="340"/>
            <p14:sldId id="406"/>
            <p14:sldId id="381"/>
            <p14:sldId id="390"/>
            <p14:sldId id="299"/>
            <p14:sldId id="414"/>
            <p14:sldId id="343"/>
            <p14:sldId id="412"/>
            <p14:sldId id="415"/>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D0CECE"/>
    <a:srgbClr val="FFFFFF"/>
    <a:srgbClr val="5B9BD5"/>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509" autoAdjust="0"/>
    <p:restoredTop sz="93220" autoAdjust="0"/>
  </p:normalViewPr>
  <p:slideViewPr>
    <p:cSldViewPr snapToGrid="0">
      <p:cViewPr varScale="1">
        <p:scale>
          <a:sx n="107" d="100"/>
          <a:sy n="107" d="100"/>
        </p:scale>
        <p:origin x="984" y="90"/>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6/25/2025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6/25/2025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18</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23</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6/25/2025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25,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3038072216"/>
              </p:ext>
            </p:extLst>
          </p:nvPr>
        </p:nvGraphicFramePr>
        <p:xfrm>
          <a:off x="304800" y="923675"/>
          <a:ext cx="11582400" cy="45864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Slip Opinions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both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pic>
        <p:nvPicPr>
          <p:cNvPr id="4" name="Picture 3" descr="A graph of different colored bars&#10;&#10;AI-generated content may be incorrect.">
            <a:extLst>
              <a:ext uri="{FF2B5EF4-FFF2-40B4-BE49-F238E27FC236}">
                <a16:creationId xmlns:a16="http://schemas.microsoft.com/office/drawing/2014/main" id="{44D944BA-EF59-698C-394E-6C045890761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88887" y="896353"/>
            <a:ext cx="8512368" cy="5107420"/>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SLIP OPINIONS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SLIP OPINIONS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816042712"/>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Velazquez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dirty="0">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dirty="0">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Misleading vs. false statements under §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dirty="0">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4" name="Picture 3" descr="A graph with numbers and lines&#10;&#10;AI-generated content may be incorrect.">
            <a:extLst>
              <a:ext uri="{FF2B5EF4-FFF2-40B4-BE49-F238E27FC236}">
                <a16:creationId xmlns:a16="http://schemas.microsoft.com/office/drawing/2014/main" id="{775B23DA-1943-A23F-0A51-83AA2A27EC4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7"/>
            <a:ext cx="9144018" cy="5486410"/>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a:t>
            </a:r>
            <a:r>
              <a:rPr lang="en-US" sz="1200" i="1" dirty="0">
                <a:latin typeface="MULISH REGULAR ROMAN"/>
              </a:rPr>
              <a:t>per </a:t>
            </a:r>
            <a:r>
              <a:rPr lang="en-US" sz="1200" i="1" dirty="0" err="1">
                <a:latin typeface="MULISH REGULAR ROMAN"/>
              </a:rPr>
              <a:t>curiam</a:t>
            </a:r>
            <a:r>
              <a:rPr lang="en-US" sz="1200" i="1" dirty="0">
                <a:latin typeface="MULISH REGULAR ROMAN"/>
              </a:rPr>
              <a:t>, </a:t>
            </a:r>
            <a:r>
              <a:rPr lang="en-US" sz="1200" dirty="0">
                <a:latin typeface="MULISH REGULAR ROMAN"/>
              </a:rPr>
              <a:t>or </a:t>
            </a:r>
            <a:r>
              <a:rPr lang="en-US" sz="1200" i="1" dirty="0">
                <a:latin typeface="MULISH REGULAR ROMAN"/>
              </a:rPr>
              <a:t>dismissed as improvidently granted</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4" name="Picture 3" descr="A group of people in a row&#10;&#10;AI-generated content may be incorrect.">
            <a:extLst>
              <a:ext uri="{FF2B5EF4-FFF2-40B4-BE49-F238E27FC236}">
                <a16:creationId xmlns:a16="http://schemas.microsoft.com/office/drawing/2014/main" id="{638A3B6A-F06F-747D-4B70-D115432E09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6" name="Picture 5" descr="A group of people in a row&#10;&#10;AI-generated content may be incorrect.">
            <a:extLst>
              <a:ext uri="{FF2B5EF4-FFF2-40B4-BE49-F238E27FC236}">
                <a16:creationId xmlns:a16="http://schemas.microsoft.com/office/drawing/2014/main" id="{C1337A06-A809-CD0A-B1EA-F8FA46FACA4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5" y="859611"/>
            <a:ext cx="8705777" cy="5223466"/>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4" name="Picture 3" descr="A group of people in a row&#10;&#10;AI-generated content may be incorrect.">
            <a:extLst>
              <a:ext uri="{FF2B5EF4-FFF2-40B4-BE49-F238E27FC236}">
                <a16:creationId xmlns:a16="http://schemas.microsoft.com/office/drawing/2014/main" id="{E08449B8-7565-FB23-1139-FBF5B27509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4" name="Picture 3" descr="A group of people in suits&#10;&#10;AI-generated content may be incorrect.">
            <a:extLst>
              <a:ext uri="{FF2B5EF4-FFF2-40B4-BE49-F238E27FC236}">
                <a16:creationId xmlns:a16="http://schemas.microsoft.com/office/drawing/2014/main" id="{E348DDEE-7CFF-53D9-B7D4-4A50D84F519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a graph&#10;&#10;AI-generated content may be incorrect.">
            <a:extLst>
              <a:ext uri="{FF2B5EF4-FFF2-40B4-BE49-F238E27FC236}">
                <a16:creationId xmlns:a16="http://schemas.microsoft.com/office/drawing/2014/main" id="{F51B0473-E402-9F49-E50C-D28F8EB26E2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0365079"/>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8.2</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186737818"/>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612656217"/>
              </p:ext>
            </p:extLst>
          </p:nvPr>
        </p:nvGraphicFramePr>
        <p:xfrm>
          <a:off x="4656536" y="4156187"/>
          <a:ext cx="6505995" cy="2513061"/>
        </p:xfrm>
        <a:graphic>
          <a:graphicData uri="http://schemas.openxmlformats.org/drawingml/2006/table">
            <a:tbl>
              <a:tblPr firstRow="1" bandRow="1">
                <a:tableStyleId>{C083E6E3-FA7D-4D7B-A595-EF9225AFEA82}</a:tableStyleId>
              </a:tblPr>
              <a:tblGrid>
                <a:gridCol w="1722841">
                  <a:extLst>
                    <a:ext uri="{9D8B030D-6E8A-4147-A177-3AD203B41FA5}">
                      <a16:colId xmlns:a16="http://schemas.microsoft.com/office/drawing/2014/main" val="20000"/>
                    </a:ext>
                  </a:extLst>
                </a:gridCol>
                <a:gridCol w="1167543">
                  <a:extLst>
                    <a:ext uri="{9D8B030D-6E8A-4147-A177-3AD203B41FA5}">
                      <a16:colId xmlns:a16="http://schemas.microsoft.com/office/drawing/2014/main" val="20001"/>
                    </a:ext>
                  </a:extLst>
                </a:gridCol>
                <a:gridCol w="3615611">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Laboratory Corp.</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2" name="TextBox 1">
            <a:extLst>
              <a:ext uri="{FF2B5EF4-FFF2-40B4-BE49-F238E27FC236}">
                <a16:creationId xmlns:a16="http://schemas.microsoft.com/office/drawing/2014/main" id="{9DE224FF-55AD-FCBC-8A44-28C5566A10DB}"/>
              </a:ext>
            </a:extLst>
          </p:cNvPr>
          <p:cNvSpPr txBox="1"/>
          <p:nvPr/>
        </p:nvSpPr>
        <p:spPr>
          <a:xfrm>
            <a:off x="6096000" y="345170"/>
            <a:ext cx="5066531" cy="400110"/>
          </a:xfrm>
          <a:prstGeom prst="rect">
            <a:avLst/>
          </a:prstGeom>
          <a:noFill/>
          <a:ln>
            <a:solidFill>
              <a:schemeClr val="tx1"/>
            </a:solidFill>
          </a:ln>
        </p:spPr>
        <p:txBody>
          <a:bodyPr wrap="square">
            <a:spAutoFit/>
          </a:bodyPr>
          <a:lstStyle/>
          <a:p>
            <a:r>
              <a:rPr lang="en-US" sz="1000" dirty="0"/>
              <a:t>Only cases with a signed majority opinion are included in this analysis – cases decided </a:t>
            </a:r>
            <a:r>
              <a:rPr lang="en-US" sz="1000" i="1" dirty="0"/>
              <a:t>per </a:t>
            </a:r>
            <a:r>
              <a:rPr lang="en-US" sz="1000" i="1" dirty="0" err="1"/>
              <a:t>curiam</a:t>
            </a:r>
            <a:r>
              <a:rPr lang="en-US" sz="1000" dirty="0"/>
              <a:t> with no signed majority opinion are omitted. </a:t>
            </a:r>
          </a:p>
        </p:txBody>
      </p:sp>
    </p:spTree>
    <p:extLst>
      <p:ext uri="{BB962C8B-B14F-4D97-AF65-F5344CB8AC3E}">
        <p14:creationId xmlns:p14="http://schemas.microsoft.com/office/powerpoint/2010/main" val="1104016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14</a:t>
            </a:fld>
            <a:endParaRPr lang="en-US"/>
          </a:p>
        </p:txBody>
      </p:sp>
      <p:pic>
        <p:nvPicPr>
          <p:cNvPr id="3" name="Picture 2" descr="A diagram of a pie chart&#10;&#10;AI-generated content may be incorrect.">
            <a:extLst>
              <a:ext uri="{FF2B5EF4-FFF2-40B4-BE49-F238E27FC236}">
                <a16:creationId xmlns:a16="http://schemas.microsoft.com/office/drawing/2014/main" id="{D12C53ED-4BBA-B15C-8114-2857CDDA7B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3" name="Picture 2" descr="A diagram of a pie chart&#10;&#10;AI-generated content may be incorrect.">
            <a:extLst>
              <a:ext uri="{FF2B5EF4-FFF2-40B4-BE49-F238E27FC236}">
                <a16:creationId xmlns:a16="http://schemas.microsoft.com/office/drawing/2014/main" id="{E21CFD07-CFB2-2AA2-A92D-C4E127EDB8E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0975"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1368559646"/>
              </p:ext>
            </p:extLst>
          </p:nvPr>
        </p:nvGraphicFramePr>
        <p:xfrm>
          <a:off x="344808" y="918414"/>
          <a:ext cx="10648855" cy="4872780"/>
        </p:xfrm>
        <a:graphic>
          <a:graphicData uri="http://schemas.openxmlformats.org/drawingml/2006/table">
            <a:tbl>
              <a:tblPr firstRow="1" bandRow="1">
                <a:tableStyleId>{C083E6E3-FA7D-4D7B-A595-EF9225AFEA82}</a:tableStyleId>
              </a:tblPr>
              <a:tblGrid>
                <a:gridCol w="1521265">
                  <a:extLst>
                    <a:ext uri="{9D8B030D-6E8A-4147-A177-3AD203B41FA5}">
                      <a16:colId xmlns:a16="http://schemas.microsoft.com/office/drawing/2014/main" val="20000"/>
                    </a:ext>
                  </a:extLst>
                </a:gridCol>
                <a:gridCol w="1521265">
                  <a:extLst>
                    <a:ext uri="{9D8B030D-6E8A-4147-A177-3AD203B41FA5}">
                      <a16:colId xmlns:a16="http://schemas.microsoft.com/office/drawing/2014/main" val="20001"/>
                    </a:ext>
                  </a:extLst>
                </a:gridCol>
                <a:gridCol w="1521265">
                  <a:extLst>
                    <a:ext uri="{9D8B030D-6E8A-4147-A177-3AD203B41FA5}">
                      <a16:colId xmlns:a16="http://schemas.microsoft.com/office/drawing/2014/main" val="20003"/>
                    </a:ext>
                  </a:extLst>
                </a:gridCol>
                <a:gridCol w="1521265">
                  <a:extLst>
                    <a:ext uri="{9D8B030D-6E8A-4147-A177-3AD203B41FA5}">
                      <a16:colId xmlns:a16="http://schemas.microsoft.com/office/drawing/2014/main" val="20004"/>
                    </a:ext>
                  </a:extLst>
                </a:gridCol>
                <a:gridCol w="1521265">
                  <a:extLst>
                    <a:ext uri="{9D8B030D-6E8A-4147-A177-3AD203B41FA5}">
                      <a16:colId xmlns:a16="http://schemas.microsoft.com/office/drawing/2014/main" val="20005"/>
                    </a:ext>
                  </a:extLst>
                </a:gridCol>
                <a:gridCol w="1521265">
                  <a:extLst>
                    <a:ext uri="{9D8B030D-6E8A-4147-A177-3AD203B41FA5}">
                      <a16:colId xmlns:a16="http://schemas.microsoft.com/office/drawing/2014/main" val="20006"/>
                    </a:ext>
                  </a:extLst>
                </a:gridCol>
                <a:gridCol w="1521265">
                  <a:extLst>
                    <a:ext uri="{9D8B030D-6E8A-4147-A177-3AD203B41FA5}">
                      <a16:colId xmlns:a16="http://schemas.microsoft.com/office/drawing/2014/main" val="20007"/>
                    </a:ext>
                  </a:extLst>
                </a:gridCol>
              </a:tblGrid>
              <a:tr h="324852">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Circuit</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extLst>
                  <a:ext uri="{0D108BD9-81ED-4DB2-BD59-A6C34878D82A}">
                    <a16:rowId xmlns:a16="http://schemas.microsoft.com/office/drawing/2014/main" val="10002"/>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2nd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dirty="0">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extLst>
                  <a:ext uri="{0D108BD9-81ED-4DB2-BD59-A6C34878D82A}">
                    <a16:rowId xmlns:a16="http://schemas.microsoft.com/office/drawing/2014/main" val="10003"/>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3rd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4th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extLst>
                  <a:ext uri="{0D108BD9-81ED-4DB2-BD59-A6C34878D82A}">
                    <a16:rowId xmlns:a16="http://schemas.microsoft.com/office/drawing/2014/main" val="10005"/>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dirty="0">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extLst>
                  <a:ext uri="{0D108BD9-81ED-4DB2-BD59-A6C34878D82A}">
                    <a16:rowId xmlns:a16="http://schemas.microsoft.com/office/drawing/2014/main" val="10006"/>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6th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7th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8th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9th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extLst>
                  <a:ext uri="{0D108BD9-81ED-4DB2-BD59-A6C34878D82A}">
                    <a16:rowId xmlns:a16="http://schemas.microsoft.com/office/drawing/2014/main" val="10010"/>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10th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extLst>
                  <a:ext uri="{0D108BD9-81ED-4DB2-BD59-A6C34878D82A}">
                    <a16:rowId xmlns:a16="http://schemas.microsoft.com/office/drawing/2014/main" val="10011"/>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11th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324852">
                <a:tc>
                  <a:txBody>
                    <a:bodyPr/>
                    <a:lstStyle/>
                    <a:p>
                      <a:pPr marL="0" algn="ctr" rtl="0">
                        <a:spcBef>
                          <a:spcPts val="0"/>
                        </a:spcBef>
                        <a:spcAft>
                          <a:spcPts val="0"/>
                        </a:spcAft>
                      </a:pPr>
                      <a:r>
                        <a:rPr lang="en-US" sz="1100" b="0" kern="1200" dirty="0">
                          <a:effectLst/>
                          <a:latin typeface="MULISH REGULAR ROMAN"/>
                        </a:rPr>
                        <a:t>D.C.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dirty="0">
                          <a:solidFill>
                            <a:srgbClr val="000000"/>
                          </a:solidFill>
                          <a:effectLst/>
                          <a:latin typeface="MULISH BLACK ROMAN"/>
                        </a:rPr>
                        <a:t>40%</a:t>
                      </a:r>
                    </a:p>
                  </a:txBody>
                  <a:tcPr marL="9525" marR="9525" marT="9525" marB="0" anchor="ct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tc>
                <a:extLst>
                  <a:ext uri="{0D108BD9-81ED-4DB2-BD59-A6C34878D82A}">
                    <a16:rowId xmlns:a16="http://schemas.microsoft.com/office/drawing/2014/main" val="10013"/>
                  </a:ext>
                </a:extLst>
              </a:tr>
              <a:tr h="324852">
                <a:tc>
                  <a:txBody>
                    <a:bodyPr/>
                    <a:lstStyle/>
                    <a:p>
                      <a:pPr marL="0" algn="ctr" rtl="0">
                        <a:spcBef>
                          <a:spcPts val="0"/>
                        </a:spcBef>
                        <a:spcAft>
                          <a:spcPts val="0"/>
                        </a:spcAft>
                      </a:pPr>
                      <a:r>
                        <a:rPr lang="en-US" sz="1100" b="0" kern="1200" dirty="0">
                          <a:latin typeface="MULISH REGULAR ROMAN"/>
                        </a:rPr>
                        <a:t>Fed.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tc>
                  <a:txBody>
                    <a:bodyPr/>
                    <a:lstStyle/>
                    <a:p>
                      <a:pPr algn="ctr" fontAlgn="b"/>
                      <a:r>
                        <a:rPr lang="en-US" sz="1100" b="0" i="0" u="none" strike="noStrike" dirty="0">
                          <a:solidFill>
                            <a:srgbClr val="000000"/>
                          </a:solidFill>
                          <a:effectLst/>
                          <a:latin typeface="MULISH BLACK ROMAN"/>
                        </a:rPr>
                        <a:t>66.7%</a:t>
                      </a:r>
                    </a:p>
                  </a:txBody>
                  <a:tcPr marL="9525" marR="9525" marT="9525" marB="0" anchor="ctr"/>
                </a:tc>
                <a:extLst>
                  <a:ext uri="{0D108BD9-81ED-4DB2-BD59-A6C34878D82A}">
                    <a16:rowId xmlns:a16="http://schemas.microsoft.com/office/drawing/2014/main" val="10014"/>
                  </a:ext>
                </a:extLst>
              </a:tr>
              <a:tr h="324852">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50" y="6076820"/>
            <a:ext cx="10672816" cy="738664"/>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different lower courts as single entries. For example, a consolidated case emerging from conflicting decisions in the U.S. Courts of Appeal for the Fifth and Ninth Circuits where the principal case on the court’s docket (e.g., the principal litigants of record) are those from the Fifth are reflected as a single entry from that circuit. Alternatively, consolidated cases emerging from the same lower court are treated as a single entry. </a:t>
            </a:r>
          </a:p>
          <a:p>
            <a:r>
              <a:rPr lang="en-US" sz="1050" dirty="0">
                <a:latin typeface="MULISH BLACK ROMAN"/>
                <a:cs typeface="Calibri" panose="020F0502020204030204"/>
              </a:rPr>
              <a:t>* Both cases emerging from district courts (</a:t>
            </a:r>
            <a:r>
              <a:rPr lang="en-US" sz="1050" i="1" dirty="0">
                <a:latin typeface="MULISH BLACK ROMAN"/>
                <a:cs typeface="Calibri" panose="020F0502020204030204"/>
              </a:rPr>
              <a:t>Trump v. J.G.G. </a:t>
            </a:r>
            <a:r>
              <a:rPr lang="en-US" sz="1050" dirty="0">
                <a:latin typeface="MULISH BLACK ROMAN"/>
                <a:cs typeface="Calibri" panose="020F0502020204030204"/>
              </a:rPr>
              <a:t>and </a:t>
            </a:r>
            <a:r>
              <a:rPr lang="en-US" sz="1050" i="1" dirty="0">
                <a:latin typeface="MULISH BLACK ROMAN"/>
                <a:cs typeface="Calibri" panose="020F0502020204030204"/>
              </a:rPr>
              <a:t>DOE v. California</a:t>
            </a:r>
            <a:r>
              <a:rPr lang="en-US" sz="1050" dirty="0">
                <a:latin typeface="MULISH BLACK ROMAN"/>
                <a:cs typeface="Calibri" panose="020F0502020204030204"/>
              </a:rPr>
              <a:t>) were applications GRANTED by the Court.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16</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17</a:t>
            </a:fld>
            <a:endParaRPr lang="en-US"/>
          </a:p>
        </p:txBody>
      </p:sp>
      <p:pic>
        <p:nvPicPr>
          <p:cNvPr id="4" name="Picture 3" descr="A graph with numbers and lines&#10;&#10;AI-generated content may be incorrect.">
            <a:extLst>
              <a:ext uri="{FF2B5EF4-FFF2-40B4-BE49-F238E27FC236}">
                <a16:creationId xmlns:a16="http://schemas.microsoft.com/office/drawing/2014/main" id="{EFEC0D13-E384-F182-D1F6-2B44F39675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6" y="778359"/>
            <a:ext cx="5215464" cy="321990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4188468970"/>
              </p:ext>
            </p:extLst>
          </p:nvPr>
        </p:nvGraphicFramePr>
        <p:xfrm>
          <a:off x="224287" y="961859"/>
          <a:ext cx="11645661" cy="5351850"/>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Waetzig</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Hungary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Royal Canin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Bouarfa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Delligatti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Feliciano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Perttu</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Soto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CC/Devas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Rivers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Diamond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Trump v. J.G.G.</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Laboratory Corp.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McLaughlin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Perttu</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Calumet </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Advocate Christ Medical</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NRC</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Feliciano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1658920410"/>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Fuld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Calumet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MULISH BLACK ROMAN"/>
                        </a:rPr>
                        <a:t>McLaughlin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 R.J. Reynolds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Fuld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BLACK ROMAN"/>
                        </a:rPr>
                        <a:t>R.J. Reynolds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1"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19</a:t>
            </a:fld>
            <a:endParaRPr lang="en-US"/>
          </a:p>
        </p:txBody>
      </p:sp>
    </p:spTree>
    <p:extLst>
      <p:ext uri="{BB962C8B-B14F-4D97-AF65-F5344CB8AC3E}">
        <p14:creationId xmlns:p14="http://schemas.microsoft.com/office/powerpoint/2010/main" val="444612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20</a:t>
            </a:fld>
            <a:endParaRPr lang="en-US"/>
          </a:p>
        </p:txBody>
      </p:sp>
      <p:pic>
        <p:nvPicPr>
          <p:cNvPr id="4" name="Picture 3" descr="A graph showing a chart&#10;&#10;AI-generated content may be incorrect.">
            <a:extLst>
              <a:ext uri="{FF2B5EF4-FFF2-40B4-BE49-F238E27FC236}">
                <a16:creationId xmlns:a16="http://schemas.microsoft.com/office/drawing/2014/main" id="{CF82088D-9294-A332-6B3F-2F30C1DFD5F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2316251002"/>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NVIDIA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14</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12/11/2024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Facebook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Laboratory Corp.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 (8-1)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Drummond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23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5/22/2025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Concurrence</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7-2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87</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14,532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14,299</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MULISH BLACK ROMAN"/>
                        </a:rPr>
                        <a:t>Skrmetti</a:t>
                      </a:r>
                      <a:endParaRPr lang="en-US" sz="1100" b="0" i="1"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9,967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9,621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Medical Marijuana</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8,325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 Barrett; Kagan; Roberts; Sotomayor; Thomas</a:t>
                      </a:r>
                    </a:p>
                  </a:txBody>
                  <a:tcPr marL="9525" marR="9525" marT="9525" marB="0">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34,738</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 Sotomayor; Thomas</a:t>
                      </a:r>
                    </a:p>
                  </a:txBody>
                  <a:tcPr marL="9525" marR="9525" marT="9525" marB="0">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25,575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 Gorsuch; Jackson; Kavanaugh; Sotomayor; Thomas</a:t>
                      </a:r>
                    </a:p>
                  </a:txBody>
                  <a:tcPr marL="9525" marR="9525" marT="9525" marB="0">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17,985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 Jackson; Kavanaugh; Thomas</a:t>
                      </a:r>
                    </a:p>
                  </a:txBody>
                  <a:tcPr marL="9525" marR="9525" marT="9525" marB="0">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Jackson; Sotomayor; Thomas</a:t>
                      </a:r>
                    </a:p>
                  </a:txBody>
                  <a:tcPr marL="9525" marR="9525" marT="9525" marB="0">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17,215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21</a:t>
            </a:fld>
            <a:endParaRPr lang="en-US"/>
          </a:p>
        </p:txBody>
      </p:sp>
    </p:spTree>
    <p:extLst>
      <p:ext uri="{BB962C8B-B14F-4D97-AF65-F5344CB8AC3E}">
        <p14:creationId xmlns:p14="http://schemas.microsoft.com/office/powerpoint/2010/main" val="5787724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988546985"/>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4944.17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4888.73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4334.5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3148.28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3309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3845.13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3466.85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3996.55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876800" y="5399974"/>
            <a:ext cx="620258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22</a:t>
            </a:fld>
            <a:endParaRPr lang="en-US"/>
          </a:p>
        </p:txBody>
      </p:sp>
      <p:pic>
        <p:nvPicPr>
          <p:cNvPr id="4" name="Picture 3" descr="A graph of different types of graphs&#10;&#10;AI-generated content may be incorrect.">
            <a:extLst>
              <a:ext uri="{FF2B5EF4-FFF2-40B4-BE49-F238E27FC236}">
                <a16:creationId xmlns:a16="http://schemas.microsoft.com/office/drawing/2014/main" id="{A7320338-0681-DF86-0877-AA394E375DC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96416"/>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65784390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23</a:t>
            </a:fld>
            <a:endParaRPr lang="en-US"/>
          </a:p>
        </p:txBody>
      </p:sp>
      <p:sp>
        <p:nvSpPr>
          <p:cNvPr id="2" name="TextBox 1">
            <a:extLst>
              <a:ext uri="{FF2B5EF4-FFF2-40B4-BE49-F238E27FC236}">
                <a16:creationId xmlns:a16="http://schemas.microsoft.com/office/drawing/2014/main" id="{F26D9EE1-F030-3FDD-2CF9-9A4D537F2255}"/>
              </a:ext>
            </a:extLst>
          </p:cNvPr>
          <p:cNvSpPr txBox="1"/>
          <p:nvPr/>
        </p:nvSpPr>
        <p:spPr>
          <a:xfrm>
            <a:off x="339318" y="6356350"/>
            <a:ext cx="10081704" cy="430887"/>
          </a:xfrm>
          <a:prstGeom prst="rect">
            <a:avLst/>
          </a:prstGeom>
          <a:noFill/>
        </p:spPr>
        <p:txBody>
          <a:bodyPr wrap="square" rtlCol="0">
            <a:spAutoFit/>
          </a:bodyPr>
          <a:lstStyle/>
          <a:p>
            <a:r>
              <a:rPr lang="en-US" sz="1100" dirty="0">
                <a:latin typeface="MULISH BLACK ROMAN"/>
              </a:rPr>
              <a:t>* Justice Barrett (I) joined the majority but only with respect to Part II, (II), authored a separate opinion concurring (</a:t>
            </a:r>
            <a:r>
              <a:rPr lang="en-US" sz="1100" i="1" dirty="0">
                <a:latin typeface="MULISH BLACK ROMAN"/>
              </a:rPr>
              <a:t>in part</a:t>
            </a:r>
            <a:r>
              <a:rPr lang="en-US" sz="1100" dirty="0">
                <a:latin typeface="MULISH BLACK ROMAN"/>
              </a:rPr>
              <a:t>) and dissenting (</a:t>
            </a:r>
            <a:r>
              <a:rPr lang="en-US" sz="1100" i="1" dirty="0">
                <a:latin typeface="MULISH BLACK ROMAN"/>
              </a:rPr>
              <a:t>in part</a:t>
            </a:r>
            <a:r>
              <a:rPr lang="en-US" sz="1100" dirty="0">
                <a:latin typeface="MULISH BLACK ROMAN"/>
              </a:rPr>
              <a:t>), and joined Justice Thomas’ dissent with respect to Parts IV-A-1, IV-A-2, and IV-A-3. </a:t>
            </a:r>
          </a:p>
        </p:txBody>
      </p:sp>
    </p:spTree>
    <p:extLst>
      <p:ext uri="{BB962C8B-B14F-4D97-AF65-F5344CB8AC3E}">
        <p14:creationId xmlns:p14="http://schemas.microsoft.com/office/powerpoint/2010/main" val="619884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72459394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Velazquez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430887"/>
          </a:xfrm>
          <a:prstGeom prst="rect">
            <a:avLst/>
          </a:prstGeom>
          <a:noFill/>
        </p:spPr>
        <p:txBody>
          <a:bodyPr wrap="square" rtlCol="0">
            <a:spAutoFit/>
          </a:bodyPr>
          <a:lstStyle/>
          <a:p>
            <a:r>
              <a:rPr lang="en-US" sz="1100" dirty="0">
                <a:latin typeface="MULISH BLACK ROMAN"/>
              </a:rPr>
              <a:t>* Justice Barrett authored an opinion dissenting (</a:t>
            </a:r>
            <a:r>
              <a:rPr lang="en-US" sz="1100" i="1" dirty="0">
                <a:latin typeface="MULISH BLACK ROMAN"/>
              </a:rPr>
              <a:t>in part</a:t>
            </a:r>
            <a:r>
              <a:rPr lang="en-US" sz="1100" dirty="0">
                <a:latin typeface="MULISH BLACK ROMAN"/>
              </a:rPr>
              <a:t>) – this opinion is coded as a dissent since there was no additional concurrence (</a:t>
            </a:r>
            <a:r>
              <a:rPr lang="en-US" sz="1100" i="1" dirty="0">
                <a:latin typeface="MULISH BLACK ROMAN"/>
              </a:rPr>
              <a:t>in part</a:t>
            </a:r>
            <a:r>
              <a:rPr lang="en-US" sz="1100" dirty="0">
                <a:latin typeface="MULISH BLACK ROMAN"/>
              </a:rPr>
              <a:t>). </a:t>
            </a:r>
            <a:br>
              <a:rPr lang="en-US" sz="1100" dirty="0">
                <a:latin typeface="MULISH BLACK ROMAN"/>
              </a:rPr>
            </a:br>
            <a:r>
              <a:rPr lang="en-US" sz="1100" dirty="0">
                <a:latin typeface="MULISH BLACK ROMAN"/>
              </a:rPr>
              <a:t>** Justice Barrett joined the dissent in </a:t>
            </a:r>
            <a:r>
              <a:rPr lang="en-US" sz="1100" i="1" dirty="0">
                <a:latin typeface="MULISH BLACK ROMAN"/>
              </a:rPr>
              <a:t>Trump v. J.G.G</a:t>
            </a:r>
            <a:r>
              <a:rPr lang="en-US" sz="1100" dirty="0">
                <a:latin typeface="MULISH BLACK ROMAN"/>
              </a:rPr>
              <a:t>.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24</a:t>
            </a:fld>
            <a:endParaRPr lang="en-US"/>
          </a:p>
        </p:txBody>
      </p:sp>
    </p:spTree>
    <p:extLst>
      <p:ext uri="{BB962C8B-B14F-4D97-AF65-F5344CB8AC3E}">
        <p14:creationId xmlns:p14="http://schemas.microsoft.com/office/powerpoint/2010/main" val="3374246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249447054"/>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dirty="0"/>
              <a:t>* Oklahoma Charter Schools v. Drummond </a:t>
            </a:r>
            <a:r>
              <a:rPr lang="en-US" sz="1100" dirty="0"/>
              <a:t>was decided </a:t>
            </a:r>
            <a:r>
              <a:rPr lang="en-US" sz="1100" i="1" dirty="0"/>
              <a:t>per </a:t>
            </a:r>
            <a:r>
              <a:rPr lang="en-US" sz="1100" i="1" dirty="0" err="1"/>
              <a:t>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1610198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7475085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26</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Although Justice Sotomayor joined Justice Jackson’s dissent with respect to elements of Parts III and IV, they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556569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2312235919"/>
              </p:ext>
            </p:extLst>
          </p:nvPr>
        </p:nvGraphicFramePr>
        <p:xfrm>
          <a:off x="304798" y="765228"/>
          <a:ext cx="11492146" cy="5923169"/>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BLACK ROMAN"/>
                        </a:rPr>
                        <a:t> Williams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BLACK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a:solidFill>
                            <a:srgbClr val="000000"/>
                          </a:solidFill>
                          <a:effectLst/>
                          <a:latin typeface="MULISH BLACK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BLACK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BLACK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BLACK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Velazquez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kern="1200" dirty="0">
                          <a:solidFill>
                            <a:schemeClr val="tx1"/>
                          </a:solidFill>
                          <a:effectLst/>
                          <a:latin typeface="MULISH BLACK ROMAN"/>
                          <a:ea typeface="+mn-ea"/>
                          <a:cs typeface="+mn-cs"/>
                        </a:rPr>
                        <a:t>Kousisis</a:t>
                      </a:r>
                      <a:endParaRPr lang="en-US" sz="900" i="1"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BLACK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CAFED</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BLACK ROMAN"/>
                        </a:rPr>
                        <a:t> Bouarfa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BLACK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CAFED</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BLACK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80119">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algn="l" fontAlgn="b"/>
                      <a:r>
                        <a:rPr lang="en-US" sz="900" b="0" i="1" u="none" strike="noStrike" dirty="0">
                          <a:solidFill>
                            <a:srgbClr val="000000"/>
                          </a:solidFill>
                          <a:effectLst/>
                          <a:latin typeface="MULISH BLACK ROMAN"/>
                        </a:rPr>
                        <a:t>Hamm</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CA11</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on the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dirty="0">
                          <a:solidFill>
                            <a:srgbClr val="000000"/>
                          </a:solidFill>
                          <a:effectLst/>
                          <a:latin typeface="MULISH BLACK ROMAN"/>
                        </a:rPr>
                        <a:t>Andrew</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CA10</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on the Docket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a:solidFill>
                            <a:srgbClr val="000000"/>
                          </a:solidFill>
                          <a:effectLst/>
                          <a:latin typeface="MULISH BLACK ROMAN"/>
                        </a:rPr>
                        <a:t>DOE v. CA</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a:solidFill>
                            <a:srgbClr val="000000"/>
                          </a:solidFill>
                          <a:effectLst/>
                          <a:latin typeface="MULISH BLACK ROMAN"/>
                        </a:rPr>
                        <a:t>DCMA</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algn="l" fontAlgn="b"/>
                      <a:r>
                        <a:rPr lang="en-US" sz="900" b="0" i="1" u="none" strike="noStrike" dirty="0">
                          <a:solidFill>
                            <a:srgbClr val="000000"/>
                          </a:solidFill>
                          <a:effectLst/>
                          <a:latin typeface="MULISH BLACK ROMAN"/>
                        </a:rPr>
                        <a:t>Trump v. J.G.G.</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DCDC</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algn="l" fontAlgn="b"/>
                      <a:r>
                        <a:rPr lang="en-US" sz="900" b="0" i="1" u="none" strike="noStrike" dirty="0">
                          <a:solidFill>
                            <a:srgbClr val="000000"/>
                          </a:solidFill>
                          <a:effectLst/>
                          <a:latin typeface="MULISH BLACK ROMAN"/>
                        </a:rPr>
                        <a:t>A.A.R.P v. Trump</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dirty="0">
                          <a:solidFill>
                            <a:srgbClr val="000000"/>
                          </a:solidFill>
                          <a:effectLst/>
                          <a:latin typeface="MULISH BLACK ROMAN"/>
                        </a:rPr>
                        <a:t>CA5</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27</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32601</TotalTime>
  <Words>4113</Words>
  <Application>Microsoft Office PowerPoint</Application>
  <PresentationFormat>Widescreen</PresentationFormat>
  <Paragraphs>1581</Paragraphs>
  <Slides>27</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27</vt:i4>
      </vt:variant>
    </vt:vector>
  </HeadingPairs>
  <TitlesOfParts>
    <vt:vector size="38"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25,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445</cp:revision>
  <cp:lastPrinted>2019-06-28T21:02:00Z</cp:lastPrinted>
  <dcterms:created xsi:type="dcterms:W3CDTF">2019-02-07T19:44:00Z</dcterms:created>
  <dcterms:modified xsi:type="dcterms:W3CDTF">2025-06-25T19:57:46Z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