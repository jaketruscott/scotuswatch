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10" r:id="rId21"/>
    <p:sldId id="409" r:id="rId22"/>
    <p:sldId id="350" r:id="rId23"/>
    <p:sldId id="413" r:id="rId24"/>
    <p:sldId id="324" r:id="rId25"/>
    <p:sldId id="398" r:id="rId26"/>
    <p:sldId id="399" r:id="rId27"/>
    <p:sldId id="400" r:id="rId28"/>
    <p:sldId id="401" r:id="rId29"/>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4E478A"/>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04" d="100"/>
          <a:sy n="104" d="100"/>
        </p:scale>
        <p:origin x="90" y="252"/>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6/2/2025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6/2/2025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6/2/2025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6/2/2025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6/2/2025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6/2/2025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6/2/2025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6/2/2025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a:highlight>
                  <a:srgbClr val="FF0000"/>
                </a:highlight>
                <a:latin typeface="MULISH EXTRABOLD ROMAN" pitchFamily="2" charset="77"/>
              </a:rPr>
              <a:t>UPDATED June 2, </a:t>
            </a:r>
            <a:r>
              <a:rPr lang="en-US" sz="2800" b="1" dirty="0">
                <a:highlight>
                  <a:srgbClr val="FF0000"/>
                </a:highlight>
                <a:latin typeface="MULISH EXTRABOLD ROMAN" pitchFamily="2" charset="77"/>
              </a:rPr>
              <a:t>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337705305"/>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endParaRPr lang="en-US" sz="1400" dirty="0">
                        <a:latin typeface="MULISH REGULAR ROMAN" pitchFamily="2" charset="77"/>
                      </a:endParaRP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157639338"/>
              </p:ext>
            </p:extLst>
          </p:nvPr>
        </p:nvGraphicFramePr>
        <p:xfrm>
          <a:off x="304798" y="765227"/>
          <a:ext cx="11492145" cy="6056418"/>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8">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74150918"/>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0.015</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T w="12700" cmpd="sng">
                      <a:noFill/>
                    </a:lnT>
                  </a:tcPr>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lnT w="12700" cmpd="sng">
                      <a:noFill/>
                    </a:lnT>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6</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0.09</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0.5</a:t>
                      </a:r>
                    </a:p>
                  </a:txBody>
                  <a:tcPr marL="9525" marR="9525" marT="9525" marB="0" anchor="b"/>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8</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0.119</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13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0.194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0.06</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6</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0.09</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0.06</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0.06</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0.075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0.045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0.5</a:t>
                      </a:r>
                    </a:p>
                  </a:txBody>
                  <a:tcPr marL="9525" marR="9525" marT="9525" marB="0" anchor="b"/>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0.06</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1</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0.667</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0.333</a:t>
                      </a:r>
                    </a:p>
                  </a:txBody>
                  <a:tcPr marL="9525" marR="9525" marT="9525" marB="0" anchor="b"/>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Calibri" panose="020F0502020204030204" pitchFamily="34" charset="0"/>
                        </a:rPr>
                        <a:t>3</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0.045</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5860854" y="808785"/>
            <a:ext cx="5488046" cy="327179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99633668"/>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Seven County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2419635423"/>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9" name="Picture 8" descr="A graph with numbers and lines&#10;&#10;AI-generated content may be incorrect.">
            <a:extLst>
              <a:ext uri="{FF2B5EF4-FFF2-40B4-BE49-F238E27FC236}">
                <a16:creationId xmlns:a16="http://schemas.microsoft.com/office/drawing/2014/main" id="{1D2E735C-2251-F5A8-B38B-C02447564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860854" y="787748"/>
            <a:ext cx="5488046" cy="3292828"/>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6" name="Picture 5" descr="A graph of different colored squares&#10;&#10;AI-generated content may be incorrect.">
            <a:extLst>
              <a:ext uri="{FF2B5EF4-FFF2-40B4-BE49-F238E27FC236}">
                <a16:creationId xmlns:a16="http://schemas.microsoft.com/office/drawing/2014/main" id="{396494C7-5423-9412-7D46-9D8A7656E7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5"/>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021072860"/>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Kousisis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6" name="Picture 5" descr="A chart with multiple colored squares&#10;&#10;AI-generated content may be incorrect.">
            <a:extLst>
              <a:ext uri="{FF2B5EF4-FFF2-40B4-BE49-F238E27FC236}">
                <a16:creationId xmlns:a16="http://schemas.microsoft.com/office/drawing/2014/main" id="{A0B0A6BA-25B0-1BFC-10B6-CF60DD21B3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3" y="1027977"/>
            <a:ext cx="9604085"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845C80D-8C0C-274C-7C9C-C0B644388436}"/>
              </a:ext>
            </a:extLst>
          </p:cNvPr>
          <p:cNvSpPr>
            <a:spLocks noGrp="1" noRot="1" noMove="1" noResize="1" noEditPoints="1" noAdjustHandles="1" noChangeArrowheads="1" noChangeShapeType="1"/>
          </p:cNvSpPr>
          <p:nvPr/>
        </p:nvSpPr>
        <p:spPr>
          <a:xfrm>
            <a:off x="5384800" y="230909"/>
            <a:ext cx="6299200" cy="3749964"/>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1484143844"/>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739008146"/>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5758.64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3944.67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3374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3277.6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3824.88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2525.33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3888.17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7" name="Picture 6" descr="A graph of different types of graphs&#10;&#10;AI-generated content may be incorrect.">
            <a:extLst>
              <a:ext uri="{FF2B5EF4-FFF2-40B4-BE49-F238E27FC236}">
                <a16:creationId xmlns:a16="http://schemas.microsoft.com/office/drawing/2014/main" id="{5AE680ED-CC5D-26A1-8FBA-84EE2688EEB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2885" y="230909"/>
            <a:ext cx="6367800" cy="3772947"/>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pic>
        <p:nvPicPr>
          <p:cNvPr id="8" name="Picture 7" descr="A group of people in a row&#10;&#10;AI-generated content may be incorrect.">
            <a:extLst>
              <a:ext uri="{FF2B5EF4-FFF2-40B4-BE49-F238E27FC236}">
                <a16:creationId xmlns:a16="http://schemas.microsoft.com/office/drawing/2014/main" id="{0F8A303A-B654-D0AE-FB76-F7543EF969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pic>
        <p:nvPicPr>
          <p:cNvPr id="7" name="Picture 6" descr="A group of people standing in front of a graph&#10;&#10;AI-generated content may be incorrect.">
            <a:extLst>
              <a:ext uri="{FF2B5EF4-FFF2-40B4-BE49-F238E27FC236}">
                <a16:creationId xmlns:a16="http://schemas.microsoft.com/office/drawing/2014/main" id="{F3B68D59-74E2-DF68-02AC-DD28B9EB461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59610"/>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8" name="Picture 7" descr="A group of people standing in front of a graph&#10;&#10;AI-generated content may be incorrect.">
            <a:extLst>
              <a:ext uri="{FF2B5EF4-FFF2-40B4-BE49-F238E27FC236}">
                <a16:creationId xmlns:a16="http://schemas.microsoft.com/office/drawing/2014/main" id="{E814A1C6-BD7C-0465-92B0-A228DBD5533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92595527"/>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Calibri" panose="020F0502020204030204" pitchFamily="34" charset="0"/>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8</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3</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Calibri" panose="020F0502020204030204" pitchFamily="34" charset="0"/>
                        </a:rPr>
                        <a:t>2</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8.5</a:t>
                      </a:r>
                    </a:p>
                  </a:txBody>
                  <a:tcPr marL="9525" marR="9525" marT="9525" marB="0" anchor="b">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1388792958"/>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pic>
        <p:nvPicPr>
          <p:cNvPr id="5" name="Picture 4" descr="A group of pie charts&#10;&#10;AI-generated content may be incorrect.">
            <a:extLst>
              <a:ext uri="{FF2B5EF4-FFF2-40B4-BE49-F238E27FC236}">
                <a16:creationId xmlns:a16="http://schemas.microsoft.com/office/drawing/2014/main" id="{220400CE-4350-A804-3D32-B286DB71742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6" name="Picture 5" descr="A diagram of a pie chart&#10;&#10;AI-generated content may be incorrect.">
            <a:extLst>
              <a:ext uri="{FF2B5EF4-FFF2-40B4-BE49-F238E27FC236}">
                <a16:creationId xmlns:a16="http://schemas.microsoft.com/office/drawing/2014/main" id="{06AA72AC-325F-FDC0-ED01-B6283D8B977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pic>
        <p:nvPicPr>
          <p:cNvPr id="7" name="Picture 6" descr="A graph with numbers and lines&#10;&#10;AI-generated content may be incorrect.">
            <a:extLst>
              <a:ext uri="{FF2B5EF4-FFF2-40B4-BE49-F238E27FC236}">
                <a16:creationId xmlns:a16="http://schemas.microsoft.com/office/drawing/2014/main" id="{0078BA4E-8E18-2C3C-626D-D5C339C052B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7"/>
            <a:ext cx="9208778" cy="5525266"/>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pic>
        <p:nvPicPr>
          <p:cNvPr id="5" name="Picture 4" descr="Several different types of graphs&#10;&#10;AI-generated content may be incorrect.">
            <a:extLst>
              <a:ext uri="{FF2B5EF4-FFF2-40B4-BE49-F238E27FC236}">
                <a16:creationId xmlns:a16="http://schemas.microsoft.com/office/drawing/2014/main" id="{3DC92C57-A4C5-16F6-0766-A5D3ACA78CF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20" y="1060165"/>
            <a:ext cx="8684856" cy="5789904"/>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3367022051"/>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dirty="0">
                          <a:effectLst/>
                          <a:latin typeface="MULISH REGULAR ROMAN"/>
                        </a:rPr>
                        <a:t>Roberts, Sotomayor, Kagan, Gorsuch, Kavanaugh, Barrett, Jackson</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DOE v. VA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21</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209584874"/>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21%</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35.2</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noGrp="1" noRot="1" noMove="1" noResize="1" noEditPoints="1" noAdjustHandles="1" noChangeArrowheads="1" noChangeShapeType="1"/>
          </p:cNvSpPr>
          <p:nvPr/>
        </p:nvSpPr>
        <p:spPr>
          <a:xfrm>
            <a:off x="1006639" y="1200410"/>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22</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majority coalition consisting of all the Democratic appointees. Alternatively, the </a:t>
            </a:r>
            <a:r>
              <a:rPr lang="en-US" sz="1200" b="1" dirty="0">
                <a:highlight>
                  <a:srgbClr val="C0C0C0"/>
                </a:highlight>
              </a:rPr>
              <a:t>LIGHT GREY</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6" name="Picture 5" descr="A group of people in suits&#10;&#10;AI-generated content may be incorrect.">
            <a:extLst>
              <a:ext uri="{FF2B5EF4-FFF2-40B4-BE49-F238E27FC236}">
                <a16:creationId xmlns:a16="http://schemas.microsoft.com/office/drawing/2014/main" id="{B7510F89-E84F-F7B8-092A-ED562E39C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200410"/>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5" name="Picture 4" descr="A group of people in suits&#10;&#10;AI-generated content may be incorrect.">
            <a:extLst>
              <a:ext uri="{FF2B5EF4-FFF2-40B4-BE49-F238E27FC236}">
                <a16:creationId xmlns:a16="http://schemas.microsoft.com/office/drawing/2014/main" id="{B9353034-F555-E758-B1A3-93D68C3424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897483"/>
            <a:ext cx="7152620" cy="5960517"/>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24</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5" name="Picture 4" descr="A group of people in a graph&#10;&#10;AI-generated content may be incorrect.">
            <a:extLst>
              <a:ext uri="{FF2B5EF4-FFF2-40B4-BE49-F238E27FC236}">
                <a16:creationId xmlns:a16="http://schemas.microsoft.com/office/drawing/2014/main" id="{59B29810-CA4F-A55B-693C-BC5995373E5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49" y="961855"/>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25</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21088370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9935506"/>
                  </a:ext>
                </a:extLst>
              </a:tr>
              <a:tr h="320040">
                <a:tc>
                  <a:txBody>
                    <a:bodyPr/>
                    <a:lstStyle/>
                    <a:p>
                      <a:r>
                        <a:rPr lang="en-US" sz="1100" dirty="0" err="1">
                          <a:latin typeface="MULISH REGULAR ROMAN" pitchFamily="2" charset="77"/>
                        </a:rPr>
                        <a:t>Kousisis</a:t>
                      </a: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20161</TotalTime>
  <Words>4516</Words>
  <Application>Microsoft Office PowerPoint</Application>
  <PresentationFormat>Widescreen</PresentationFormat>
  <Paragraphs>1208</Paragraphs>
  <Slides>28</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28</vt:i4>
      </vt:variant>
    </vt:vector>
  </HeadingPairs>
  <TitlesOfParts>
    <vt:vector size="39"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265</cp:revision>
  <cp:lastPrinted>2019-06-28T21:02:00Z</cp:lastPrinted>
  <dcterms:created xsi:type="dcterms:W3CDTF">2019-02-07T19:44:00Z</dcterms:created>
  <dcterms:modified xsi:type="dcterms:W3CDTF">2025-06-02T19:01:54Z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