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comment1.xml" ContentType="application/vnd.openxmlformats-officedocument.presentationml.comments+xml"/>
  <Override PartName="/ppt/comments/comment2.xml" ContentType="application/vnd.openxmlformats-officedocument.presentationml.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comments/comment3.xml" ContentType="application/vnd.openxmlformats-officedocument.presentationml.comment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omments/comment4.xml" ContentType="application/vnd.openxmlformats-officedocument.presentationml.comments+xml"/>
  <Override PartName="/ppt/notesSlides/notesSlide9.xml" ContentType="application/vnd.openxmlformats-officedocument.presentationml.notesSlide+xml"/>
  <Override PartName="/ppt/comments/comment5.xml" ContentType="application/vnd.openxmlformats-officedocument.presentationml.comments+xml"/>
  <Override PartName="/ppt/notesSlides/notesSlide10.xml" ContentType="application/vnd.openxmlformats-officedocument.presentationml.notesSlide+xml"/>
  <Override PartName="/ppt/comments/comment6.xml" ContentType="application/vnd.openxmlformats-officedocument.presentationml.comment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8"/>
  </p:notesMasterIdLst>
  <p:sldIdLst>
    <p:sldId id="392" r:id="rId2"/>
    <p:sldId id="269" r:id="rId3"/>
    <p:sldId id="393" r:id="rId4"/>
    <p:sldId id="402" r:id="rId5"/>
    <p:sldId id="381" r:id="rId6"/>
    <p:sldId id="345" r:id="rId7"/>
    <p:sldId id="390" r:id="rId8"/>
    <p:sldId id="391" r:id="rId9"/>
    <p:sldId id="299" r:id="rId10"/>
    <p:sldId id="343" r:id="rId11"/>
    <p:sldId id="395" r:id="rId12"/>
    <p:sldId id="407" r:id="rId13"/>
    <p:sldId id="396" r:id="rId14"/>
    <p:sldId id="383" r:id="rId15"/>
    <p:sldId id="340" r:id="rId16"/>
    <p:sldId id="406" r:id="rId17"/>
    <p:sldId id="404" r:id="rId18"/>
    <p:sldId id="405" r:id="rId19"/>
    <p:sldId id="348" r:id="rId20"/>
    <p:sldId id="350" r:id="rId21"/>
    <p:sldId id="324" r:id="rId22"/>
    <p:sldId id="403" r:id="rId23"/>
    <p:sldId id="398" r:id="rId24"/>
    <p:sldId id="399" r:id="rId25"/>
    <p:sldId id="400" r:id="rId26"/>
    <p:sldId id="401" r:id="rId27"/>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402"/>
            <p14:sldId id="381"/>
            <p14:sldId id="345"/>
            <p14:sldId id="390"/>
            <p14:sldId id="391"/>
            <p14:sldId id="299"/>
            <p14:sldId id="343"/>
            <p14:sldId id="395"/>
            <p14:sldId id="407"/>
            <p14:sldId id="396"/>
            <p14:sldId id="383"/>
            <p14:sldId id="340"/>
            <p14:sldId id="406"/>
            <p14:sldId id="404"/>
            <p14:sldId id="405"/>
            <p14:sldId id="348"/>
            <p14:sldId id="350"/>
            <p14:sldId id="324"/>
            <p14:sldId id="403"/>
            <p14:sldId id="398"/>
            <p14:sldId id="399"/>
            <p14:sldId id="400"/>
            <p14:sldId id="401"/>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3"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478A"/>
    <a:srgbClr val="0F9147"/>
    <a:srgbClr val="FDD532"/>
    <a:srgbClr val="4F4789"/>
    <a:srgbClr val="0469A9"/>
    <a:srgbClr val="4FEDED"/>
    <a:srgbClr val="A90404"/>
    <a:srgbClr val="5B9BD5"/>
    <a:srgbClr val="D2DEEF"/>
    <a:srgbClr val="66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1"/>
    <p:restoredTop sz="95170"/>
  </p:normalViewPr>
  <p:slideViewPr>
    <p:cSldViewPr snapToGrid="0">
      <p:cViewPr varScale="1">
        <p:scale>
          <a:sx n="111" d="100"/>
          <a:sy n="111" d="100"/>
        </p:scale>
        <p:origin x="558" y="96"/>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3" dt="2021-06-22T17:11:09.111" idx="92">
    <p:pos x="10" y="10"/>
    <p:text>Majority opinion author: Column AO
Vote: Column BH
Days between arg and opinion: Column AM
Judgment: Column BP
Court below: Column G
If you want to find exact argument order (again, not a priority): https://www.supremecourt.gov/oral_arguments/calendarsandlists.aspx</p:text>
    <p:extLst>
      <p:ext uri="{C676402C-5697-4E1C-873F-D02D1690AC5C}">
        <p15:threadingInfo xmlns:p15="http://schemas.microsoft.com/office/powerpoint/2012/main" timeZoneBias="24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3" dt="2021-06-22T17:13:40.226" idx="87">
    <p:pos x="10" y="10"/>
    <p:text>Days: Column AM
Author: Column AO
Vote: Column BH
Date argued: Column T
Date decided: Column AH</p:text>
    <p:extLst>
      <p:ext uri="{C676402C-5697-4E1C-873F-D02D1690AC5C}">
        <p15:threadingInfo xmlns:p15="http://schemas.microsoft.com/office/powerpoint/2012/main" timeZoneBias="24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3" dt="2021-06-22T17:19:44.359" idx="88">
    <p:pos x="10" y="10"/>
    <p:text>Majority opinions: filter column AO
Concurring opinions: filter column AP, being sure to catch any add'l concurring opinions listed for that justice in columns AQ-AS
Dissenting opinions: filter column AT, being sure to catch any add'l dissenting opinions listed for that justice in columns AU-AW</p:text>
    <p:extLst>
      <p:ext uri="{C676402C-5697-4E1C-873F-D02D1690AC5C}">
        <p15:threadingInfo xmlns:p15="http://schemas.microsoft.com/office/powerpoint/2012/main" timeZoneBias="24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3" dt="2021-06-22T17:21:33.571" idx="89">
    <p:pos x="10" y="10"/>
    <p:text>Filter column AO to get total opinions, then use column BI (adjusted vote) to get vote counts</p:text>
    <p:extLst>
      <p:ext uri="{C676402C-5697-4E1C-873F-D02D1690AC5C}">
        <p15:threadingInfo xmlns:p15="http://schemas.microsoft.com/office/powerpoint/2012/main" timeZoneBias="24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3" dt="2021-06-22T17:13:40.226" idx="93">
    <p:pos x="10" y="10"/>
    <p:text>Days: Column AM
Author: Column AO
Vote: Column BH
Date argued: Column T
Date decided: Column AH</p:text>
    <p:extLst>
      <p:ext uri="{C676402C-5697-4E1C-873F-D02D1690AC5C}">
        <p15:threadingInfo xmlns:p15="http://schemas.microsoft.com/office/powerpoint/2012/main" timeZoneBias="240"/>
      </p:ext>
    </p:extLst>
  </p:cm>
</p:cmLst>
</file>

<file path=ppt/comments/comment6.xml><?xml version="1.0" encoding="utf-8"?>
<p:cmLst xmlns:a="http://schemas.openxmlformats.org/drawingml/2006/main" xmlns:r="http://schemas.openxmlformats.org/officeDocument/2006/relationships" xmlns:p="http://schemas.openxmlformats.org/presentationml/2006/main">
  <p:cm authorId="3" dt="2021-06-22T17:25:40.094" idx="91">
    <p:pos x="10" y="10"/>
    <p:text>Put in order of "R" number, column AG - it's more or less date decided but w/a technicality.
Case name: column D
Decided: column AH
Vote: column BH
Author: column AO
Majority: For 9-0/8-0/8-1/7-1 cases, use vote (column AH) and if needed a quick glance at who wrote the dissenting opinion (column AT). For all other cases, use columns CA-CI.
If a justice is recused, you'll notice it by a blank cell in columns CA-CI.</p:text>
    <p:extLst>
      <p:ext uri="{C676402C-5697-4E1C-873F-D02D1690AC5C}">
        <p15:threadingInfo xmlns:p15="http://schemas.microsoft.com/office/powerpoint/2012/main" timeZoneBias="24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5/12/2025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8</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11</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12</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13</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19</a:t>
            </a:fld>
            <a:endParaRPr lang="en-US"/>
          </a:p>
        </p:txBody>
      </p:sp>
    </p:spTree>
    <p:extLst>
      <p:ext uri="{BB962C8B-B14F-4D97-AF65-F5344CB8AC3E}">
        <p14:creationId xmlns:p14="http://schemas.microsoft.com/office/powerpoint/2010/main" val="35809443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23</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24</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404DE1D-F371-4D93-A051-8E4291309856}"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FA28C88-2091-411C-8E6D-D707E5A32593}"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7A5D965-537E-4674-9D26-E591095F6E01}"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C467566-C371-408E-8F2D-3E574A0545A1}" type="datetime1">
              <a:rPr lang="en-US" smtClean="0"/>
              <a:t>5/12/2025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8776E93-5451-45E2-A790-01EC21311EF1}" type="datetime1">
              <a:rPr lang="en-US" smtClean="0"/>
              <a:t>5/12/2025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75DF2C9-1C8F-4DE1-840C-5402BB8470C8}" type="datetime1">
              <a:rPr lang="en-US" smtClean="0"/>
              <a:t>5/12/2025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4F80A29-A7D5-4AA0-8AFB-29039B5FC3F7}" type="datetime1">
              <a:rPr lang="en-US" smtClean="0"/>
              <a:t>5/12/2025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4DB8124-C576-407D-8F26-9D88A07D9C27}" type="datetime1">
              <a:rPr lang="en-US" smtClean="0"/>
              <a:t>5/12/2025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6A15BE4-95D6-4BC1-B7B6-793738243B8D}" type="datetime1">
              <a:rPr lang="en-US" smtClean="0"/>
              <a:t>5/12/2025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DCD188-A32A-44D9-8497-916B4940CED7}"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42DAC5-BD41-4F85-B02E-3945FFF7E277}"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A29DED-D69B-4EB7-BF85-2AE58F0DDAF2}" type="datetime1">
              <a:rPr lang="en-US" smtClean="0"/>
              <a:t>5/12/2025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comments" Target="../comments/comment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comments" Target="../comments/comment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comments" Target="../comments/comment5.xml"/><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12" Type="http://schemas.openxmlformats.org/officeDocument/2006/relationships/comments" Target="../comments/comment6.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_rels/slide24.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_rels/slide2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_rels/slide26.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__,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MAY 12,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t>2</a:t>
            </a:fld>
            <a:endParaRPr lang="en-US" sz="800" dirty="0"/>
          </a:p>
        </p:txBody>
      </p:sp>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13" name="Table 13">
            <a:extLst>
              <a:ext uri="{FF2B5EF4-FFF2-40B4-BE49-F238E27FC236}">
                <a16:creationId xmlns:a16="http://schemas.microsoft.com/office/drawing/2014/main" id="{2816B8B4-2B75-4A4E-82B3-628AEF4C139E}"/>
              </a:ext>
            </a:extLst>
          </p:cNvPr>
          <p:cNvGraphicFramePr>
            <a:graphicFrameLocks noGrp="1"/>
          </p:cNvGraphicFramePr>
          <p:nvPr>
            <p:extLst>
              <p:ext uri="{D42A27DB-BD31-4B8C-83A1-F6EECF244321}">
                <p14:modId xmlns:p14="http://schemas.microsoft.com/office/powerpoint/2010/main" val="2794905230"/>
              </p:ext>
            </p:extLst>
          </p:nvPr>
        </p:nvGraphicFramePr>
        <p:xfrm>
          <a:off x="347690" y="1106041"/>
          <a:ext cx="11431022" cy="5421856"/>
        </p:xfrm>
        <a:graphic>
          <a:graphicData uri="http://schemas.openxmlformats.org/drawingml/2006/table">
            <a:tbl>
              <a:tblPr firstRow="1" bandRow="1">
                <a:tableStyleId>{2D5ABB26-0587-4C30-8999-92F81FD0307C}</a:tableStyleId>
              </a:tblPr>
              <a:tblGrid>
                <a:gridCol w="10648075">
                  <a:extLst>
                    <a:ext uri="{9D8B030D-6E8A-4147-A177-3AD203B41FA5}">
                      <a16:colId xmlns:a16="http://schemas.microsoft.com/office/drawing/2014/main" val="1260107550"/>
                    </a:ext>
                  </a:extLst>
                </a:gridCol>
                <a:gridCol w="782947">
                  <a:extLst>
                    <a:ext uri="{9D8B030D-6E8A-4147-A177-3AD203B41FA5}">
                      <a16:colId xmlns:a16="http://schemas.microsoft.com/office/drawing/2014/main" val="2073143177"/>
                    </a:ext>
                  </a:extLst>
                </a:gridCol>
              </a:tblGrid>
              <a:tr h="338866">
                <a:tc>
                  <a:txBody>
                    <a:bodyPr/>
                    <a:lstStyle/>
                    <a:p>
                      <a:pPr>
                        <a:lnSpc>
                          <a:spcPts val="1940"/>
                        </a:lnSpc>
                      </a:pPr>
                      <a:r>
                        <a:rPr lang="en-US" sz="1400" dirty="0">
                          <a:latin typeface="MULISH REGULAR ROMAN" pitchFamily="2" charset="77"/>
                        </a:rPr>
                        <a:t>Introduction _______________________________________________________________________________________________________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563563825"/>
                  </a:ext>
                </a:extLst>
              </a:tr>
              <a:tr h="338866">
                <a:tc>
                  <a:txBody>
                    <a:bodyPr/>
                    <a:lstStyle/>
                    <a:p>
                      <a:r>
                        <a:rPr lang="en-US" sz="1400" dirty="0">
                          <a:latin typeface="MULISH REGULAR ROMAN" pitchFamily="2" charset="77"/>
                        </a:rPr>
                        <a:t>Term index  ________________________________________________________________________________________________________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174027382"/>
                  </a:ext>
                </a:extLst>
              </a:tr>
              <a:tr h="338866">
                <a:tc>
                  <a:txBody>
                    <a:bodyPr/>
                    <a:lstStyle/>
                    <a:p>
                      <a:r>
                        <a:rPr lang="en-US" sz="1400" dirty="0">
                          <a:latin typeface="MULISH REGULAR ROMAN" pitchFamily="2" charset="77"/>
                        </a:rPr>
                        <a:t>Circuit scorecard  ___________________________________________________________________________________________________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3645463055"/>
                  </a:ext>
                </a:extLst>
              </a:tr>
              <a:tr h="338866">
                <a:tc>
                  <a:txBody>
                    <a:bodyPr/>
                    <a:lstStyle/>
                    <a:p>
                      <a:r>
                        <a:rPr lang="en-US" sz="1400" dirty="0">
                          <a:latin typeface="MULISH REGULAR ROMAN" pitchFamily="2" charset="77"/>
                        </a:rPr>
                        <a:t>Makeup of the merits docket 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4075254628"/>
                  </a:ext>
                </a:extLst>
              </a:tr>
              <a:tr h="338866">
                <a:tc>
                  <a:txBody>
                    <a:bodyPr/>
                    <a:lstStyle/>
                    <a:p>
                      <a:r>
                        <a:rPr lang="en-US" sz="1400" dirty="0">
                          <a:latin typeface="MULISH REGULAR ROMAN" pitchFamily="2" charset="77"/>
                        </a:rPr>
                        <a:t>Days between argument and opinion 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278505990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Total opinions over time 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3171149815"/>
                  </a:ext>
                </a:extLst>
              </a:tr>
              <a:tr h="338866">
                <a:tc>
                  <a:txBody>
                    <a:bodyPr/>
                    <a:lstStyle/>
                    <a:p>
                      <a:r>
                        <a:rPr lang="en-US" sz="1400" dirty="0">
                          <a:latin typeface="MULISH REGULAR ROMAN" pitchFamily="2" charset="77"/>
                        </a:rPr>
                        <a:t>Opinions authored by each justice ____________________________________________________________________________________ </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1778411587"/>
                  </a:ext>
                </a:extLst>
              </a:tr>
              <a:tr h="338866">
                <a:tc>
                  <a:txBody>
                    <a:bodyPr/>
                    <a:lstStyle/>
                    <a:p>
                      <a:r>
                        <a:rPr lang="en-US" sz="1400" dirty="0">
                          <a:latin typeface="MULISH REGULAR ROMAN" pitchFamily="2" charset="77"/>
                        </a:rPr>
                        <a:t>Frequency in the majority 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2363128489"/>
                  </a:ext>
                </a:extLst>
              </a:tr>
              <a:tr h="338866">
                <a:tc>
                  <a:txBody>
                    <a:bodyPr/>
                    <a:lstStyle/>
                    <a:p>
                      <a:r>
                        <a:rPr lang="en-US" sz="1400" dirty="0">
                          <a:latin typeface="MULISH REGULAR ROMAN" pitchFamily="2" charset="77"/>
                        </a:rPr>
                        <a:t>Strength of the majority  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3533005523"/>
                  </a:ext>
                </a:extLst>
              </a:tr>
              <a:tr h="338866">
                <a:tc>
                  <a:txBody>
                    <a:bodyPr/>
                    <a:lstStyle/>
                    <a:p>
                      <a:r>
                        <a:rPr lang="en-US" sz="1400" dirty="0">
                          <a:latin typeface="MULISH REGULAR ROMAN" pitchFamily="2" charset="77"/>
                        </a:rPr>
                        <a:t>Recusals  __________________________________________________________________________________________________________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2027874517"/>
                  </a:ext>
                </a:extLst>
              </a:tr>
              <a:tr h="338866">
                <a:tc>
                  <a:txBody>
                    <a:bodyPr/>
                    <a:lstStyle/>
                    <a:p>
                      <a:r>
                        <a:rPr lang="en-US" sz="1400" dirty="0">
                          <a:latin typeface="MULISH REGULAR ROMAN" pitchFamily="2" charset="77"/>
                        </a:rPr>
                        <a:t>Merits cases by vote split 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2304371767"/>
                  </a:ext>
                </a:extLst>
              </a:tr>
              <a:tr h="338866">
                <a:tc>
                  <a:txBody>
                    <a:bodyPr/>
                    <a:lstStyle/>
                    <a:p>
                      <a:r>
                        <a:rPr lang="en-US" sz="1400" dirty="0">
                          <a:latin typeface="MULISH REGULAR ROMAN" pitchFamily="2" charset="77"/>
                        </a:rPr>
                        <a:t>Unanimous cases ___________________________________________________________________________________________________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213502349"/>
                  </a:ext>
                </a:extLst>
              </a:tr>
              <a:tr h="338866">
                <a:tc>
                  <a:txBody>
                    <a:bodyPr/>
                    <a:lstStyle/>
                    <a:p>
                      <a:r>
                        <a:rPr lang="en-US" sz="1400" dirty="0">
                          <a:latin typeface="MULISH REGULAR ROMAN" pitchFamily="2" charset="77"/>
                        </a:rPr>
                        <a:t>Closely divided cases  _______________________________________________________________________________________________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2075258031"/>
                  </a:ext>
                </a:extLst>
              </a:tr>
              <a:tr h="338866">
                <a:tc>
                  <a:txBody>
                    <a:bodyPr/>
                    <a:lstStyle/>
                    <a:p>
                      <a:r>
                        <a:rPr lang="en-US" sz="1400" dirty="0">
                          <a:latin typeface="MULISH REGULAR ROMAN" pitchFamily="2" charset="77"/>
                        </a:rPr>
                        <a:t>Justice agreement  __________________________________________________________________________________________________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4213982856"/>
                  </a:ext>
                </a:extLst>
              </a:tr>
              <a:tr h="338866">
                <a:tc>
                  <a:txBody>
                    <a:bodyPr/>
                    <a:lstStyle/>
                    <a:p>
                      <a:r>
                        <a:rPr lang="en-US" sz="1400" dirty="0">
                          <a:latin typeface="MULISH REGULAR ROMAN" pitchFamily="2" charset="77"/>
                        </a:rPr>
                        <a:t>Oral argument  _____________________________________________________________________________________________________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2003988982"/>
                  </a:ext>
                </a:extLst>
              </a:tr>
              <a:tr h="338866">
                <a:tc>
                  <a:txBody>
                    <a:bodyPr/>
                    <a:lstStyle/>
                    <a:p>
                      <a:r>
                        <a:rPr lang="en-US" sz="1400" dirty="0">
                          <a:latin typeface="MULISH REGULAR ROMAN" pitchFamily="2" charset="77"/>
                        </a:rPr>
                        <a:t>Voting alignment ___________________________________________________________________________________________________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306141143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7" name="Slide Number Placeholder 3">
            <a:extLst>
              <a:ext uri="{FF2B5EF4-FFF2-40B4-BE49-F238E27FC236}">
                <a16:creationId xmlns:a16="http://schemas.microsoft.com/office/drawing/2014/main" id="{2A45BD41-D12E-F345-8BE8-A89CDA82824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t>3</a:t>
            </a:fld>
            <a:endParaRPr lang="en-US" sz="800"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3007014042"/>
              </p:ext>
            </p:extLst>
          </p:nvPr>
        </p:nvGraphicFramePr>
        <p:xfrm>
          <a:off x="395056" y="857559"/>
          <a:ext cx="11401887" cy="5944974"/>
        </p:xfrm>
        <a:graphic>
          <a:graphicData uri="http://schemas.openxmlformats.org/drawingml/2006/table">
            <a:tbl>
              <a:tblPr firstRow="1" bandRow="1">
                <a:tableStyleId>{C083E6E3-FA7D-4D7B-A595-EF9225AFEA82}</a:tableStyleId>
              </a:tblPr>
              <a:tblGrid>
                <a:gridCol w="984623">
                  <a:extLst>
                    <a:ext uri="{9D8B030D-6E8A-4147-A177-3AD203B41FA5}">
                      <a16:colId xmlns:a16="http://schemas.microsoft.com/office/drawing/2014/main" val="20000"/>
                    </a:ext>
                  </a:extLst>
                </a:gridCol>
                <a:gridCol w="142321">
                  <a:extLst>
                    <a:ext uri="{9D8B030D-6E8A-4147-A177-3AD203B41FA5}">
                      <a16:colId xmlns:a16="http://schemas.microsoft.com/office/drawing/2014/main" val="2854710428"/>
                    </a:ext>
                  </a:extLst>
                </a:gridCol>
                <a:gridCol w="502791">
                  <a:extLst>
                    <a:ext uri="{9D8B030D-6E8A-4147-A177-3AD203B41FA5}">
                      <a16:colId xmlns:a16="http://schemas.microsoft.com/office/drawing/2014/main" val="20001"/>
                    </a:ext>
                  </a:extLst>
                </a:gridCol>
                <a:gridCol w="346750">
                  <a:extLst>
                    <a:ext uri="{9D8B030D-6E8A-4147-A177-3AD203B41FA5}">
                      <a16:colId xmlns:a16="http://schemas.microsoft.com/office/drawing/2014/main" val="20002"/>
                    </a:ext>
                  </a:extLst>
                </a:gridCol>
                <a:gridCol w="557852">
                  <a:extLst>
                    <a:ext uri="{9D8B030D-6E8A-4147-A177-3AD203B41FA5}">
                      <a16:colId xmlns:a16="http://schemas.microsoft.com/office/drawing/2014/main" val="20003"/>
                    </a:ext>
                  </a:extLst>
                </a:gridCol>
                <a:gridCol w="239676">
                  <a:extLst>
                    <a:ext uri="{9D8B030D-6E8A-4147-A177-3AD203B41FA5}">
                      <a16:colId xmlns:a16="http://schemas.microsoft.com/office/drawing/2014/main" val="20004"/>
                    </a:ext>
                  </a:extLst>
                </a:gridCol>
                <a:gridCol w="606817">
                  <a:extLst>
                    <a:ext uri="{9D8B030D-6E8A-4147-A177-3AD203B41FA5}">
                      <a16:colId xmlns:a16="http://schemas.microsoft.com/office/drawing/2014/main" val="20005"/>
                    </a:ext>
                  </a:extLst>
                </a:gridCol>
                <a:gridCol w="1252156">
                  <a:extLst>
                    <a:ext uri="{9D8B030D-6E8A-4147-A177-3AD203B41FA5}">
                      <a16:colId xmlns:a16="http://schemas.microsoft.com/office/drawing/2014/main" val="20009"/>
                    </a:ext>
                  </a:extLst>
                </a:gridCol>
                <a:gridCol w="620303">
                  <a:extLst>
                    <a:ext uri="{9D8B030D-6E8A-4147-A177-3AD203B41FA5}">
                      <a16:colId xmlns:a16="http://schemas.microsoft.com/office/drawing/2014/main" val="2523461480"/>
                    </a:ext>
                  </a:extLst>
                </a:gridCol>
                <a:gridCol w="317401">
                  <a:extLst>
                    <a:ext uri="{9D8B030D-6E8A-4147-A177-3AD203B41FA5}">
                      <a16:colId xmlns:a16="http://schemas.microsoft.com/office/drawing/2014/main" val="20011"/>
                    </a:ext>
                  </a:extLst>
                </a:gridCol>
                <a:gridCol w="537466">
                  <a:extLst>
                    <a:ext uri="{9D8B030D-6E8A-4147-A177-3AD203B41FA5}">
                      <a16:colId xmlns:a16="http://schemas.microsoft.com/office/drawing/2014/main" val="20012"/>
                    </a:ext>
                  </a:extLst>
                </a:gridCol>
                <a:gridCol w="398761">
                  <a:extLst>
                    <a:ext uri="{9D8B030D-6E8A-4147-A177-3AD203B41FA5}">
                      <a16:colId xmlns:a16="http://schemas.microsoft.com/office/drawing/2014/main" val="20013"/>
                    </a:ext>
                  </a:extLst>
                </a:gridCol>
                <a:gridCol w="641489">
                  <a:extLst>
                    <a:ext uri="{9D8B030D-6E8A-4147-A177-3AD203B41FA5}">
                      <a16:colId xmlns:a16="http://schemas.microsoft.com/office/drawing/2014/main" val="20014"/>
                    </a:ext>
                  </a:extLst>
                </a:gridCol>
                <a:gridCol w="1400798">
                  <a:extLst>
                    <a:ext uri="{9D8B030D-6E8A-4147-A177-3AD203B41FA5}">
                      <a16:colId xmlns:a16="http://schemas.microsoft.com/office/drawing/2014/main" val="20018"/>
                    </a:ext>
                  </a:extLst>
                </a:gridCol>
                <a:gridCol w="766403">
                  <a:extLst>
                    <a:ext uri="{9D8B030D-6E8A-4147-A177-3AD203B41FA5}">
                      <a16:colId xmlns:a16="http://schemas.microsoft.com/office/drawing/2014/main" val="1361156796"/>
                    </a:ext>
                  </a:extLst>
                </a:gridCol>
                <a:gridCol w="273851">
                  <a:extLst>
                    <a:ext uri="{9D8B030D-6E8A-4147-A177-3AD203B41FA5}">
                      <a16:colId xmlns:a16="http://schemas.microsoft.com/office/drawing/2014/main" val="20021"/>
                    </a:ext>
                  </a:extLst>
                </a:gridCol>
                <a:gridCol w="365760">
                  <a:extLst>
                    <a:ext uri="{9D8B030D-6E8A-4147-A177-3AD203B41FA5}">
                      <a16:colId xmlns:a16="http://schemas.microsoft.com/office/drawing/2014/main" val="1036429855"/>
                    </a:ext>
                  </a:extLst>
                </a:gridCol>
                <a:gridCol w="563471">
                  <a:extLst>
                    <a:ext uri="{9D8B030D-6E8A-4147-A177-3AD203B41FA5}">
                      <a16:colId xmlns:a16="http://schemas.microsoft.com/office/drawing/2014/main" val="20022"/>
                    </a:ext>
                  </a:extLst>
                </a:gridCol>
                <a:gridCol w="372264">
                  <a:extLst>
                    <a:ext uri="{9D8B030D-6E8A-4147-A177-3AD203B41FA5}">
                      <a16:colId xmlns:a16="http://schemas.microsoft.com/office/drawing/2014/main" val="20023"/>
                    </a:ext>
                  </a:extLst>
                </a:gridCol>
                <a:gridCol w="510934">
                  <a:extLst>
                    <a:ext uri="{9D8B030D-6E8A-4147-A177-3AD203B41FA5}">
                      <a16:colId xmlns:a16="http://schemas.microsoft.com/office/drawing/2014/main" val="20024"/>
                    </a:ext>
                  </a:extLst>
                </a:gridCol>
              </a:tblGrid>
              <a:tr h="244314">
                <a:tc gridSpan="7">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a:effectLst/>
                          <a:latin typeface="MULISH REGULAR ROMAN"/>
                        </a:rPr>
                        <a:t>Kagan</a:t>
                      </a:r>
                      <a:endParaRPr lang="en-US" sz="900" i="1"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BLACK ROMAN"/>
                        </a:rPr>
                        <a:t>Alito</a:t>
                      </a:r>
                      <a:endParaRPr lang="en-US" sz="900" i="1"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BLACK ROMAN"/>
                        </a:rPr>
                        <a:t>Jackson</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a:rPr>
                        <a:t>Kavanaugh</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Sotomayor</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a:rPr>
                        <a:t>PC</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a:rPr>
                        <a:t>Gorsuch</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a:rPr>
                        <a:t>Thomas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a:rPr>
                        <a:t>PC</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strike="sngStrike">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SMS</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BMK</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EK</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NMG</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SAA</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RBG</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gridSpan="2">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gridSpan="2">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hMerge="1">
                  <a:txBody>
                    <a:bodyPr/>
                    <a:lstStyle/>
                    <a:p>
                      <a:pPr marL="0" algn="l" rtl="0" eaLnBrk="1" fontAlgn="base" latinLnBrk="0" hangingPunct="1">
                        <a:spcBef>
                          <a:spcPts val="0"/>
                        </a:spcBef>
                        <a:spcAft>
                          <a:spcPts val="0"/>
                        </a:spcAft>
                      </a:pPr>
                      <a:endParaRPr lang="en-US" sz="900" i="1" strike="noStrike" baseline="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Shadow Docket</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algn="l" rtl="0" eaLnBrk="1" fontAlgn="base" latinLnBrk="0" hangingPunct="1">
                        <a:spcBef>
                          <a:spcPts val="0"/>
                        </a:spcBef>
                        <a:spcAft>
                          <a:spcPts val="0"/>
                        </a:spcAft>
                      </a:pPr>
                      <a:r>
                        <a:rPr lang="en-US" sz="900" kern="1200" dirty="0">
                          <a:effectLst/>
                          <a:latin typeface="MULISH REGULAR ROMAN" pitchFamily="2" charset="77"/>
                        </a:rPr>
                        <a:t>#</a:t>
                      </a:r>
                    </a:p>
                  </a:txBody>
                  <a:tcPr marL="45720" marR="0" marT="0" marB="0" anchor="ctr">
                    <a:lnR>
                      <a:noFill/>
                    </a:lnR>
                    <a:lnB w="12700" cap="flat" cmpd="sng" algn="ctr">
                      <a:solidFill>
                        <a:schemeClr val="tx1"/>
                      </a:solidFill>
                      <a:prstDash val="solid"/>
                      <a:round/>
                      <a:headEnd type="none" w="med" len="med"/>
                      <a:tailEnd type="none" w="med" len="med"/>
                    </a:lnB>
                  </a:tcPr>
                </a:tc>
                <a:tc gridSpan="3">
                  <a:txBody>
                    <a:bodyPr/>
                    <a:lstStyle/>
                    <a:p>
                      <a:endParaRPr lang="en-US" sz="900" dirty="0">
                        <a:latin typeface="MULISH REGULAR ROMAN" pitchFamily="2" charset="77"/>
                      </a:endParaRPr>
                    </a:p>
                  </a:txBody>
                  <a:tcPr marL="45720" marR="0" marT="0" marB="0" anchor="ctr">
                    <a:lnL>
                      <a:noFill/>
                    </a:lnL>
                    <a:lnR>
                      <a:noFill/>
                    </a:lnR>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Cir</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r>
                        <a:rPr lang="en-US" sz="900" b="1" i="0" dirty="0">
                          <a:latin typeface="MULISH BOLD ROMAN" pitchFamily="2" charset="77"/>
                        </a:rPr>
                        <a:t>Total opinions released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hMerge="1">
                  <a:txBody>
                    <a:bodyPr/>
                    <a:lstStyle/>
                    <a:p>
                      <a:endParaRPr lang="en-US"/>
                    </a:p>
                  </a:txBody>
                  <a:tcPr/>
                </a:tc>
                <a:tc hMerge="1">
                  <a:txBody>
                    <a:bodyPr/>
                    <a:lstStyle/>
                    <a:p>
                      <a:endParaRPr lang="en-US"/>
                    </a:p>
                  </a:txBody>
                  <a:tcPr>
                    <a:lnT w="12700" cap="flat" cmpd="sng" algn="ctr">
                      <a:solidFill>
                        <a:schemeClr val="tx1"/>
                      </a:solidFill>
                      <a:prstDash val="solid"/>
                      <a:round/>
                      <a:headEnd type="none" w="med" len="med"/>
                      <a:tailEnd type="none" w="med" len="med"/>
                    </a:lnT>
                  </a:tcPr>
                </a:tc>
                <a:tc gridSpan="4">
                  <a:txBody>
                    <a:bodyPr/>
                    <a:lstStyle/>
                    <a:p>
                      <a:pPr algn="l"/>
                      <a:endParaRPr lang="en-US" sz="800" dirty="0">
                        <a:latin typeface="MULISH REGULAR ROMAN" pitchFamily="2" charset="77"/>
                      </a:endParaRPr>
                    </a:p>
                  </a:txBody>
                  <a:tcPr marL="45720" marR="0" marT="0" marB="0"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738805768"/>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L>
                      <a:noFill/>
                    </a:lnL>
                  </a:tcPr>
                </a:tc>
                <a:tc gridSpan="4">
                  <a:txBody>
                    <a:bodyPr/>
                    <a:lstStyle/>
                    <a:p>
                      <a:pPr algn="l"/>
                      <a:r>
                        <a:rPr lang="en-US" sz="900" dirty="0">
                          <a:effectLst/>
                          <a:latin typeface="MULISH REGULAR ROMAN" pitchFamily="2" charset="77"/>
                        </a:rPr>
                        <a:t>#</a:t>
                      </a:r>
                      <a:endParaRPr lang="en-US" dirty="0"/>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32"/>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4"/>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3" name="Slide Number Placeholder 2">
            <a:extLst>
              <a:ext uri="{FF2B5EF4-FFF2-40B4-BE49-F238E27FC236}">
                <a16:creationId xmlns:a16="http://schemas.microsoft.com/office/drawing/2014/main" id="{E7F8BED9-8304-8F33-176F-3D1C79BF7F0E}"/>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4</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Tree>
    <p:extLst>
      <p:ext uri="{BB962C8B-B14F-4D97-AF65-F5344CB8AC3E}">
        <p14:creationId xmlns:p14="http://schemas.microsoft.com/office/powerpoint/2010/main" val="250806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4265941375"/>
              </p:ext>
            </p:extLst>
          </p:nvPr>
        </p:nvGraphicFramePr>
        <p:xfrm>
          <a:off x="344808" y="918414"/>
          <a:ext cx="11135992" cy="5212080"/>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74320">
                <a:tc>
                  <a:txBody>
                    <a:bodyPr/>
                    <a:lstStyle/>
                    <a:p>
                      <a:pPr marL="0" algn="ctr" rtl="0" eaLnBrk="1" fontAlgn="auto" latinLnBrk="0" hangingPunct="1">
                        <a:spcBef>
                          <a:spcPts val="0"/>
                        </a:spcBef>
                        <a:spcAft>
                          <a:spcPts val="0"/>
                        </a:spcAft>
                      </a:pPr>
                      <a:r>
                        <a:rPr lang="en-US" sz="1100" b="1" kern="1200" dirty="0">
                          <a:latin typeface="MULISH REGULAR ROMAN" pitchFamily="2" charset="77"/>
                        </a:rPr>
                        <a:t>​Court below</a:t>
                      </a:r>
                      <a:endParaRPr lang="en-US" sz="1100" b="1" dirty="0">
                        <a:effectLst/>
                        <a:latin typeface="MULISH REGULAR ROMAN" pitchFamily="2" charset="77"/>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pitchFamily="2" charset="77"/>
                        </a:rPr>
                        <a:t># of Cases</a:t>
                      </a:r>
                      <a:endParaRPr lang="en-US" sz="1100" b="1" dirty="0">
                        <a:effectLst/>
                        <a:latin typeface="MULISH REGULAR ROMAN" pitchFamily="2" charset="77"/>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pitchFamily="2" charset="77"/>
                        </a:rPr>
                        <a:t>% of Cases</a:t>
                      </a:r>
                      <a:endParaRPr lang="en-US" sz="1100" b="1" dirty="0">
                        <a:effectLst/>
                        <a:latin typeface="MULISH REGULAR ROMAN" pitchFamily="2" charset="77"/>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pitchFamily="2" charset="77"/>
                        </a:rPr>
                        <a:t># Decided​</a:t>
                      </a:r>
                      <a:endParaRPr lang="en-US" sz="1100" b="1" dirty="0">
                        <a:effectLst/>
                        <a:latin typeface="MULISH REGULAR ROMAN" pitchFamily="2" charset="77"/>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pitchFamily="2" charset="77"/>
                        </a:rPr>
                        <a:t># Affirmed</a:t>
                      </a:r>
                      <a:endParaRPr lang="en-US" sz="1100" b="1" dirty="0">
                        <a:effectLst/>
                        <a:latin typeface="MULISH REGULAR ROMAN" pitchFamily="2" charset="77"/>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pitchFamily="2" charset="77"/>
                        </a:rPr>
                        <a:t># Reversed</a:t>
                      </a:r>
                      <a:endParaRPr lang="en-US" sz="1100" b="1" dirty="0">
                        <a:effectLst/>
                        <a:latin typeface="MULISH REGULAR ROMAN" pitchFamily="2" charset="77"/>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pitchFamily="2" charset="77"/>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pitchFamily="2" charset="77"/>
                        </a:rPr>
                        <a:t>% Reversed</a:t>
                      </a:r>
                      <a:endParaRPr lang="en-US" sz="1100" b="1" dirty="0">
                        <a:effectLst/>
                        <a:latin typeface="MULISH REGULAR ROMAN" pitchFamily="2" charset="77"/>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74320">
                <a:tc>
                  <a:txBody>
                    <a:bodyPr/>
                    <a:lstStyle/>
                    <a:p>
                      <a:pPr marL="0" algn="ctr" rtl="0" eaLnBrk="1" fontAlgn="base" latinLnBrk="0" hangingPunct="1">
                        <a:spcBef>
                          <a:spcPts val="0"/>
                        </a:spcBef>
                        <a:spcAft>
                          <a:spcPts val="0"/>
                        </a:spcAft>
                      </a:pPr>
                      <a:r>
                        <a:rPr lang="en-US" sz="1100" b="0" kern="1200" dirty="0">
                          <a:latin typeface="MULISH REGULAR ROMAN" pitchFamily="2" charset="77"/>
                        </a:rPr>
                        <a:t>1st Cir.​</a:t>
                      </a:r>
                      <a:endParaRPr lang="en-US" sz="1100" b="0" dirty="0">
                        <a:effectLst/>
                        <a:latin typeface="MULISH REGULAR ROMAN" pitchFamily="2" charset="77"/>
                      </a:endParaRPr>
                    </a:p>
                  </a:txBody>
                  <a:tcPr marL="0" marR="0" marT="0" marB="0" anchor="ctr">
                    <a:lnT w="12700" cmpd="sng">
                      <a:noFill/>
                    </a:lnT>
                  </a:tcP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1</a:t>
                      </a:r>
                    </a:p>
                  </a:txBody>
                  <a:tcPr anchor="ctr">
                    <a:lnT w="12700" cmpd="sng">
                      <a:noFill/>
                    </a:lnT>
                  </a:tcP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1.5%</a:t>
                      </a:r>
                    </a:p>
                  </a:txBody>
                  <a:tcPr anchor="ctr">
                    <a:lnT w="12700" cmpd="sng">
                      <a:noFill/>
                    </a:lnT>
                  </a:tcP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lnT w="12700" cmpd="sng">
                      <a:noFill/>
                    </a:lnT>
                  </a:tcP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lnT w="12700" cmpd="sng">
                      <a:noFill/>
                    </a:lnT>
                  </a:tcP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lnT w="12700" cmpd="sng">
                      <a:noFill/>
                    </a:lnT>
                  </a:tcP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lnT w="12700" cmpd="sng">
                      <a:noFill/>
                    </a:lnT>
                  </a:tcP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lnT w="12700" cmpd="sng">
                      <a:noFill/>
                    </a:lnT>
                  </a:tcPr>
                </a:tc>
                <a:extLst>
                  <a:ext uri="{0D108BD9-81ED-4DB2-BD59-A6C34878D82A}">
                    <a16:rowId xmlns:a16="http://schemas.microsoft.com/office/drawing/2014/main" val="10002"/>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pitchFamily="2" charset="77"/>
                        </a:rPr>
                        <a:t>2nd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6</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9.1%</a:t>
                      </a:r>
                    </a:p>
                  </a:txBody>
                  <a:tcPr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4</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50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50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03"/>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pitchFamily="2" charset="77"/>
                        </a:rPr>
                        <a:t>3rd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2</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3%</a:t>
                      </a:r>
                    </a:p>
                  </a:txBody>
                  <a:tcPr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04"/>
                  </a:ext>
                </a:extLst>
              </a:tr>
              <a:tr h="274320">
                <a:tc>
                  <a:txBody>
                    <a:bodyPr/>
                    <a:lstStyle/>
                    <a:p>
                      <a:pPr marL="0" algn="ctr" rtl="0" eaLnBrk="1" fontAlgn="base" latinLnBrk="0" hangingPunct="1">
                        <a:spcBef>
                          <a:spcPts val="0"/>
                        </a:spcBef>
                        <a:spcAft>
                          <a:spcPts val="0"/>
                        </a:spcAft>
                      </a:pPr>
                      <a:r>
                        <a:rPr lang="en-US" sz="1100" b="0" kern="1200" dirty="0">
                          <a:latin typeface="MULISH REGULAR ROMAN" pitchFamily="2" charset="77"/>
                        </a:rPr>
                        <a:t>4th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8</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12.1%</a:t>
                      </a:r>
                    </a:p>
                  </a:txBody>
                  <a:tcPr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3</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3</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100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05"/>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pitchFamily="2" charset="77"/>
                        </a:rPr>
                        <a:t>5th</a:t>
                      </a:r>
                      <a:r>
                        <a:rPr lang="en-US" sz="1100" b="0" kern="1200" baseline="30000" dirty="0">
                          <a:effectLst/>
                          <a:latin typeface="MULISH REGULAR ROMAN" pitchFamily="2" charset="77"/>
                        </a:rPr>
                        <a:t> </a:t>
                      </a:r>
                      <a:r>
                        <a:rPr lang="en-US" sz="1100" b="0" kern="1200" dirty="0">
                          <a:effectLst/>
                          <a:latin typeface="MULISH REGULAR ROMAN" pitchFamily="2" charset="77"/>
                        </a:rPr>
                        <a:t>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12</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18.2%</a:t>
                      </a:r>
                    </a:p>
                  </a:txBody>
                  <a:tcPr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100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06"/>
                  </a:ext>
                </a:extLst>
              </a:tr>
              <a:tr h="274320">
                <a:tc>
                  <a:txBody>
                    <a:bodyPr/>
                    <a:lstStyle/>
                    <a:p>
                      <a:pPr marL="0" algn="ctr" rtl="0" eaLnBrk="1" fontAlgn="base" latinLnBrk="0" hangingPunct="1">
                        <a:spcBef>
                          <a:spcPts val="0"/>
                        </a:spcBef>
                        <a:spcAft>
                          <a:spcPts val="0"/>
                        </a:spcAft>
                      </a:pPr>
                      <a:r>
                        <a:rPr lang="en-US" sz="1100" b="0" kern="1200" dirty="0">
                          <a:latin typeface="MULISH REGULAR ROMAN" pitchFamily="2" charset="77"/>
                        </a:rPr>
                        <a:t>6th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4</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6.1%</a:t>
                      </a:r>
                    </a:p>
                  </a:txBody>
                  <a:tcPr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07"/>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pitchFamily="2" charset="77"/>
                        </a:rPr>
                        <a:t>7th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2</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0.03%</a:t>
                      </a:r>
                    </a:p>
                  </a:txBody>
                  <a:tcPr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50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50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08"/>
                  </a:ext>
                </a:extLst>
              </a:tr>
              <a:tr h="274320">
                <a:tc>
                  <a:txBody>
                    <a:bodyPr/>
                    <a:lstStyle/>
                    <a:p>
                      <a:pPr marL="0" algn="ctr" rtl="0" eaLnBrk="1" fontAlgn="base" latinLnBrk="0" hangingPunct="1">
                        <a:spcBef>
                          <a:spcPts val="0"/>
                        </a:spcBef>
                        <a:spcAft>
                          <a:spcPts val="0"/>
                        </a:spcAft>
                      </a:pPr>
                      <a:r>
                        <a:rPr lang="en-US" sz="1100" b="0" kern="1200" dirty="0">
                          <a:latin typeface="MULISH REGULAR ROMAN" pitchFamily="2" charset="77"/>
                        </a:rPr>
                        <a:t>8th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2</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3%</a:t>
                      </a:r>
                    </a:p>
                  </a:txBody>
                  <a:tcPr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100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09"/>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pitchFamily="2" charset="77"/>
                        </a:rPr>
                        <a:t>9th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6</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9.1%</a:t>
                      </a:r>
                    </a:p>
                  </a:txBody>
                  <a:tcPr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100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10"/>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pitchFamily="2" charset="77"/>
                        </a:rPr>
                        <a:t>10th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4</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6.1%</a:t>
                      </a:r>
                    </a:p>
                  </a:txBody>
                  <a:tcPr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3</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3</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100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11"/>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pitchFamily="2" charset="77"/>
                        </a:rPr>
                        <a:t>11th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4</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6.1%</a:t>
                      </a:r>
                    </a:p>
                  </a:txBody>
                  <a:tcPr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50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50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12"/>
                  </a:ext>
                </a:extLst>
              </a:tr>
              <a:tr h="274320">
                <a:tc>
                  <a:txBody>
                    <a:bodyPr/>
                    <a:lstStyle/>
                    <a:p>
                      <a:pPr marL="0" algn="ctr" rtl="0">
                        <a:spcBef>
                          <a:spcPts val="0"/>
                        </a:spcBef>
                        <a:spcAft>
                          <a:spcPts val="0"/>
                        </a:spcAft>
                      </a:pPr>
                      <a:r>
                        <a:rPr lang="en-US" sz="1100" b="0" kern="1200" dirty="0">
                          <a:effectLst/>
                          <a:latin typeface="MULISH REGULAR ROMAN" pitchFamily="2" charset="77"/>
                        </a:rPr>
                        <a:t>D.C.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5</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7.6%</a:t>
                      </a:r>
                    </a:p>
                  </a:txBody>
                  <a:tcPr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50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50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13"/>
                  </a:ext>
                </a:extLst>
              </a:tr>
              <a:tr h="274320">
                <a:tc>
                  <a:txBody>
                    <a:bodyPr/>
                    <a:lstStyle/>
                    <a:p>
                      <a:pPr marL="0" algn="ctr" rtl="0">
                        <a:spcBef>
                          <a:spcPts val="0"/>
                        </a:spcBef>
                        <a:spcAft>
                          <a:spcPts val="0"/>
                        </a:spcAft>
                      </a:pPr>
                      <a:r>
                        <a:rPr lang="en-US" sz="1100" b="0" kern="1200" dirty="0">
                          <a:latin typeface="MULISH REGULAR ROMAN" pitchFamily="2" charset="77"/>
                        </a:rPr>
                        <a:t>Fed.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3</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4.5%</a:t>
                      </a:r>
                    </a:p>
                  </a:txBody>
                  <a:tcPr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100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14"/>
                  </a:ext>
                </a:extLst>
              </a:tr>
              <a:tr h="274320">
                <a:tc>
                  <a:txBody>
                    <a:bodyPr/>
                    <a:lstStyle/>
                    <a:p>
                      <a:pPr marL="0" lvl="0" algn="ctr">
                        <a:spcBef>
                          <a:spcPts val="0"/>
                        </a:spcBef>
                        <a:spcAft>
                          <a:spcPts val="0"/>
                        </a:spcAft>
                        <a:buNone/>
                      </a:pPr>
                      <a:r>
                        <a:rPr lang="en-US" sz="1100" b="0" kern="1200" dirty="0">
                          <a:latin typeface="MULISH REGULAR ROMAN" pitchFamily="2" charset="77"/>
                        </a:rPr>
                        <a:t>Armed Forces</a:t>
                      </a:r>
                    </a:p>
                  </a:txBody>
                  <a:tcPr marL="0" marR="0" marT="0" marB="0" anchor="ctr"/>
                </a:tc>
                <a:tc>
                  <a:txBody>
                    <a:bodyPr/>
                    <a:lstStyle/>
                    <a:p>
                      <a:pPr marL="0" lvl="0" algn="ctr">
                        <a:spcBef>
                          <a:spcPts val="0"/>
                        </a:spcBef>
                        <a:spcAft>
                          <a:spcPts val="0"/>
                        </a:spcAft>
                        <a:buNone/>
                      </a:pPr>
                      <a:endParaRPr lang="en-US" sz="1100" kern="1200" dirty="0">
                        <a:latin typeface="MULISH REGULAR ROMAN" pitchFamily="2" charset="77"/>
                        <a:cs typeface="Century" panose="02040604050505020304" charset="0"/>
                      </a:endParaRPr>
                    </a:p>
                  </a:txBody>
                  <a:tcPr anchor="ctr"/>
                </a:tc>
                <a:tc>
                  <a:txBody>
                    <a:bodyPr/>
                    <a:lstStyle/>
                    <a:p>
                      <a:pPr marL="0" lvl="0" algn="ctr">
                        <a:spcBef>
                          <a:spcPts val="0"/>
                        </a:spcBef>
                        <a:spcAft>
                          <a:spcPts val="0"/>
                        </a:spcAft>
                        <a:buNone/>
                      </a:pPr>
                      <a:endParaRPr lang="en-US" sz="1100" dirty="0">
                        <a:latin typeface="MULISH REGULAR ROMAN" pitchFamily="2" charset="77"/>
                        <a:cs typeface="Century" panose="02040604050505020304" charset="0"/>
                      </a:endParaRPr>
                    </a:p>
                  </a:txBody>
                  <a:tcPr anchor="ctr"/>
                </a:tc>
                <a:tc>
                  <a:txBody>
                    <a:bodyPr/>
                    <a:lstStyle/>
                    <a:p>
                      <a:pPr marL="0" lvl="0" algn="ctr">
                        <a:spcBef>
                          <a:spcPts val="0"/>
                        </a:spcBef>
                        <a:spcAft>
                          <a:spcPts val="0"/>
                        </a:spcAft>
                        <a:buNone/>
                      </a:pPr>
                      <a:endParaRPr lang="en-US" sz="1100" dirty="0">
                        <a:effectLst/>
                        <a:latin typeface="MULISH REGULAR ROMAN" pitchFamily="2" charset="77"/>
                        <a:cs typeface="Century" panose="02040604050505020304" charset="0"/>
                      </a:endParaRPr>
                    </a:p>
                  </a:txBody>
                  <a:tcPr marL="0" marR="0" marT="0" marB="0" anchor="ctr"/>
                </a:tc>
                <a:tc>
                  <a:txBody>
                    <a:bodyPr/>
                    <a:lstStyle/>
                    <a:p>
                      <a:pPr marL="0" lvl="0" algn="ctr">
                        <a:spcBef>
                          <a:spcPts val="0"/>
                        </a:spcBef>
                        <a:spcAft>
                          <a:spcPts val="0"/>
                        </a:spcAft>
                        <a:buNone/>
                      </a:pPr>
                      <a:endParaRPr lang="en-US" sz="1100" dirty="0">
                        <a:effectLst/>
                        <a:latin typeface="MULISH REGULAR ROMAN" pitchFamily="2" charset="77"/>
                        <a:cs typeface="Century" panose="02040604050505020304" charset="0"/>
                      </a:endParaRPr>
                    </a:p>
                  </a:txBody>
                  <a:tcPr marL="0" marR="0" marT="0" marB="0" anchor="ctr"/>
                </a:tc>
                <a:tc>
                  <a:txBody>
                    <a:bodyPr/>
                    <a:lstStyle/>
                    <a:p>
                      <a:pPr marL="0" lvl="0" algn="ctr">
                        <a:spcBef>
                          <a:spcPts val="0"/>
                        </a:spcBef>
                        <a:spcAft>
                          <a:spcPts val="0"/>
                        </a:spcAft>
                        <a:buNone/>
                      </a:pPr>
                      <a:endParaRPr lang="en-US" sz="1100" dirty="0">
                        <a:effectLst/>
                        <a:latin typeface="MULISH REGULAR ROMAN" pitchFamily="2" charset="77"/>
                        <a:cs typeface="Century" panose="02040604050505020304" charset="0"/>
                      </a:endParaRPr>
                    </a:p>
                  </a:txBody>
                  <a:tcPr marL="0" marR="0" marT="0" marB="0" anchor="ctr"/>
                </a:tc>
                <a:tc>
                  <a:txBody>
                    <a:bodyPr/>
                    <a:lstStyle/>
                    <a:p>
                      <a:pPr marL="0" lvl="0" algn="ctr">
                        <a:spcBef>
                          <a:spcPts val="0"/>
                        </a:spcBef>
                        <a:spcAft>
                          <a:spcPts val="0"/>
                        </a:spcAft>
                        <a:buNone/>
                      </a:pPr>
                      <a:endParaRPr lang="en-US" sz="1100" dirty="0">
                        <a:effectLst/>
                        <a:latin typeface="MULISH REGULAR ROMAN" pitchFamily="2" charset="77"/>
                        <a:cs typeface="Century" panose="02040604050505020304" charset="0"/>
                      </a:endParaRPr>
                    </a:p>
                  </a:txBody>
                  <a:tcPr marL="0" marR="0" marT="0" marB="0" anchor="ctr"/>
                </a:tc>
                <a:tc>
                  <a:txBody>
                    <a:bodyPr/>
                    <a:lstStyle/>
                    <a:p>
                      <a:pPr marL="0" lvl="0" algn="ctr">
                        <a:spcBef>
                          <a:spcPts val="0"/>
                        </a:spcBef>
                        <a:spcAft>
                          <a:spcPts val="0"/>
                        </a:spcAft>
                        <a:buNone/>
                      </a:pP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15"/>
                  </a:ext>
                </a:extLst>
              </a:tr>
              <a:tr h="274320">
                <a:tc>
                  <a:txBody>
                    <a:bodyPr/>
                    <a:lstStyle/>
                    <a:p>
                      <a:pPr marL="0" algn="ctr" rtl="0" eaLnBrk="1" fontAlgn="base" latinLnBrk="0" hangingPunct="1">
                        <a:spcBef>
                          <a:spcPts val="0"/>
                        </a:spcBef>
                        <a:spcAft>
                          <a:spcPts val="0"/>
                        </a:spcAft>
                      </a:pPr>
                      <a:r>
                        <a:rPr lang="en-US" sz="1100" b="0" kern="1200" dirty="0">
                          <a:latin typeface="MULISH REGULAR ROMAN" pitchFamily="2" charset="77"/>
                        </a:rPr>
                        <a:t>State​ Court</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4</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6.1%</a:t>
                      </a:r>
                    </a:p>
                  </a:txBody>
                  <a:tcPr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100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16"/>
                  </a:ext>
                </a:extLst>
              </a:tr>
              <a:tr h="274320">
                <a:tc>
                  <a:txBody>
                    <a:bodyPr/>
                    <a:lstStyle/>
                    <a:p>
                      <a:pPr marL="0" algn="ctr" rtl="0">
                        <a:spcBef>
                          <a:spcPts val="0"/>
                        </a:spcBef>
                        <a:spcAft>
                          <a:spcPts val="0"/>
                        </a:spcAft>
                      </a:pPr>
                      <a:r>
                        <a:rPr lang="en-US" sz="1100" b="0" kern="1200" dirty="0">
                          <a:latin typeface="MULISH REGULAR ROMAN" pitchFamily="2" charset="77"/>
                        </a:rPr>
                        <a:t>District Court</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4</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4.5%</a:t>
                      </a:r>
                    </a:p>
                  </a:txBody>
                  <a:tcPr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17"/>
                  </a:ext>
                </a:extLst>
              </a:tr>
              <a:tr h="274320">
                <a:tc>
                  <a:txBody>
                    <a:bodyPr/>
                    <a:lstStyle/>
                    <a:p>
                      <a:pPr marL="0" algn="ctr" rtl="0" eaLnBrk="1" fontAlgn="base" latinLnBrk="0" hangingPunct="1">
                        <a:spcBef>
                          <a:spcPts val="0"/>
                        </a:spcBef>
                        <a:spcAft>
                          <a:spcPts val="0"/>
                        </a:spcAft>
                      </a:pPr>
                      <a:r>
                        <a:rPr lang="en-US" sz="1100" b="0" kern="1200" dirty="0">
                          <a:latin typeface="MULISH REGULAR ROMAN" pitchFamily="2" charset="77"/>
                        </a:rPr>
                        <a:t>Original​</a:t>
                      </a:r>
                      <a:endParaRPr lang="en-US" sz="1100" b="0" dirty="0">
                        <a:effectLst/>
                        <a:latin typeface="MULISH REGULAR ROMAN" pitchFamily="2" charset="77"/>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pitchFamily="2" charset="77"/>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a:latin typeface="MULISH REGULAR ROMAN" pitchFamily="2" charset="77"/>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pitchFamily="2" charset="77"/>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pitchFamily="2" charset="77"/>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pitchFamily="2" charset="77"/>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pitchFamily="2" charset="77"/>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pitchFamily="2" charset="77"/>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74320">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5" name="Slide Number Placeholder 4"/>
          <p:cNvSpPr>
            <a:spLocks noGrp="1"/>
          </p:cNvSpPr>
          <p:nvPr>
            <p:ph type="sldNum" sz="quarter" idx="12"/>
          </p:nvPr>
        </p:nvSpPr>
        <p:spPr>
          <a:xfrm>
            <a:off x="11644313" y="6491240"/>
            <a:ext cx="547687" cy="365125"/>
          </a:xfrm>
        </p:spPr>
        <p:txBody>
          <a:bodyPr/>
          <a:lstStyle/>
          <a:p>
            <a:fld id="{5E212BD6-99D2-4430-8307-3DFF6CB1AF68}" type="slidenum">
              <a:rPr lang="en-US" sz="800" smtClean="0">
                <a:latin typeface="Century Schoolbook" panose="02040604050505020304" pitchFamily="18" charset="0"/>
              </a:rPr>
              <a:t>5</a:t>
            </a:fld>
            <a:endParaRPr lang="en-US" sz="800" dirty="0">
              <a:latin typeface="Century Schoolbook" panose="02040604050505020304" pitchFamily="18" charset="0"/>
            </a:endParaRPr>
          </a:p>
        </p:txBody>
      </p:sp>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261583" y="6201940"/>
            <a:ext cx="11382730" cy="600164"/>
          </a:xfrm>
          <a:prstGeom prst="rect">
            <a:avLst/>
          </a:prstGeom>
          <a:noFill/>
        </p:spPr>
        <p:txBody>
          <a:bodyPr wrap="square" rtlCol="0">
            <a:spAutoFit/>
          </a:bodyPr>
          <a:lstStyle/>
          <a:p>
            <a:r>
              <a:rPr lang="en-US" sz="1100" i="1" dirty="0">
                <a:latin typeface="MULISH ITALIC" pitchFamily="2" charset="77"/>
                <a:cs typeface="Calibri" panose="020F0502020204030204"/>
              </a:rPr>
              <a:t>For the circuit scorecard only, we treat consolidated cases that stemmed from different lower court decisions separately to most accurately reflect the Supreme Court’s treatment of the precedents below; we treat consolidated cases that stemmed from the same lower court as one case. We include as “affirmances” merits opinions that let stand the lower-court opinion, and as “reversals” opinions that only vacate the lower-court decision and remand for further consideration.</a:t>
            </a:r>
          </a:p>
        </p:txBody>
      </p:sp>
    </p:spTree>
    <p:extLst>
      <p:ext uri="{BB962C8B-B14F-4D97-AF65-F5344CB8AC3E}">
        <p14:creationId xmlns:p14="http://schemas.microsoft.com/office/powerpoint/2010/main" val="1033537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6</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Tree>
    <p:extLst>
      <p:ext uri="{BB962C8B-B14F-4D97-AF65-F5344CB8AC3E}">
        <p14:creationId xmlns:p14="http://schemas.microsoft.com/office/powerpoint/2010/main" val="25842101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7</a:t>
            </a:fld>
            <a:endParaRPr lang="en-US" sz="800" dirty="0">
              <a:latin typeface="Century Schoolbook" panose="020406040505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651726763"/>
              </p:ext>
            </p:extLst>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Waetzig</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01/14/2025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Bourafa</a:t>
                      </a:r>
                      <a:endParaRPr lang="en-US" sz="1100" b="0" i="1"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Jackson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12/10/2024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10/08/2024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Velazquez</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11/12/2024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Lackey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Roberts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10/08/2024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Bufkin</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141</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10/16/2024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03/05/2025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4159705879"/>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104d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136d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102d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102d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96.3d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166d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105d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170d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86d</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565405" y="1132113"/>
            <a:ext cx="3554951" cy="292388"/>
          </a:xfrm>
          <a:prstGeom prst="rect">
            <a:avLst/>
          </a:prstGeom>
          <a:noFill/>
        </p:spPr>
        <p:txBody>
          <a:bodyPr wrap="square" rtlCol="0">
            <a:spAutoFit/>
          </a:bodyPr>
          <a:lstStyle/>
          <a:p>
            <a:r>
              <a:rPr lang="en-US" sz="1300" b="1" dirty="0">
                <a:latin typeface="MULISH BOLD ROMAN" pitchFamily="2" charset="77"/>
              </a:rPr>
              <a:t>Average Days by Term</a:t>
            </a:r>
          </a:p>
        </p:txBody>
      </p:sp>
      <p:pic>
        <p:nvPicPr>
          <p:cNvPr id="3" name="Picture 2" descr="A graph with lines and dots&#10;&#10;AI-generated content may be incorrect.">
            <a:extLst>
              <a:ext uri="{FF2B5EF4-FFF2-40B4-BE49-F238E27FC236}">
                <a16:creationId xmlns:a16="http://schemas.microsoft.com/office/drawing/2014/main" id="{B349F165-9591-E105-D77F-73ABEF1C7DB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42880" y="808786"/>
            <a:ext cx="5452985" cy="3271791"/>
          </a:xfrm>
          <a:prstGeom prst="rect">
            <a:avLst/>
          </a:prstGeom>
        </p:spPr>
      </p:pic>
    </p:spTree>
    <p:extLst>
      <p:ext uri="{BB962C8B-B14F-4D97-AF65-F5344CB8AC3E}">
        <p14:creationId xmlns:p14="http://schemas.microsoft.com/office/powerpoint/2010/main" val="6050187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xfrm>
            <a:off x="9448800" y="6476807"/>
            <a:ext cx="2743200" cy="365125"/>
          </a:xfrm>
        </p:spPr>
        <p:txBody>
          <a:bodyPr/>
          <a:lstStyle/>
          <a:p>
            <a:fld id="{5E212BD6-99D2-4430-8307-3DFF6CB1AF68}" type="slidenum">
              <a:rPr lang="en-US" sz="800" smtClean="0">
                <a:latin typeface="Century Schoolbook" panose="02040604050505020304" pitchFamily="18" charset="0"/>
              </a:rPr>
              <a:t>8</a:t>
            </a:fld>
            <a:endParaRPr lang="en-US" sz="800" dirty="0">
              <a:latin typeface="Century Schoolbook" panose="02040604050505020304" pitchFamily="18" charset="0"/>
            </a:endParaRPr>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pic>
        <p:nvPicPr>
          <p:cNvPr id="4" name="Picture 3" descr="A graph of different colored bars&#10;&#10;AI-generated content may be incorrect.">
            <a:extLst>
              <a:ext uri="{FF2B5EF4-FFF2-40B4-BE49-F238E27FC236}">
                <a16:creationId xmlns:a16="http://schemas.microsoft.com/office/drawing/2014/main" id="{2CCF3395-8D97-B78B-F4F5-DAE8C46FD37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55550" y="961858"/>
            <a:ext cx="8442160" cy="5065296"/>
          </a:xfrm>
          <a:prstGeom prst="rect">
            <a:avLst/>
          </a:prstGeom>
        </p:spPr>
      </p:pic>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Tree>
    <p:extLst>
      <p:ext uri="{BB962C8B-B14F-4D97-AF65-F5344CB8AC3E}">
        <p14:creationId xmlns:p14="http://schemas.microsoft.com/office/powerpoint/2010/main" val="21520559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8800" y="6492875"/>
            <a:ext cx="2743200" cy="365125"/>
          </a:xfrm>
        </p:spPr>
        <p:txBody>
          <a:bodyPr/>
          <a:lstStyle/>
          <a:p>
            <a:fld id="{5924AB8B-A04B-4852-9717-52B5E5852666}" type="slidenum">
              <a:rPr lang="en-US" sz="800" smtClean="0">
                <a:latin typeface="Century Schoolbook" panose="02040604050505020304" pitchFamily="18" charset="0"/>
              </a:rPr>
              <a:t>9</a:t>
            </a:fld>
            <a:endParaRPr lang="en-US" sz="80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4294456501"/>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080468">
                  <a:extLst>
                    <a:ext uri="{9D8B030D-6E8A-4147-A177-3AD203B41FA5}">
                      <a16:colId xmlns:a16="http://schemas.microsoft.com/office/drawing/2014/main" val="3152721366"/>
                    </a:ext>
                  </a:extLst>
                </a:gridCol>
                <a:gridCol w="1148539">
                  <a:extLst>
                    <a:ext uri="{9D8B030D-6E8A-4147-A177-3AD203B41FA5}">
                      <a16:colId xmlns:a16="http://schemas.microsoft.com/office/drawing/2014/main" val="2599236381"/>
                    </a:ext>
                  </a:extLst>
                </a:gridCol>
                <a:gridCol w="657825">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Alito</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Sotomayor</a:t>
                      </a: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Kagan</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Gorsuch</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Kavanaugh</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Barrett</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Jackson</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Total</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dirty="0">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dirty="0">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Waetzig</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Hungary</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Royal Canin</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dirty="0" err="1">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Delligatti</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SF v. EPA</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Williams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Miller</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dirty="0">
                          <a:latin typeface="MULISH REGULAR ROMAN" pitchFamily="2" charset="77"/>
                        </a:rPr>
                        <a:t>Concurring</a:t>
                      </a:r>
                    </a:p>
                  </a:txBody>
                  <a:tcPr marL="3315" marR="3315" marT="3315" marB="0" anchor="ctr">
                    <a:lnT>
                      <a:noFill/>
                    </a:lnT>
                  </a:tcPr>
                </a:tc>
                <a:tc>
                  <a:txBody>
                    <a:bodyPr/>
                    <a:lstStyle/>
                    <a:p>
                      <a:pPr algn="ctr" fontAlgn="b"/>
                      <a:r>
                        <a:rPr lang="en-US" sz="900" b="0" u="none" strike="noStrike" dirty="0">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SF v. EPA</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Trump v. J.G.G.</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7</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dirty="0">
                          <a:solidFill>
                            <a:schemeClr val="tx1"/>
                          </a:solidFill>
                          <a:effectLst/>
                          <a:latin typeface="MULISH REGULAR ROMAN" pitchFamily="2" charset="77"/>
                        </a:rPr>
                        <a:t>Dissenting</a:t>
                      </a: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dirty="0">
                          <a:solidFill>
                            <a:schemeClr val="tx1"/>
                          </a:solidFill>
                          <a:effectLst/>
                          <a:latin typeface="MULISH REGULAR ROMAN" pitchFamily="2" charset="77"/>
                        </a:rPr>
                        <a:t>1</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Trump v. J.G.G.</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Delligatti</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Williams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Miller</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3</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dirty="0">
                          <a:solidFill>
                            <a:schemeClr val="tx1"/>
                          </a:solidFill>
                          <a:effectLst/>
                          <a:latin typeface="MULISH REGULAR ROMAN" pitchFamily="2" charset="77"/>
                        </a:rPr>
                        <a:t>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7</a:t>
                      </a: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dirty="0">
                          <a:solidFill>
                            <a:schemeClr val="tx1"/>
                          </a:solidFill>
                          <a:effectLst/>
                          <a:latin typeface="MULISH REGULAR ROMAN" pitchFamily="2" charset="77"/>
                        </a:rPr>
                        <a:t>Total</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10</a:t>
            </a:fld>
            <a:endParaRPr lang="en-US" sz="800">
              <a:latin typeface="Century Schoolbook" panose="02040604050505020304" pitchFamily="18" charset="0"/>
            </a:endParaRPr>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pic>
        <p:nvPicPr>
          <p:cNvPr id="8" name="Picture 7" descr="A graph with multiple colored squares&#10;&#10;AI-generated content may be incorrect.">
            <a:extLst>
              <a:ext uri="{FF2B5EF4-FFF2-40B4-BE49-F238E27FC236}">
                <a16:creationId xmlns:a16="http://schemas.microsoft.com/office/drawing/2014/main" id="{0014D635-2592-39E4-F0E8-3400CF32EE0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2375" y="963776"/>
            <a:ext cx="10515600" cy="5257800"/>
          </a:xfrm>
          <a:prstGeom prst="rect">
            <a:avLst/>
          </a:prstGeom>
        </p:spPr>
      </p:pic>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Tree>
    <p:extLst>
      <p:ext uri="{BB962C8B-B14F-4D97-AF65-F5344CB8AC3E}">
        <p14:creationId xmlns:p14="http://schemas.microsoft.com/office/powerpoint/2010/main" val="41628591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11</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(including those decided unanimously or </a:t>
            </a:r>
            <a:r>
              <a:rPr lang="en-US" sz="1200" i="1" dirty="0">
                <a:latin typeface="MULISH REGULAR ROMAN"/>
              </a:rPr>
              <a:t>Per Curiam</a:t>
            </a:r>
            <a:r>
              <a:rPr lang="en-US" sz="1200" dirty="0">
                <a:latin typeface="MULISH REGULAR ROMAN"/>
              </a:rPr>
              <a:t>).</a:t>
            </a:r>
          </a:p>
        </p:txBody>
      </p:sp>
      <p:pic>
        <p:nvPicPr>
          <p:cNvPr id="10" name="Picture 9" descr="A brown and blue rectangular object with white text&#10;&#10;AI-generated content may be incorrect.">
            <a:extLst>
              <a:ext uri="{FF2B5EF4-FFF2-40B4-BE49-F238E27FC236}">
                <a16:creationId xmlns:a16="http://schemas.microsoft.com/office/drawing/2014/main" id="{B079BC15-ACFC-2151-6628-207D2A62D4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55550" y="869939"/>
            <a:ext cx="8688564" cy="5213138"/>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E65A474-791B-DE92-F90F-37978615A889}"/>
              </a:ext>
            </a:extLst>
          </p:cNvPr>
          <p:cNvSpPr>
            <a:spLocks noGrp="1"/>
          </p:cNvSpPr>
          <p:nvPr>
            <p:ph type="sldNum" sz="quarter" idx="12"/>
          </p:nvPr>
        </p:nvSpPr>
        <p:spPr/>
        <p:txBody>
          <a:bodyPr/>
          <a:lstStyle/>
          <a:p>
            <a:fld id="{5E212BD6-99D2-4430-8307-3DFF6CB1AF68}" type="slidenum">
              <a:rPr lang="en-US" smtClean="0"/>
              <a:t>12</a:t>
            </a:fld>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pic>
        <p:nvPicPr>
          <p:cNvPr id="6" name="Picture 5" descr="A graph with blue and brown bars&#10;&#10;AI-generated content may be incorrect.">
            <a:extLst>
              <a:ext uri="{FF2B5EF4-FFF2-40B4-BE49-F238E27FC236}">
                <a16:creationId xmlns:a16="http://schemas.microsoft.com/office/drawing/2014/main" id="{2F325949-4ABE-7111-223C-7BD7437D9AD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55550" y="869938"/>
            <a:ext cx="8688565" cy="5213139"/>
          </a:xfrm>
          <a:prstGeom prst="rect">
            <a:avLst/>
          </a:prstGeom>
        </p:spPr>
      </p:pic>
    </p:spTree>
    <p:extLst>
      <p:ext uri="{BB962C8B-B14F-4D97-AF65-F5344CB8AC3E}">
        <p14:creationId xmlns:p14="http://schemas.microsoft.com/office/powerpoint/2010/main" val="18742430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13</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pic>
        <p:nvPicPr>
          <p:cNvPr id="3" name="Picture 2" descr="A graph with blue and brown bars&#10;&#10;AI-generated content may be incorrect.">
            <a:extLst>
              <a:ext uri="{FF2B5EF4-FFF2-40B4-BE49-F238E27FC236}">
                <a16:creationId xmlns:a16="http://schemas.microsoft.com/office/drawing/2014/main" id="{130FB328-9EE4-475E-2320-12C947EA68D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4368" y="862006"/>
            <a:ext cx="8688564" cy="5213138"/>
          </a:xfrm>
          <a:prstGeom prst="rect">
            <a:avLst/>
          </a:prstGeom>
        </p:spPr>
      </p:pic>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spTree>
    <p:extLst>
      <p:ext uri="{BB962C8B-B14F-4D97-AF65-F5344CB8AC3E}">
        <p14:creationId xmlns:p14="http://schemas.microsoft.com/office/powerpoint/2010/main" val="40606662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3386718451"/>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highlight>
                            <a:srgbClr val="FFFF00"/>
                          </a:highlight>
                          <a:latin typeface="MULISH REGULAR ROMAN" pitchFamily="2" charset="77"/>
                        </a:rPr>
                        <a:t>Total </a:t>
                      </a:r>
                      <a:r>
                        <a:rPr lang="en-US" sz="1200" b="1" i="0" u="none" strike="noStrike" dirty="0">
                          <a:solidFill>
                            <a:schemeClr val="tx1"/>
                          </a:solidFill>
                          <a:effectLst/>
                          <a:highlight>
                            <a:srgbClr val="FFFF00"/>
                          </a:highligh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highlight>
                            <a:srgbClr val="FFFF00"/>
                          </a:highlight>
                          <a:latin typeface="MULISH REGULAR ROMAN" pitchFamily="2" charset="77"/>
                        </a:rPr>
                        <a:t>9-0 </a:t>
                      </a:r>
                      <a:r>
                        <a:rPr lang="en-US" sz="1200" b="1" i="0" u="none" strike="noStrike" dirty="0">
                          <a:solidFill>
                            <a:schemeClr val="tx1"/>
                          </a:solidFill>
                          <a:effectLst/>
                          <a:highlight>
                            <a:srgbClr val="FFFF00"/>
                          </a:highligh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highlight>
                            <a:srgbClr val="FFFF00"/>
                          </a:highlight>
                          <a:latin typeface="MULISH REGULAR ROMAN" pitchFamily="2" charset="77"/>
                        </a:rPr>
                        <a:t>8-1 </a:t>
                      </a:r>
                      <a:r>
                        <a:rPr lang="en-US" sz="1200" b="1" i="0" u="none" strike="noStrike" dirty="0">
                          <a:solidFill>
                            <a:schemeClr val="tx1"/>
                          </a:solidFill>
                          <a:effectLst/>
                          <a:highlight>
                            <a:srgbClr val="FFFF00"/>
                          </a:highligh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highlight>
                            <a:srgbClr val="FFFF00"/>
                          </a:highlight>
                          <a:latin typeface="MULISH REGULAR ROMAN" pitchFamily="2" charset="77"/>
                        </a:rPr>
                        <a:t>7-2 </a:t>
                      </a:r>
                      <a:r>
                        <a:rPr lang="en-US" sz="1200" b="1" i="0" u="none" strike="noStrike" dirty="0">
                          <a:solidFill>
                            <a:schemeClr val="tx1"/>
                          </a:solidFill>
                          <a:effectLst/>
                          <a:highlight>
                            <a:srgbClr val="FFFF00"/>
                          </a:highligh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highlight>
                            <a:srgbClr val="FFFF00"/>
                          </a:highlight>
                          <a:latin typeface="MULISH REGULAR ROMAN" pitchFamily="2" charset="77"/>
                        </a:rPr>
                        <a:t>6-3 </a:t>
                      </a:r>
                      <a:r>
                        <a:rPr lang="en-US" sz="1200" b="1" i="0" u="none" strike="noStrike" dirty="0">
                          <a:solidFill>
                            <a:schemeClr val="tx1"/>
                          </a:solidFill>
                          <a:effectLst/>
                          <a:highlight>
                            <a:srgbClr val="FFFF00"/>
                          </a:highligh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highlight>
                            <a:srgbClr val="FFFF00"/>
                          </a:highlight>
                          <a:latin typeface="MULISH REGULAR ROMAN" pitchFamily="2" charset="77"/>
                        </a:rPr>
                        <a:t>5-4 </a:t>
                      </a:r>
                      <a:r>
                        <a:rPr lang="en-US" sz="1200" b="1" i="0" u="none" strike="noStrike" dirty="0">
                          <a:solidFill>
                            <a:schemeClr val="tx1"/>
                          </a:solidFill>
                          <a:effectLst/>
                          <a:highlight>
                            <a:srgbClr val="FFFF00"/>
                          </a:highligh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highlight>
                            <a:srgbClr val="00FFFF"/>
                          </a:highlight>
                          <a:latin typeface="MULISH REGULAR ROMAN" pitchFamily="2" charset="77"/>
                        </a:rPr>
                        <a:t>Average majority</a:t>
                      </a:r>
                      <a:endParaRPr lang="en-US" sz="1200" b="1" i="0" u="none" strike="noStrike" dirty="0">
                        <a:solidFill>
                          <a:schemeClr val="tx1"/>
                        </a:solidFill>
                        <a:effectLst/>
                        <a:highlight>
                          <a:srgbClr val="00FFFF"/>
                        </a:highligh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kern="120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kern="120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14</a:t>
            </a:fld>
            <a:endParaRPr lang="en-US" sz="800" dirty="0">
              <a:latin typeface="Century Schoolbook" panose="02040604050505020304" pitchFamily="18" charset="0"/>
            </a:endParaRPr>
          </a:p>
        </p:txBody>
      </p:sp>
      <p:graphicFrame>
        <p:nvGraphicFramePr>
          <p:cNvPr id="9" name="Table 8"/>
          <p:cNvGraphicFramePr>
            <a:graphicFrameLocks noGrp="1"/>
          </p:cNvGraphicFramePr>
          <p:nvPr>
            <p:extLst>
              <p:ext uri="{D42A27DB-BD31-4B8C-83A1-F6EECF244321}">
                <p14:modId xmlns:p14="http://schemas.microsoft.com/office/powerpoint/2010/main" val="2996647691"/>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highlight>
                            <a:srgbClr val="00FFFF"/>
                          </a:highlight>
                          <a:latin typeface="MULISH REGULAR ROMAN" pitchFamily="2" charset="77"/>
                        </a:rPr>
                        <a:t>% of Opinions Decided Unanimously</a:t>
                      </a:r>
                      <a:endParaRPr lang="en-US" sz="1400" b="1" i="0" u="none" strike="noStrike" dirty="0">
                        <a:solidFill>
                          <a:schemeClr val="tx1"/>
                        </a:solidFill>
                        <a:effectLst/>
                        <a:highlight>
                          <a:srgbClr val="00FFFF"/>
                        </a:highligh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1649774458"/>
              </p:ext>
            </p:extLst>
          </p:nvPr>
        </p:nvGraphicFramePr>
        <p:xfrm>
          <a:off x="4656537" y="4156187"/>
          <a:ext cx="6505995" cy="2513061"/>
        </p:xfrm>
        <a:graphic>
          <a:graphicData uri="http://schemas.openxmlformats.org/drawingml/2006/table">
            <a:tbl>
              <a:tblPr firstRow="1" bandRow="1">
                <a:tableStyleId>{C083E6E3-FA7D-4D7B-A595-EF9225AFEA82}</a:tableStyleId>
              </a:tblPr>
              <a:tblGrid>
                <a:gridCol w="1436915">
                  <a:extLst>
                    <a:ext uri="{9D8B030D-6E8A-4147-A177-3AD203B41FA5}">
                      <a16:colId xmlns:a16="http://schemas.microsoft.com/office/drawing/2014/main" val="20000"/>
                    </a:ext>
                  </a:extLst>
                </a:gridCol>
                <a:gridCol w="973776">
                  <a:extLst>
                    <a:ext uri="{9D8B030D-6E8A-4147-A177-3AD203B41FA5}">
                      <a16:colId xmlns:a16="http://schemas.microsoft.com/office/drawing/2014/main" val="20001"/>
                    </a:ext>
                  </a:extLst>
                </a:gridCol>
                <a:gridCol w="3015559">
                  <a:extLst>
                    <a:ext uri="{9D8B030D-6E8A-4147-A177-3AD203B41FA5}">
                      <a16:colId xmlns:a16="http://schemas.microsoft.com/office/drawing/2014/main" val="4268982242"/>
                    </a:ext>
                  </a:extLst>
                </a:gridCol>
                <a:gridCol w="1079745">
                  <a:extLst>
                    <a:ext uri="{9D8B030D-6E8A-4147-A177-3AD203B41FA5}">
                      <a16:colId xmlns:a16="http://schemas.microsoft.com/office/drawing/2014/main" val="914673701"/>
                    </a:ext>
                  </a:extLst>
                </a:gridCol>
              </a:tblGrid>
              <a:tr h="455661">
                <a:tc>
                  <a:txBody>
                    <a:bodyPr/>
                    <a:lstStyle/>
                    <a:p>
                      <a:pPr algn="l" fontAlgn="b"/>
                      <a:r>
                        <a:rPr lang="en-US" sz="1400" b="1" u="none" strike="noStrike" dirty="0">
                          <a:solidFill>
                            <a:schemeClr val="tx1"/>
                          </a:solidFill>
                          <a:effectLst/>
                          <a:highlight>
                            <a:srgbClr val="00FFFF"/>
                          </a:highlight>
                          <a:latin typeface="MULISH REGULAR ROMAN" pitchFamily="2" charset="77"/>
                        </a:rPr>
                        <a:t>Solo Dissents</a:t>
                      </a:r>
                      <a:endParaRPr lang="en-US" sz="1400" b="1" i="0" u="none" strike="noStrike" dirty="0">
                        <a:solidFill>
                          <a:schemeClr val="tx1"/>
                        </a:solidFill>
                        <a:effectLst/>
                        <a:highlight>
                          <a:srgbClr val="00FFFF"/>
                        </a:highligh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OT05-OT23</a:t>
                      </a: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 </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1040160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15</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pic>
        <p:nvPicPr>
          <p:cNvPr id="20" name="Picture 19" descr="A diagram of a pie chart&#10;&#10;AI-generated content may be incorrect.">
            <a:extLst>
              <a:ext uri="{FF2B5EF4-FFF2-40B4-BE49-F238E27FC236}">
                <a16:creationId xmlns:a16="http://schemas.microsoft.com/office/drawing/2014/main" id="{0E46180A-EEDD-1204-3AFA-4F5C5802ABA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646331"/>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otherwise did not participate, we associated the most comparable coalition size (e.g., 8-0 decisions were included in calculating 9-0 coalitions, while 7-1 were likewise coded as 8-1 – </a:t>
            </a:r>
            <a:r>
              <a:rPr lang="en-US" sz="1200" i="1" dirty="0">
                <a:latin typeface="MULISH REGULAR ROMAN"/>
              </a:rPr>
              <a:t>the principal reference being the number of dissenting Justices</a:t>
            </a:r>
            <a:r>
              <a:rPr lang="en-US" sz="1200" dirty="0">
                <a:latin typeface="MULISH REGULAR ROMAN"/>
              </a:rPr>
              <a: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AD2246C-9F25-2F1C-66E7-1F5097AAD8B0}"/>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16</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A08EC0C-6929-4371-9A49-BE164F8FC8CE}"/>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Ideologically Split Cases</a:t>
            </a:r>
          </a:p>
        </p:txBody>
      </p:sp>
      <p:pic>
        <p:nvPicPr>
          <p:cNvPr id="3" name="Picture 2" descr="A diagram of a pie chart&#10;&#10;AI-generated content may be incorrect.">
            <a:extLst>
              <a:ext uri="{FF2B5EF4-FFF2-40B4-BE49-F238E27FC236}">
                <a16:creationId xmlns:a16="http://schemas.microsoft.com/office/drawing/2014/main" id="{D7537BED-5308-92BB-FCA2-30CA3D17F0C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3"/>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spTree>
    <p:extLst>
      <p:ext uri="{BB962C8B-B14F-4D97-AF65-F5344CB8AC3E}">
        <p14:creationId xmlns:p14="http://schemas.microsoft.com/office/powerpoint/2010/main" val="10046474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52D7715-21A2-E234-D597-C3D90F1BF8C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17</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pic>
        <p:nvPicPr>
          <p:cNvPr id="3" name="Picture 2" descr="A graph with numbers and lines&#10;&#10;AI-generated content may be incorrect.">
            <a:extLst>
              <a:ext uri="{FF2B5EF4-FFF2-40B4-BE49-F238E27FC236}">
                <a16:creationId xmlns:a16="http://schemas.microsoft.com/office/drawing/2014/main" id="{4D704934-018D-AFA6-5DF9-C0540066A08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523990" y="980195"/>
            <a:ext cx="9144019" cy="5486411"/>
          </a:xfrm>
          <a:prstGeom prst="rect">
            <a:avLst/>
          </a:prstGeom>
        </p:spPr>
      </p:pic>
      <p:sp>
        <p:nvSpPr>
          <p:cNvPr id="5" name="TextBox 4">
            <a:extLst>
              <a:ext uri="{FF2B5EF4-FFF2-40B4-BE49-F238E27FC236}">
                <a16:creationId xmlns:a16="http://schemas.microsoft.com/office/drawing/2014/main" id="{6BF81625-A47D-0204-D5A0-3B0AA1D6E6DC}"/>
              </a:ext>
            </a:extLst>
          </p:cNvPr>
          <p:cNvSpPr txBox="1"/>
          <p:nvPr/>
        </p:nvSpPr>
        <p:spPr>
          <a:xfrm>
            <a:off x="4701396" y="313035"/>
            <a:ext cx="5874589" cy="461665"/>
          </a:xfrm>
          <a:prstGeom prst="rect">
            <a:avLst/>
          </a:prstGeom>
          <a:noFill/>
          <a:ln>
            <a:solidFill>
              <a:schemeClr val="tx1"/>
            </a:solidFill>
          </a:ln>
        </p:spPr>
        <p:txBody>
          <a:bodyPr wrap="square" rtlCol="0">
            <a:spAutoFit/>
          </a:bodyPr>
          <a:lstStyle/>
          <a:p>
            <a:r>
              <a:rPr lang="en-US" sz="1200" dirty="0"/>
              <a:t>This figure shows the raw percentage of unanimous (i.e., cases decided without any full dissents) between OT05-OT24 given the total number of cases decided in those terms. </a:t>
            </a:r>
            <a:endParaRPr lang="en-US" sz="1200" dirty="0">
              <a:latin typeface="MULISH REGULAR ROMAN"/>
            </a:endParaRPr>
          </a:p>
        </p:txBody>
      </p:sp>
    </p:spTree>
    <p:extLst>
      <p:ext uri="{BB962C8B-B14F-4D97-AF65-F5344CB8AC3E}">
        <p14:creationId xmlns:p14="http://schemas.microsoft.com/office/powerpoint/2010/main" val="8189809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5DFB6-033C-601C-8092-86C0EC3E494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220D9B9-5C26-E1AA-628F-A03A8933F26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18</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E0211174-1643-401A-449B-28F6F61980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pic>
        <p:nvPicPr>
          <p:cNvPr id="5" name="Picture 4" descr="A graph with a line graph&#10;&#10;AI-generated content may be incorrect.">
            <a:extLst>
              <a:ext uri="{FF2B5EF4-FFF2-40B4-BE49-F238E27FC236}">
                <a16:creationId xmlns:a16="http://schemas.microsoft.com/office/drawing/2014/main" id="{9A2B38AB-4D7F-F8FC-3ED8-121987B7C49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523990" y="1031674"/>
            <a:ext cx="9144019" cy="5486411"/>
          </a:xfrm>
          <a:prstGeom prst="rect">
            <a:avLst/>
          </a:prstGeom>
        </p:spPr>
      </p:pic>
      <p:sp>
        <p:nvSpPr>
          <p:cNvPr id="6" name="TextBox 5">
            <a:extLst>
              <a:ext uri="{FF2B5EF4-FFF2-40B4-BE49-F238E27FC236}">
                <a16:creationId xmlns:a16="http://schemas.microsoft.com/office/drawing/2014/main" id="{6EB03E43-76B9-077C-F614-FAAF678AF050}"/>
              </a:ext>
            </a:extLst>
          </p:cNvPr>
          <p:cNvSpPr txBox="1"/>
          <p:nvPr/>
        </p:nvSpPr>
        <p:spPr>
          <a:xfrm>
            <a:off x="4701396" y="198408"/>
            <a:ext cx="5874589" cy="830997"/>
          </a:xfrm>
          <a:prstGeom prst="rect">
            <a:avLst/>
          </a:prstGeom>
          <a:noFill/>
          <a:ln>
            <a:solidFill>
              <a:schemeClr val="tx1"/>
            </a:solidFill>
          </a:ln>
        </p:spPr>
        <p:txBody>
          <a:bodyPr wrap="square" rtlCol="0">
            <a:spAutoFit/>
          </a:bodyPr>
          <a:lstStyle/>
          <a:p>
            <a:r>
              <a:rPr lang="en-US" sz="1200" dirty="0"/>
              <a:t>This figure shows the percentage of unanimous Supreme Court decisions from OT05-OT24, with error bars representing the standard error of the observed unanimity. The size of the bars indicate how </a:t>
            </a:r>
            <a:r>
              <a:rPr lang="en-US" sz="1200" i="1" dirty="0"/>
              <a:t>surprising</a:t>
            </a:r>
            <a:r>
              <a:rPr lang="en-US" sz="1200" dirty="0"/>
              <a:t> or </a:t>
            </a:r>
            <a:r>
              <a:rPr lang="en-US" sz="1200" i="1" dirty="0"/>
              <a:t>typical</a:t>
            </a:r>
            <a:r>
              <a:rPr lang="en-US" sz="1200" dirty="0"/>
              <a:t> each year's unanimity was – such that higher (lower) indicates greater (lesser) unanimity than expected given the caseload. </a:t>
            </a:r>
            <a:endParaRPr lang="en-US" sz="1200" dirty="0">
              <a:latin typeface="MULISH REGULAR ROMAN"/>
            </a:endParaRPr>
          </a:p>
        </p:txBody>
      </p:sp>
    </p:spTree>
    <p:extLst>
      <p:ext uri="{BB962C8B-B14F-4D97-AF65-F5344CB8AC3E}">
        <p14:creationId xmlns:p14="http://schemas.microsoft.com/office/powerpoint/2010/main" val="16449938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7" y="-90356"/>
            <a:ext cx="10515600" cy="574563"/>
          </a:xfrm>
        </p:spPr>
        <p:txBody>
          <a:bodyPr>
            <a:normAutofit/>
          </a:bodyPr>
          <a:lstStyle/>
          <a:p>
            <a:pPr algn="ctr"/>
            <a:r>
              <a:rPr lang="en-US" sz="2500" b="1" dirty="0">
                <a:latin typeface="Century Schoolbook" panose="02040604050505020304" pitchFamily="18" charset="0"/>
              </a:rPr>
              <a:t>Closely divided cases: 5-4 Cases</a:t>
            </a:r>
          </a:p>
        </p:txBody>
      </p:sp>
      <p:graphicFrame>
        <p:nvGraphicFramePr>
          <p:cNvPr id="5" name="Content Placeholder 4"/>
          <p:cNvGraphicFramePr>
            <a:graphicFrameLocks noGrp="1"/>
          </p:cNvGraphicFramePr>
          <p:nvPr>
            <p:ph idx="1"/>
          </p:nvPr>
        </p:nvGraphicFramePr>
        <p:xfrm>
          <a:off x="327025" y="576580"/>
          <a:ext cx="11538585" cy="1810927"/>
        </p:xfrm>
        <a:graphic>
          <a:graphicData uri="http://schemas.openxmlformats.org/drawingml/2006/table">
            <a:tbl>
              <a:tblPr firstRow="1" bandRow="1">
                <a:tableStyleId>{7DF18680-E054-41AD-8BC1-D1AEF772440D}</a:tableStyleId>
              </a:tblPr>
              <a:tblGrid>
                <a:gridCol w="3839210">
                  <a:extLst>
                    <a:ext uri="{9D8B030D-6E8A-4147-A177-3AD203B41FA5}">
                      <a16:colId xmlns:a16="http://schemas.microsoft.com/office/drawing/2014/main" val="20000"/>
                    </a:ext>
                  </a:extLst>
                </a:gridCol>
                <a:gridCol w="2139315">
                  <a:extLst>
                    <a:ext uri="{9D8B030D-6E8A-4147-A177-3AD203B41FA5}">
                      <a16:colId xmlns:a16="http://schemas.microsoft.com/office/drawing/2014/main" val="20001"/>
                    </a:ext>
                  </a:extLst>
                </a:gridCol>
                <a:gridCol w="5560060">
                  <a:extLst>
                    <a:ext uri="{9D8B030D-6E8A-4147-A177-3AD203B41FA5}">
                      <a16:colId xmlns:a16="http://schemas.microsoft.com/office/drawing/2014/main" val="20002"/>
                    </a:ext>
                  </a:extLst>
                </a:gridCol>
              </a:tblGrid>
              <a:tr h="266294">
                <a:tc gridSpan="3">
                  <a:txBody>
                    <a:bodyPr/>
                    <a:lstStyle/>
                    <a:p>
                      <a:pPr algn="ctr" fontAlgn="b"/>
                      <a:r>
                        <a:rPr lang="en-US" sz="1600" b="1" u="none" strike="noStrike" dirty="0">
                          <a:effectLst/>
                          <a:latin typeface="Century Schoolbook" panose="02040604050505020304" pitchFamily="18" charset="0"/>
                        </a:rPr>
                        <a:t>Alignment of the Majority</a:t>
                      </a:r>
                      <a:endParaRPr lang="en-US" sz="1600" b="1" i="0" u="none" strike="noStrike" dirty="0">
                        <a:solidFill>
                          <a:srgbClr val="000000"/>
                        </a:solidFill>
                        <a:effectLst/>
                        <a:latin typeface="Century Schoolbook" panose="02040604050505020304" pitchFamily="18" charset="0"/>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01641">
                <a:tc>
                  <a:txBody>
                    <a:bodyPr/>
                    <a:lstStyle/>
                    <a:p>
                      <a:pPr algn="ctr" fontAlgn="b"/>
                      <a:r>
                        <a:rPr lang="en-US" sz="1200" b="1" u="none" strike="noStrike" dirty="0">
                          <a:effectLst/>
                          <a:latin typeface="Century Schoolbook" panose="02040604050505020304" pitchFamily="18" charset="0"/>
                        </a:rPr>
                        <a:t>Majority</a:t>
                      </a:r>
                      <a:endParaRPr lang="en-US" sz="1200" b="1" i="0" u="none" strike="noStrike" dirty="0">
                        <a:solidFill>
                          <a:srgbClr val="000000"/>
                        </a:solidFill>
                        <a:effectLst/>
                        <a:latin typeface="Century Schoolbook" panose="02040604050505020304" pitchFamily="18" charset="0"/>
                      </a:endParaRPr>
                    </a:p>
                  </a:txBody>
                  <a:tcPr marR="5672" marT="5672"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fontAlgn="b"/>
                      <a:endParaRPr lang="en-US" sz="1200" b="0" i="0" u="none" strike="noStrike" dirty="0">
                        <a:solidFill>
                          <a:srgbClr val="000000"/>
                        </a:solidFill>
                        <a:effectLst/>
                        <a:latin typeface="Century Schoolbook" panose="02040604050505020304" pitchFamily="18" charset="0"/>
                      </a:endParaRPr>
                    </a:p>
                  </a:txBody>
                  <a:tcPr marR="5672" marT="5672" marB="0" anchor="ctr">
                    <a:lnT w="12700" cap="flat" cmpd="sng" algn="ctr">
                      <a:solidFill>
                        <a:schemeClr val="tx1"/>
                      </a:solidFill>
                      <a:prstDash val="solid"/>
                      <a:round/>
                      <a:headEnd type="none" w="med" len="med"/>
                      <a:tailEnd type="none" w="med" len="med"/>
                    </a:lnT>
                  </a:tcPr>
                </a:tc>
                <a:tc>
                  <a:txBody>
                    <a:bodyPr/>
                    <a:lstStyle/>
                    <a:p>
                      <a:pPr algn="ctr" fontAlgn="b"/>
                      <a:r>
                        <a:rPr lang="en-US" sz="1200" b="1" u="none" strike="noStrike" dirty="0">
                          <a:effectLst/>
                          <a:latin typeface="Century Schoolbook" panose="02040604050505020304" pitchFamily="18" charset="0"/>
                        </a:rPr>
                        <a:t>Cases</a:t>
                      </a:r>
                      <a:endParaRPr lang="en-US" sz="1200" b="1" i="0" u="none" strike="noStrike" dirty="0">
                        <a:solidFill>
                          <a:srgbClr val="000000"/>
                        </a:solidFill>
                        <a:effectLst/>
                        <a:latin typeface="Century Schoolbook" panose="02040604050505020304" pitchFamily="18" charset="0"/>
                      </a:endParaRPr>
                    </a:p>
                  </a:txBody>
                  <a:tcPr marR="5672" marT="5672"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1"/>
                  </a:ext>
                </a:extLst>
              </a:tr>
              <a:tr h="374476">
                <a:tc>
                  <a:txBody>
                    <a:bodyPr/>
                    <a:lstStyle/>
                    <a:p>
                      <a:pPr algn="l" fontAlgn="b"/>
                      <a:r>
                        <a:rPr lang="en-US" sz="1200" b="0" i="0" u="none" strike="noStrike" dirty="0">
                          <a:solidFill>
                            <a:srgbClr val="000000"/>
                          </a:solidFill>
                          <a:effectLst/>
                          <a:latin typeface="Century Schoolbook" panose="02040604050505020304" pitchFamily="18" charset="0"/>
                        </a:rPr>
                        <a:t>Roberts, Thomas, Alito, Gorsuch, Kavanaugh</a:t>
                      </a: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Century Schoolbook" panose="02040604050505020304" pitchFamily="18" charset="0"/>
                        </a:rPr>
                        <a:t>10</a:t>
                      </a:r>
                    </a:p>
                  </a:txBody>
                  <a:tcPr marR="5672" marT="5672" marB="0" anchor="ctr"/>
                </a:tc>
                <a:tc>
                  <a:txBody>
                    <a:bodyPr/>
                    <a:lstStyle/>
                    <a:p>
                      <a:pPr algn="l" fontAlgn="b"/>
                      <a:r>
                        <a:rPr lang="de-DE" sz="1200" b="0" i="1" u="none" strike="noStrike" dirty="0">
                          <a:solidFill>
                            <a:srgbClr val="000000"/>
                          </a:solidFill>
                          <a:effectLst/>
                          <a:latin typeface="Century Schoolbook" panose="02040604050505020304" pitchFamily="18" charset="0"/>
                        </a:rPr>
                        <a:t>Hernandez, Barton, Thole, McKinney, Garcia, RNC</a:t>
                      </a:r>
                      <a:r>
                        <a:rPr lang="en-US" altLang="de-DE" sz="1200" b="0" i="1" u="none" strike="noStrike" dirty="0">
                          <a:solidFill>
                            <a:srgbClr val="000000"/>
                          </a:solidFill>
                          <a:effectLst/>
                          <a:latin typeface="Century Schoolbook" panose="02040604050505020304" pitchFamily="18" charset="0"/>
                        </a:rPr>
                        <a:t>, Espinoza, Selia Law, </a:t>
                      </a:r>
                      <a:r>
                        <a:rPr lang="en-US" altLang="de-DE" sz="1200" b="0" i="1" u="none" strike="noStrike">
                          <a:solidFill>
                            <a:srgbClr val="000000"/>
                          </a:solidFill>
                          <a:effectLst/>
                          <a:latin typeface="Century Schoolbook" panose="02040604050505020304" pitchFamily="18" charset="0"/>
                        </a:rPr>
                        <a:t>Open Society, Lee</a:t>
                      </a:r>
                      <a:endParaRPr lang="en-US" altLang="de-DE" sz="1200" b="0" i="1" u="none" strike="noStrike" dirty="0">
                        <a:solidFill>
                          <a:srgbClr val="000000"/>
                        </a:solidFill>
                        <a:effectLst/>
                        <a:latin typeface="Century Schoolbook" panose="02040604050505020304" pitchFamily="18" charset="0"/>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30947">
                <a:tc>
                  <a:txBody>
                    <a:bodyPr/>
                    <a:lstStyle/>
                    <a:p>
                      <a:pPr algn="l" fontAlgn="b"/>
                      <a:r>
                        <a:rPr lang="en-US" sz="1200" b="0" i="0" u="none" strike="noStrike" dirty="0">
                          <a:solidFill>
                            <a:srgbClr val="000000"/>
                          </a:solidFill>
                          <a:effectLst/>
                          <a:latin typeface="Century Schoolbook" panose="02040604050505020304" pitchFamily="18" charset="0"/>
                        </a:rPr>
                        <a:t>Roberts, Ginsburg, Breyer, Sotomayor, Kagan</a:t>
                      </a: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Century Schoolbook" panose="02040604050505020304" pitchFamily="18" charset="0"/>
                        </a:rPr>
                        <a:t>2</a:t>
                      </a:r>
                    </a:p>
                  </a:txBody>
                  <a:tcPr marR="5672" marT="5672" marB="0" anchor="ctr"/>
                </a:tc>
                <a:tc>
                  <a:txBody>
                    <a:bodyPr/>
                    <a:lstStyle/>
                    <a:p>
                      <a:pPr algn="l" fontAlgn="b"/>
                      <a:r>
                        <a:rPr lang="en-US" sz="1200" b="0" i="1" u="none" strike="noStrike" dirty="0">
                          <a:solidFill>
                            <a:srgbClr val="000000"/>
                          </a:solidFill>
                          <a:effectLst/>
                          <a:latin typeface="Century Schoolbook" panose="02040604050505020304" pitchFamily="18" charset="0"/>
                        </a:rPr>
                        <a:t>Regents, June Medical</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buNone/>
                      </a:pPr>
                      <a:r>
                        <a:rPr lang="en-US" sz="1200" b="0" i="0" u="none" strike="noStrike" dirty="0">
                          <a:solidFill>
                            <a:srgbClr val="000000"/>
                          </a:solidFill>
                          <a:effectLst/>
                          <a:latin typeface="Century Schoolbook" panose="02040604050505020304" pitchFamily="18" charset="0"/>
                        </a:rPr>
                        <a:t>Ginsburg, Breyer, Sotomayor, Kagan, Gorsuch</a:t>
                      </a: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i="0" u="none" strike="noStrike" dirty="0">
                          <a:solidFill>
                            <a:srgbClr val="000000"/>
                          </a:solidFill>
                          <a:effectLst/>
                          <a:latin typeface="Century Schoolbook" panose="02040604050505020304" pitchFamily="18" charset="0"/>
                        </a:rPr>
                        <a:t>1</a:t>
                      </a:r>
                    </a:p>
                  </a:txBody>
                  <a:tcPr marR="5672" marT="5672" marB="0" anchor="ctr"/>
                </a:tc>
                <a:tc>
                  <a:txBody>
                    <a:bodyPr/>
                    <a:lstStyle/>
                    <a:p>
                      <a:pPr algn="l" fontAlgn="b">
                        <a:buNone/>
                      </a:pPr>
                      <a:r>
                        <a:rPr lang="en-US" sz="1200" b="0" i="1" u="none" strike="noStrike" dirty="0">
                          <a:solidFill>
                            <a:srgbClr val="000000"/>
                          </a:solidFill>
                          <a:effectLst/>
                          <a:latin typeface="Century Schoolbook" panose="02040604050505020304" pitchFamily="18" charset="0"/>
                        </a:rPr>
                        <a:t>McGirt</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306622">
                <a:tc>
                  <a:txBody>
                    <a:bodyPr/>
                    <a:lstStyle/>
                    <a:p>
                      <a:pPr algn="l" fontAlgn="b"/>
                      <a:r>
                        <a:rPr lang="en-US" sz="1200" b="0" i="0" u="none" strike="noStrike" dirty="0">
                          <a:solidFill>
                            <a:srgbClr val="000000"/>
                          </a:solidFill>
                          <a:effectLst/>
                          <a:latin typeface="Century Schoolbook" panose="02040604050505020304" pitchFamily="18" charset="0"/>
                        </a:rPr>
                        <a:t>Roberts, Sotomayor, Kagan, Gorsuch, Kavanaugh</a:t>
                      </a:r>
                    </a:p>
                  </a:txBody>
                  <a:tcPr marR="5672" marT="5672"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ctr" fontAlgn="b"/>
                      <a:r>
                        <a:rPr lang="en-US" sz="1200" b="0" i="0" u="none" strike="noStrike" dirty="0">
                          <a:solidFill>
                            <a:srgbClr val="000000"/>
                          </a:solidFill>
                          <a:effectLst/>
                          <a:latin typeface="Century Schoolbook" panose="02040604050505020304" pitchFamily="18" charset="0"/>
                        </a:rPr>
                        <a:t>1</a:t>
                      </a:r>
                    </a:p>
                  </a:txBody>
                  <a:tcPr marR="5672" marT="5672" marB="0" anchor="ctr">
                    <a:lnB w="12700" cap="flat" cmpd="sng" algn="ctr">
                      <a:solidFill>
                        <a:schemeClr val="tx1"/>
                      </a:solidFill>
                      <a:prstDash val="solid"/>
                      <a:round/>
                      <a:headEnd type="none" w="med" len="med"/>
                      <a:tailEnd type="none" w="med" len="med"/>
                    </a:lnB>
                  </a:tcPr>
                </a:tc>
                <a:tc>
                  <a:txBody>
                    <a:bodyPr/>
                    <a:lstStyle/>
                    <a:p>
                      <a:pPr algn="l" fontAlgn="b"/>
                      <a:r>
                        <a:rPr lang="en-US" sz="1200" b="0" i="1" u="none" strike="noStrike" dirty="0" err="1">
                          <a:solidFill>
                            <a:srgbClr val="000000"/>
                          </a:solidFill>
                          <a:effectLst/>
                          <a:latin typeface="Century Schoolbook" panose="02040604050505020304" pitchFamily="18" charset="0"/>
                        </a:rPr>
                        <a:t>Public.Resource</a:t>
                      </a:r>
                      <a:endParaRPr lang="en-US" sz="1200" b="0" i="1" u="none" strike="noStrike" dirty="0">
                        <a:solidFill>
                          <a:srgbClr val="000000"/>
                        </a:solidFill>
                        <a:effectLst/>
                        <a:latin typeface="Century Schoolbook" panose="02040604050505020304" pitchFamily="18" charset="0"/>
                      </a:endParaRPr>
                    </a:p>
                  </a:txBody>
                  <a:tcPr marR="5672" marT="5672"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19</a:t>
            </a:fld>
            <a:endParaRPr lang="en-US" sz="800" dirty="0">
              <a:latin typeface="Century Schoolbook" panose="02040604050505020304" pitchFamily="18" charset="0"/>
            </a:endParaRPr>
          </a:p>
        </p:txBody>
      </p:sp>
      <p:graphicFrame>
        <p:nvGraphicFramePr>
          <p:cNvPr id="7" name="Table 6"/>
          <p:cNvGraphicFramePr>
            <a:graphicFrameLocks noGrp="1"/>
          </p:cNvGraphicFramePr>
          <p:nvPr/>
        </p:nvGraphicFramePr>
        <p:xfrm>
          <a:off x="326221" y="2567968"/>
          <a:ext cx="11538281" cy="3697605"/>
        </p:xfrm>
        <a:graphic>
          <a:graphicData uri="http://schemas.openxmlformats.org/drawingml/2006/table">
            <a:tbl>
              <a:tblPr firstRow="1" bandRow="1">
                <a:tableStyleId>{7DF18680-E054-41AD-8BC1-D1AEF772440D}</a:tableStyleId>
              </a:tblPr>
              <a:tblGrid>
                <a:gridCol w="1053979">
                  <a:extLst>
                    <a:ext uri="{9D8B030D-6E8A-4147-A177-3AD203B41FA5}">
                      <a16:colId xmlns:a16="http://schemas.microsoft.com/office/drawing/2014/main" val="20000"/>
                    </a:ext>
                  </a:extLst>
                </a:gridCol>
                <a:gridCol w="1755713">
                  <a:extLst>
                    <a:ext uri="{9D8B030D-6E8A-4147-A177-3AD203B41FA5}">
                      <a16:colId xmlns:a16="http://schemas.microsoft.com/office/drawing/2014/main" val="20001"/>
                    </a:ext>
                  </a:extLst>
                </a:gridCol>
                <a:gridCol w="1849999">
                  <a:extLst>
                    <a:ext uri="{9D8B030D-6E8A-4147-A177-3AD203B41FA5}">
                      <a16:colId xmlns:a16="http://schemas.microsoft.com/office/drawing/2014/main" val="20002"/>
                    </a:ext>
                  </a:extLst>
                </a:gridCol>
                <a:gridCol w="1553230">
                  <a:extLst>
                    <a:ext uri="{9D8B030D-6E8A-4147-A177-3AD203B41FA5}">
                      <a16:colId xmlns:a16="http://schemas.microsoft.com/office/drawing/2014/main" val="20003"/>
                    </a:ext>
                  </a:extLst>
                </a:gridCol>
                <a:gridCol w="1553230">
                  <a:extLst>
                    <a:ext uri="{9D8B030D-6E8A-4147-A177-3AD203B41FA5}">
                      <a16:colId xmlns:a16="http://schemas.microsoft.com/office/drawing/2014/main" val="20004"/>
                    </a:ext>
                  </a:extLst>
                </a:gridCol>
                <a:gridCol w="2253360">
                  <a:extLst>
                    <a:ext uri="{9D8B030D-6E8A-4147-A177-3AD203B41FA5}">
                      <a16:colId xmlns:a16="http://schemas.microsoft.com/office/drawing/2014/main" val="20005"/>
                    </a:ext>
                  </a:extLst>
                </a:gridCol>
                <a:gridCol w="1518770">
                  <a:extLst>
                    <a:ext uri="{9D8B030D-6E8A-4147-A177-3AD203B41FA5}">
                      <a16:colId xmlns:a16="http://schemas.microsoft.com/office/drawing/2014/main" val="20006"/>
                    </a:ext>
                  </a:extLst>
                </a:gridCol>
              </a:tblGrid>
              <a:tr h="754472">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400" b="1" u="none" strike="noStrike" dirty="0">
                          <a:effectLst/>
                          <a:latin typeface="Century Schoolbook" panose="02040604050505020304" pitchFamily="18" charset="0"/>
                        </a:rPr>
                        <a:t>Term</a:t>
                      </a:r>
                      <a:endParaRPr lang="en-US" sz="1400" b="1" i="0" u="none" strike="noStrike" dirty="0">
                        <a:solidFill>
                          <a:srgbClr val="000000"/>
                        </a:solidFill>
                        <a:effectLst/>
                        <a:latin typeface="Century Schoolbook" panose="02040604050505020304" pitchFamily="18"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400" b="1" u="none" strike="noStrike" dirty="0">
                          <a:effectLst/>
                          <a:latin typeface="Century Schoolbook" panose="02040604050505020304" pitchFamily="18" charset="0"/>
                        </a:rPr>
                        <a:t>Number of 5-4 Opinions</a:t>
                      </a:r>
                      <a:endParaRPr lang="en-US" sz="1400" b="1" i="0" u="none" strike="noStrike" dirty="0">
                        <a:solidFill>
                          <a:srgbClr val="000000"/>
                        </a:solidFill>
                        <a:effectLst/>
                        <a:latin typeface="Century Schoolbook" panose="02040604050505020304" pitchFamily="18"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400" b="1" u="none" strike="noStrike" dirty="0">
                          <a:effectLst/>
                          <a:latin typeface="Century Schoolbook" panose="02040604050505020304" pitchFamily="18" charset="0"/>
                        </a:rPr>
                        <a:t>Percentage of </a:t>
                      </a:r>
                    </a:p>
                    <a:p>
                      <a:pPr algn="ctr" fontAlgn="b"/>
                      <a:r>
                        <a:rPr lang="en-US" sz="1400" b="1" u="none" strike="noStrike" dirty="0">
                          <a:effectLst/>
                          <a:latin typeface="Century Schoolbook" panose="02040604050505020304" pitchFamily="18" charset="0"/>
                        </a:rPr>
                        <a:t>Total Opinions</a:t>
                      </a:r>
                      <a:endParaRPr lang="en-US" sz="1400" b="1" i="0" u="none" strike="noStrike" dirty="0">
                        <a:solidFill>
                          <a:srgbClr val="000000"/>
                        </a:solidFill>
                        <a:effectLst/>
                        <a:latin typeface="Century Schoolbook" panose="02040604050505020304" pitchFamily="18"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400" b="1" u="none" strike="noStrike" dirty="0">
                          <a:effectLst/>
                          <a:latin typeface="Century Schoolbook" panose="02040604050505020304" pitchFamily="18" charset="0"/>
                        </a:rPr>
                        <a:t>Percentage of </a:t>
                      </a:r>
                    </a:p>
                    <a:p>
                      <a:pPr algn="ctr" fontAlgn="b"/>
                      <a:r>
                        <a:rPr lang="en-US" sz="1400" b="1" u="none" strike="noStrike" dirty="0">
                          <a:effectLst/>
                          <a:latin typeface="Century Schoolbook" panose="02040604050505020304" pitchFamily="18" charset="0"/>
                        </a:rPr>
                        <a:t>5-4 Split Ideological *</a:t>
                      </a:r>
                      <a:endParaRPr lang="en-US" sz="1400" b="1" i="0" u="none" strike="noStrike" dirty="0">
                        <a:solidFill>
                          <a:srgbClr val="000000"/>
                        </a:solidFill>
                        <a:effectLst/>
                        <a:latin typeface="Century Schoolbook" panose="02040604050505020304" pitchFamily="18"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400" b="1" u="none" strike="noStrike" dirty="0">
                          <a:effectLst/>
                          <a:latin typeface="Century Schoolbook" panose="02040604050505020304" pitchFamily="18" charset="0"/>
                        </a:rPr>
                        <a:t>Conservative Victory * (Percentage of Ideological)</a:t>
                      </a:r>
                      <a:endParaRPr lang="en-US" sz="1400" b="1" i="0" u="none" strike="noStrike" dirty="0">
                        <a:solidFill>
                          <a:srgbClr val="000000"/>
                        </a:solidFill>
                        <a:effectLst/>
                        <a:latin typeface="Century Schoolbook" panose="02040604050505020304" pitchFamily="18"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400" b="1" u="none" strike="noStrike" dirty="0">
                          <a:effectLst/>
                          <a:latin typeface="Century Schoolbook" panose="02040604050505020304" pitchFamily="18" charset="0"/>
                        </a:rPr>
                        <a:t>Conservative Victory (Percentage of All 5-4)</a:t>
                      </a:r>
                      <a:endParaRPr lang="en-US" sz="1400" b="1" i="0" u="none" strike="noStrike" dirty="0">
                        <a:solidFill>
                          <a:srgbClr val="000000"/>
                        </a:solidFill>
                        <a:effectLst/>
                        <a:latin typeface="Century Schoolbook" panose="02040604050505020304" pitchFamily="18"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400" b="1" u="none" strike="noStrike" dirty="0">
                          <a:effectLst/>
                          <a:latin typeface="Century Schoolbook" panose="02040604050505020304" pitchFamily="18" charset="0"/>
                        </a:rPr>
                        <a:t>Number of Different Alignments</a:t>
                      </a:r>
                      <a:endParaRPr lang="en-US" sz="1400" b="1" i="0" u="none" strike="noStrike" dirty="0">
                        <a:solidFill>
                          <a:srgbClr val="000000"/>
                        </a:solidFill>
                        <a:effectLst/>
                        <a:latin typeface="Century Schoolbook" panose="02040604050505020304" pitchFamily="18"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77165">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Century Schoolbook" panose="02040604050505020304" pitchFamily="18" charset="0"/>
                        </a:rPr>
                        <a:t>OT05</a:t>
                      </a:r>
                      <a:endParaRPr lang="en-US" sz="1100" b="1"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11</a:t>
                      </a:r>
                      <a:endParaRPr lang="en-US" sz="1100" b="0"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12%</a:t>
                      </a:r>
                      <a:endParaRPr lang="en-US" sz="1100" b="0" i="0" u="none" strike="noStrike" dirty="0">
                        <a:solidFill>
                          <a:srgbClr val="000000"/>
                        </a:solidFill>
                        <a:effectLst/>
                        <a:latin typeface="Century Schoolbook" panose="02040604050505020304" pitchFamily="18" charset="0"/>
                      </a:endParaRPr>
                    </a:p>
                  </a:txBody>
                  <a:tcPr marL="9525" marR="9525" marT="9525" marB="0" anchor="b">
                    <a:lnT w="12700" cap="flat" cmpd="sng" algn="ctr">
                      <a:solidFill>
                        <a:schemeClr val="tx1"/>
                      </a:solidFill>
                      <a:prstDash val="solid"/>
                      <a:round/>
                      <a:headEnd type="none" w="med" len="med"/>
                      <a:tailEnd type="none" w="med" len="med"/>
                    </a:lnT>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73%</a:t>
                      </a:r>
                      <a:endParaRPr lang="en-US" sz="1100" b="0" i="0" u="none" strike="noStrike">
                        <a:solidFill>
                          <a:srgbClr val="000000"/>
                        </a:solidFill>
                        <a:effectLst/>
                        <a:latin typeface="Century Schoolbook" panose="02040604050505020304" pitchFamily="18" charset="0"/>
                      </a:endParaRPr>
                    </a:p>
                  </a:txBody>
                  <a:tcPr marL="9525" marR="9525" marT="9525" marB="0" anchor="b">
                    <a:lnT w="12700" cap="flat" cmpd="sng" algn="ctr">
                      <a:solidFill>
                        <a:schemeClr val="tx1"/>
                      </a:solidFill>
                      <a:prstDash val="solid"/>
                      <a:round/>
                      <a:headEnd type="none" w="med" len="med"/>
                      <a:tailEnd type="none" w="med" len="med"/>
                    </a:lnT>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53%</a:t>
                      </a:r>
                      <a:endParaRPr lang="en-US" sz="1100" b="0" i="0" u="none" strike="noStrike">
                        <a:solidFill>
                          <a:srgbClr val="000000"/>
                        </a:solidFill>
                        <a:effectLst/>
                        <a:latin typeface="Century Schoolbook" panose="02040604050505020304" pitchFamily="18" charset="0"/>
                      </a:endParaRPr>
                    </a:p>
                  </a:txBody>
                  <a:tcPr marL="9525" marR="9525" marT="9525" marB="0" anchor="b">
                    <a:lnT w="12700" cap="flat" cmpd="sng" algn="ctr">
                      <a:solidFill>
                        <a:schemeClr val="tx1"/>
                      </a:solidFill>
                      <a:prstDash val="solid"/>
                      <a:round/>
                      <a:headEnd type="none" w="med" len="med"/>
                      <a:tailEnd type="none" w="med" len="med"/>
                    </a:lnT>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45%</a:t>
                      </a:r>
                      <a:endParaRPr lang="en-US" sz="1100" b="0" i="0" u="none" strike="noStrike" dirty="0">
                        <a:solidFill>
                          <a:srgbClr val="000000"/>
                        </a:solidFill>
                        <a:effectLst/>
                        <a:latin typeface="Century Schoolbook" panose="02040604050505020304" pitchFamily="18" charset="0"/>
                      </a:endParaRPr>
                    </a:p>
                  </a:txBody>
                  <a:tcPr marL="9525" marR="9525" marT="9525" marB="0" anchor="b">
                    <a:lnT w="12700" cap="flat" cmpd="sng" algn="ctr">
                      <a:solidFill>
                        <a:schemeClr val="tx1"/>
                      </a:solidFill>
                      <a:prstDash val="solid"/>
                      <a:round/>
                      <a:headEnd type="none" w="med" len="med"/>
                      <a:tailEnd type="none" w="med" len="med"/>
                    </a:lnT>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7</a:t>
                      </a:r>
                      <a:endParaRPr lang="en-US" sz="1100" b="0" i="0" u="none" strike="noStrike" dirty="0">
                        <a:solidFill>
                          <a:srgbClr val="000000"/>
                        </a:solidFill>
                        <a:effectLst/>
                        <a:latin typeface="Century Schoolbook" panose="02040604050505020304" pitchFamily="18" charset="0"/>
                      </a:endParaRPr>
                    </a:p>
                  </a:txBody>
                  <a:tcPr marL="9525" marR="9525" marT="9525" marB="0"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1"/>
                  </a:ext>
                </a:extLst>
              </a:tr>
              <a:tr h="16637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Century Schoolbook" panose="02040604050505020304" pitchFamily="18" charset="0"/>
                        </a:rPr>
                        <a:t>OT06</a:t>
                      </a:r>
                      <a:endParaRPr lang="en-US" sz="1100" b="1"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24</a:t>
                      </a:r>
                      <a:endParaRPr lang="en-US" sz="1100" b="0"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33%</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79%</a:t>
                      </a:r>
                      <a:endParaRPr lang="en-US" sz="1100" b="0" i="0" u="none" strike="noStrike">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68%</a:t>
                      </a:r>
                      <a:endParaRPr lang="en-US" sz="1100" b="0" i="0" u="none" strike="noStrike">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54%</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6</a:t>
                      </a:r>
                      <a:endParaRPr lang="en-US" sz="1100" b="0" i="0" u="none" strike="noStrike" dirty="0">
                        <a:solidFill>
                          <a:srgbClr val="000000"/>
                        </a:solidFill>
                        <a:effectLst/>
                        <a:latin typeface="Century Schoolbook" panose="02040604050505020304" pitchFamily="18" charset="0"/>
                      </a:endParaRP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54892">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Century Schoolbook" panose="02040604050505020304" pitchFamily="18" charset="0"/>
                        </a:rPr>
                        <a:t>OT07</a:t>
                      </a:r>
                      <a:endParaRPr lang="en-US" sz="1100" b="1"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12</a:t>
                      </a:r>
                      <a:endParaRPr lang="en-US" sz="1100" b="0"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17%</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67%</a:t>
                      </a:r>
                      <a:endParaRPr lang="en-US" sz="1100" b="0" i="0" u="none" strike="noStrike">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50%</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33%</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6</a:t>
                      </a:r>
                      <a:endParaRPr lang="en-US" sz="1100" b="0" i="0" u="none" strike="noStrike" dirty="0">
                        <a:solidFill>
                          <a:srgbClr val="000000"/>
                        </a:solidFill>
                        <a:effectLst/>
                        <a:latin typeface="Century Schoolbook" panose="02040604050505020304" pitchFamily="18" charset="0"/>
                      </a:endParaRP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54892">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Century Schoolbook" panose="02040604050505020304" pitchFamily="18" charset="0"/>
                        </a:rPr>
                        <a:t>OT08</a:t>
                      </a:r>
                      <a:endParaRPr lang="en-US" sz="1100" b="1"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23</a:t>
                      </a:r>
                      <a:endParaRPr lang="en-US" sz="1100" b="0"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29%</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70%</a:t>
                      </a:r>
                      <a:endParaRPr lang="en-US" sz="1100" b="0" i="0" u="none" strike="noStrike">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69%</a:t>
                      </a:r>
                      <a:endParaRPr lang="en-US" sz="1100" b="0" i="0" u="none" strike="noStrike">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48%</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7</a:t>
                      </a:r>
                      <a:endParaRPr lang="en-US" sz="1100" b="0" i="0" u="none" strike="noStrike" dirty="0">
                        <a:solidFill>
                          <a:srgbClr val="000000"/>
                        </a:solidFill>
                        <a:effectLst/>
                        <a:latin typeface="Century Schoolbook" panose="02040604050505020304" pitchFamily="18" charset="0"/>
                      </a:endParaRP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54892">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Century Schoolbook" panose="02040604050505020304" pitchFamily="18" charset="0"/>
                        </a:rPr>
                        <a:t>OT09</a:t>
                      </a:r>
                      <a:endParaRPr lang="en-US" sz="1100" b="1"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16</a:t>
                      </a:r>
                      <a:endParaRPr lang="en-US" sz="1100" b="0"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19%</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69%</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73%</a:t>
                      </a:r>
                      <a:endParaRPr lang="en-US" sz="1100" b="0" i="0" u="none" strike="noStrike">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50%</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Century Schoolbook" panose="02040604050505020304" pitchFamily="18" charset="0"/>
                        </a:rPr>
                        <a:t>7</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54892">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Century Schoolbook" panose="02040604050505020304" pitchFamily="18" charset="0"/>
                        </a:rPr>
                        <a:t>OT10</a:t>
                      </a:r>
                      <a:endParaRPr lang="en-US" sz="1100" b="1"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16</a:t>
                      </a:r>
                      <a:endParaRPr lang="en-US" sz="1100" b="0"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20%</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88%</a:t>
                      </a:r>
                      <a:endParaRPr lang="en-US" sz="1100" b="0" i="0" u="none" strike="noStrike">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71%</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63%</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4</a:t>
                      </a:r>
                      <a:endParaRPr lang="en-US" sz="1100" b="0" i="0" u="none" strike="noStrike" dirty="0">
                        <a:solidFill>
                          <a:srgbClr val="000000"/>
                        </a:solidFill>
                        <a:effectLst/>
                        <a:latin typeface="Century Schoolbook" panose="02040604050505020304" pitchFamily="18" charset="0"/>
                      </a:endParaRP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54892">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Century Schoolbook" panose="02040604050505020304" pitchFamily="18" charset="0"/>
                        </a:rPr>
                        <a:t>OT11</a:t>
                      </a:r>
                      <a:endParaRPr lang="en-US" sz="1100" b="1"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15</a:t>
                      </a:r>
                      <a:endParaRPr lang="en-US" sz="1100" b="0" i="0" u="none" strike="noStrike">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20%</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67%</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50%</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33%</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7</a:t>
                      </a:r>
                      <a:endParaRPr lang="en-US" sz="1100" b="0" i="0" u="none" strike="noStrike" dirty="0">
                        <a:solidFill>
                          <a:srgbClr val="000000"/>
                        </a:solidFill>
                        <a:effectLst/>
                        <a:latin typeface="Century Schoolbook" panose="02040604050505020304" pitchFamily="18" charset="0"/>
                      </a:endParaRP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54892">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Century Schoolbook" panose="02040604050505020304" pitchFamily="18" charset="0"/>
                        </a:rPr>
                        <a:t>OT12</a:t>
                      </a:r>
                      <a:endParaRPr lang="en-US" sz="1100" b="1"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23</a:t>
                      </a:r>
                      <a:endParaRPr lang="en-US" sz="1100" b="0" i="0" u="none" strike="noStrike">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29%</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70%</a:t>
                      </a:r>
                      <a:endParaRPr lang="en-US" sz="1100" b="0" i="0" u="none" strike="noStrike">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63%</a:t>
                      </a:r>
                      <a:endParaRPr lang="en-US" sz="1100" b="0" i="0" u="none" strike="noStrike">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43%</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7</a:t>
                      </a:r>
                      <a:endParaRPr lang="en-US" sz="1100" b="0" i="0" u="none" strike="noStrike" dirty="0">
                        <a:solidFill>
                          <a:srgbClr val="000000"/>
                        </a:solidFill>
                        <a:effectLst/>
                        <a:latin typeface="Century Schoolbook" panose="02040604050505020304" pitchFamily="18" charset="0"/>
                      </a:endParaRP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54892">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Century Schoolbook" panose="02040604050505020304" pitchFamily="18" charset="0"/>
                        </a:rPr>
                        <a:t>OT13</a:t>
                      </a:r>
                      <a:endParaRPr lang="en-US" sz="1100" b="1"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10</a:t>
                      </a:r>
                      <a:endParaRPr lang="en-US" sz="1100" b="0" i="0" u="none" strike="noStrike">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14%</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60%</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67%</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40%</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7</a:t>
                      </a:r>
                      <a:endParaRPr lang="en-US" sz="1100" b="0" i="0" u="none" strike="noStrike" dirty="0">
                        <a:solidFill>
                          <a:srgbClr val="000000"/>
                        </a:solidFill>
                        <a:effectLst/>
                        <a:latin typeface="Century Schoolbook" panose="02040604050505020304" pitchFamily="18" charset="0"/>
                      </a:endParaRP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54892">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Century Schoolbook" panose="02040604050505020304" pitchFamily="18" charset="0"/>
                        </a:rPr>
                        <a:t>OT14</a:t>
                      </a:r>
                      <a:endParaRPr lang="en-US" sz="1100" b="1"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19</a:t>
                      </a:r>
                      <a:endParaRPr lang="en-US" sz="1100" b="0" i="0" u="none" strike="noStrike">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26%</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68%</a:t>
                      </a:r>
                      <a:endParaRPr lang="en-US" sz="1100" b="0" i="0" u="none" strike="noStrike">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38%</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26%</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7</a:t>
                      </a:r>
                      <a:endParaRPr lang="en-US" sz="1100" b="0" i="0" u="none" strike="noStrike" dirty="0">
                        <a:solidFill>
                          <a:srgbClr val="000000"/>
                        </a:solidFill>
                        <a:effectLst/>
                        <a:latin typeface="Century Schoolbook" panose="02040604050505020304" pitchFamily="18" charset="0"/>
                      </a:endParaRP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77165">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Century Schoolbook" panose="02040604050505020304" pitchFamily="18" charset="0"/>
                        </a:rPr>
                        <a:t>OT15</a:t>
                      </a:r>
                      <a:endParaRPr lang="en-US" sz="1100" b="1"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4</a:t>
                      </a:r>
                      <a:endParaRPr lang="en-US" sz="1100" b="0" i="0" u="none" strike="noStrike">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5%</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100%</a:t>
                      </a:r>
                      <a:endParaRPr lang="en-US" sz="1100" b="0" i="0" u="none" strike="noStrike">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25%</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25%</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2</a:t>
                      </a:r>
                      <a:endParaRPr lang="en-US" sz="1100" b="0" i="0" u="none" strike="noStrike" dirty="0">
                        <a:solidFill>
                          <a:srgbClr val="000000"/>
                        </a:solidFill>
                        <a:effectLst/>
                        <a:latin typeface="Century Schoolbook" panose="02040604050505020304" pitchFamily="18" charset="0"/>
                      </a:endParaRP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54892">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Century Schoolbook" panose="02040604050505020304" pitchFamily="18" charset="0"/>
                        </a:rPr>
                        <a:t>OT16</a:t>
                      </a:r>
                      <a:endParaRPr lang="en-US" sz="1100" b="1"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7</a:t>
                      </a:r>
                      <a:endParaRPr lang="en-US" sz="1100" b="0" i="0" u="none" strike="noStrike">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10%</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86%</a:t>
                      </a:r>
                      <a:endParaRPr lang="en-US" sz="1100" b="0" i="0" u="none" strike="noStrike">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33%</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29%</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3</a:t>
                      </a:r>
                      <a:endParaRPr lang="en-US" sz="1100" b="0" i="0" u="none" strike="noStrike" dirty="0">
                        <a:solidFill>
                          <a:srgbClr val="000000"/>
                        </a:solidFill>
                        <a:effectLst/>
                        <a:latin typeface="Century Schoolbook" panose="02040604050505020304" pitchFamily="18" charset="0"/>
                      </a:endParaRP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54892">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Century Schoolbook" panose="02040604050505020304" pitchFamily="18" charset="0"/>
                        </a:rPr>
                        <a:t>OT17</a:t>
                      </a:r>
                      <a:endParaRPr lang="en-US" sz="1100" b="1"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19</a:t>
                      </a:r>
                      <a:endParaRPr lang="en-US" sz="1100" b="0" i="0" u="none" strike="noStrike">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26%</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a:effectLst/>
                          <a:latin typeface="Century Schoolbook" panose="02040604050505020304" pitchFamily="18" charset="0"/>
                        </a:rPr>
                        <a:t>74%</a:t>
                      </a:r>
                      <a:endParaRPr lang="en-US" sz="1100" b="0" i="0" u="none" strike="noStrike">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100%</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74%</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5</a:t>
                      </a:r>
                      <a:endParaRPr lang="en-US" sz="1100" b="0" i="0" u="none" strike="noStrike" dirty="0">
                        <a:solidFill>
                          <a:srgbClr val="000000"/>
                        </a:solidFill>
                        <a:effectLst/>
                        <a:latin typeface="Century Schoolbook" panose="02040604050505020304" pitchFamily="18" charset="0"/>
                      </a:endParaRP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54892">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Century Schoolbook" panose="02040604050505020304" pitchFamily="18" charset="0"/>
                        </a:rPr>
                        <a:t>OT18</a:t>
                      </a:r>
                      <a:endParaRPr lang="en-US" sz="1100" b="1"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Century Schoolbook" panose="02040604050505020304" pitchFamily="18" charset="0"/>
                        </a:rPr>
                        <a:t>20</a:t>
                      </a: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28%</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80%</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50%</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40%</a:t>
                      </a:r>
                      <a:endParaRPr lang="en-US" sz="1100" b="0" i="0" u="none" strike="noStrike" dirty="0">
                        <a:solidFill>
                          <a:srgbClr val="000000"/>
                        </a:solidFill>
                        <a:effectLst/>
                        <a:latin typeface="Century Schoolbook" panose="02040604050505020304" pitchFamily="18" charset="0"/>
                      </a:endParaRP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Century Schoolbook" panose="02040604050505020304" pitchFamily="18" charset="0"/>
                        </a:rPr>
                        <a:t>10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54892">
                <a:tc>
                  <a:txBody>
                    <a:bodyPr/>
                    <a:lstStyle/>
                    <a:p>
                      <a:pPr algn="ctr" fontAlgn="b">
                        <a:buNone/>
                      </a:pPr>
                      <a:r>
                        <a:rPr lang="en-US" sz="1100" b="1" i="0" u="none" strike="noStrike" dirty="0">
                          <a:solidFill>
                            <a:srgbClr val="000000"/>
                          </a:solidFill>
                          <a:effectLst/>
                          <a:latin typeface="Century Schoolbook" panose="02040604050505020304" pitchFamily="18" charset="0"/>
                        </a:rPr>
                        <a:t>OT19</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tcPr>
                </a:tc>
                <a:tc>
                  <a:txBody>
                    <a:bodyPr/>
                    <a:lstStyle/>
                    <a:p>
                      <a:pPr algn="ctr" fontAlgn="b">
                        <a:buNone/>
                      </a:pPr>
                      <a:r>
                        <a:rPr lang="en-US" sz="1100" b="0" i="0" u="none" strike="noStrike" dirty="0">
                          <a:solidFill>
                            <a:srgbClr val="000000"/>
                          </a:solidFill>
                          <a:effectLst/>
                          <a:latin typeface="Century Schoolbook" panose="02040604050505020304" pitchFamily="18" charset="0"/>
                        </a:rPr>
                        <a:t>14</a:t>
                      </a: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Century Schoolbook" panose="02040604050505020304" pitchFamily="18" charset="0"/>
                        </a:rPr>
                        <a:t>21%</a:t>
                      </a:r>
                    </a:p>
                  </a:txBody>
                  <a:tcPr marL="9525" marR="9525" marT="9525" marB="0" anchor="b"/>
                </a:tc>
                <a:tc>
                  <a:txBody>
                    <a:bodyPr/>
                    <a:lstStyle/>
                    <a:p>
                      <a:pPr algn="ctr" fontAlgn="b">
                        <a:buNone/>
                      </a:pPr>
                      <a:r>
                        <a:rPr lang="en-US" sz="1100" b="0" i="0" u="none" strike="noStrike" dirty="0">
                          <a:solidFill>
                            <a:srgbClr val="000000"/>
                          </a:solidFill>
                          <a:effectLst/>
                          <a:latin typeface="Century Schoolbook" panose="02040604050505020304" pitchFamily="18" charset="0"/>
                        </a:rPr>
                        <a:t>92%</a:t>
                      </a:r>
                    </a:p>
                  </a:txBody>
                  <a:tcPr marL="9525" marR="9525" marT="9525" marB="0" anchor="b"/>
                </a:tc>
                <a:tc>
                  <a:txBody>
                    <a:bodyPr/>
                    <a:lstStyle/>
                    <a:p>
                      <a:pPr algn="ctr" fontAlgn="b">
                        <a:buNone/>
                      </a:pPr>
                      <a:r>
                        <a:rPr lang="en-US" sz="1100" b="0" i="0" u="none" strike="noStrike" dirty="0">
                          <a:solidFill>
                            <a:srgbClr val="000000"/>
                          </a:solidFill>
                          <a:effectLst/>
                          <a:latin typeface="Century Schoolbook" panose="02040604050505020304" pitchFamily="18" charset="0"/>
                        </a:rPr>
                        <a:t>77%</a:t>
                      </a:r>
                    </a:p>
                  </a:txBody>
                  <a:tcPr marL="9525" marR="9525" marT="9525" marB="0" anchor="b"/>
                </a:tc>
                <a:tc>
                  <a:txBody>
                    <a:bodyPr/>
                    <a:lstStyle/>
                    <a:p>
                      <a:pPr algn="ctr" fontAlgn="b">
                        <a:buNone/>
                      </a:pPr>
                      <a:r>
                        <a:rPr lang="en-US" sz="1100" b="0" i="0" u="none" strike="noStrike" dirty="0">
                          <a:solidFill>
                            <a:srgbClr val="000000"/>
                          </a:solidFill>
                          <a:effectLst/>
                          <a:latin typeface="Century Schoolbook" panose="02040604050505020304" pitchFamily="18" charset="0"/>
                        </a:rPr>
                        <a:t>71%</a:t>
                      </a:r>
                    </a:p>
                  </a:txBody>
                  <a:tcPr marL="9525" marR="9525" marT="9525" marB="0" anchor="b"/>
                </a:tc>
                <a:tc>
                  <a:txBody>
                    <a:bodyPr/>
                    <a:lstStyle/>
                    <a:p>
                      <a:pPr algn="ctr" fontAlgn="b">
                        <a:buNone/>
                      </a:pPr>
                      <a:r>
                        <a:rPr lang="en-US" sz="1100" b="0" i="0" u="none" strike="noStrike" dirty="0">
                          <a:solidFill>
                            <a:srgbClr val="000000"/>
                          </a:solidFill>
                          <a:effectLst/>
                          <a:latin typeface="Century Schoolbook" panose="02040604050505020304" pitchFamily="18" charset="0"/>
                        </a:rPr>
                        <a:t>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54892">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Century Schoolbook" panose="02040604050505020304" pitchFamily="18" charset="0"/>
                        </a:rPr>
                        <a:t>Average</a:t>
                      </a:r>
                      <a:endParaRPr lang="en-US" sz="1100" b="1" i="0" u="none" strike="noStrike" dirty="0">
                        <a:solidFill>
                          <a:srgbClr val="000000"/>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Century Schoolbook" panose="02040604050505020304" pitchFamily="18" charset="0"/>
                        </a:rPr>
                        <a:t>15</a:t>
                      </a: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21%</a:t>
                      </a:r>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76%</a:t>
                      </a:r>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59%</a:t>
                      </a:r>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u="none" strike="noStrike" dirty="0">
                          <a:effectLst/>
                          <a:latin typeface="Century Schoolbook" panose="02040604050505020304" pitchFamily="18" charset="0"/>
                        </a:rPr>
                        <a:t>45%</a:t>
                      </a:r>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Century Schoolbook" panose="02040604050505020304" pitchFamily="18" charset="0"/>
                        </a:rPr>
                        <a:t>6</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bl>
          </a:graphicData>
        </a:graphic>
      </p:graphicFrame>
      <p:sp>
        <p:nvSpPr>
          <p:cNvPr id="6" name="TextBox 5">
            <a:extLst>
              <a:ext uri="{FF2B5EF4-FFF2-40B4-BE49-F238E27FC236}">
                <a16:creationId xmlns:a16="http://schemas.microsoft.com/office/drawing/2014/main" id="{604D38DC-2BAB-E347-BB0D-92A64F59EA09}"/>
              </a:ext>
            </a:extLst>
          </p:cNvPr>
          <p:cNvSpPr txBox="1"/>
          <p:nvPr/>
        </p:nvSpPr>
        <p:spPr>
          <a:xfrm>
            <a:off x="485775" y="6265573"/>
            <a:ext cx="11058525" cy="646331"/>
          </a:xfrm>
          <a:prstGeom prst="rect">
            <a:avLst/>
          </a:prstGeom>
          <a:noFill/>
        </p:spPr>
        <p:txBody>
          <a:bodyPr wrap="square" rtlCol="0">
            <a:spAutoFit/>
          </a:bodyPr>
          <a:lstStyle/>
          <a:p>
            <a:r>
              <a:rPr lang="en-US" dirty="0">
                <a:solidFill>
                  <a:schemeClr val="accent1"/>
                </a:solidFill>
              </a:rPr>
              <a:t>Use alignment graphics instead of listing names in top table. Turn bottom table into: number 5-4, % of total, % nonpolarized, % liberal, % conservative (with asterisk about including 6-3 polarized this term)</a:t>
            </a:r>
          </a:p>
        </p:txBody>
      </p:sp>
    </p:spTree>
    <p:extLst>
      <p:ext uri="{BB962C8B-B14F-4D97-AF65-F5344CB8AC3E}">
        <p14:creationId xmlns:p14="http://schemas.microsoft.com/office/powerpoint/2010/main" val="29783180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20</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pic>
        <p:nvPicPr>
          <p:cNvPr id="25" name="Picture 24" descr="A group of people in suits&#10;&#10;AI-generated content may be incorrect.">
            <a:extLst>
              <a:ext uri="{FF2B5EF4-FFF2-40B4-BE49-F238E27FC236}">
                <a16:creationId xmlns:a16="http://schemas.microsoft.com/office/drawing/2014/main" id="{4B425738-20CC-D4B5-325D-45C35097396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8399" y="963863"/>
            <a:ext cx="7072963" cy="5894137"/>
          </a:xfrm>
          <a:prstGeom prst="rect">
            <a:avLst/>
          </a:prstGeom>
        </p:spPr>
      </p:pic>
      <p:sp>
        <p:nvSpPr>
          <p:cNvPr id="30" name="TextBox 29">
            <a:extLst>
              <a:ext uri="{FF2B5EF4-FFF2-40B4-BE49-F238E27FC236}">
                <a16:creationId xmlns:a16="http://schemas.microsoft.com/office/drawing/2014/main" id="{D44D38DE-EF84-FFB1-D9C0-1DA8AA60C9FD}"/>
              </a:ext>
            </a:extLst>
          </p:cNvPr>
          <p:cNvSpPr txBox="1"/>
          <p:nvPr/>
        </p:nvSpPr>
        <p:spPr>
          <a:xfrm>
            <a:off x="7884544" y="961858"/>
            <a:ext cx="3986606" cy="1200329"/>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during the 2024 Term. </a:t>
            </a:r>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spTree>
    <p:extLst>
      <p:ext uri="{BB962C8B-B14F-4D97-AF65-F5344CB8AC3E}">
        <p14:creationId xmlns:p14="http://schemas.microsoft.com/office/powerpoint/2010/main" val="24904585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96883" y="6492875"/>
            <a:ext cx="2743200" cy="365125"/>
          </a:xfrm>
        </p:spPr>
        <p:txBody>
          <a:bodyPr/>
          <a:lstStyle/>
          <a:p>
            <a:fld id="{5E212BD6-99D2-4430-8307-3DFF6CB1AF68}" type="slidenum">
              <a:rPr lang="en-US" sz="800" smtClean="0">
                <a:latin typeface="Century Schoolbook" panose="02040604050505020304" pitchFamily="18" charset="0"/>
              </a:rPr>
              <a:t>21</a:t>
            </a:fld>
            <a:endParaRPr lang="en-US" sz="800" dirty="0">
              <a:latin typeface="Century Schoolbook" panose="02040604050505020304" pitchFamily="18" charset="0"/>
            </a:endParaRPr>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pic>
        <p:nvPicPr>
          <p:cNvPr id="15" name="Picture 14">
            <a:extLst>
              <a:ext uri="{FF2B5EF4-FFF2-40B4-BE49-F238E27FC236}">
                <a16:creationId xmlns:a16="http://schemas.microsoft.com/office/drawing/2014/main" id="{9942CBFE-B4E7-5232-EDD6-5FE434011AB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5992" y="833266"/>
            <a:ext cx="7075370" cy="5896142"/>
          </a:xfrm>
          <a:prstGeom prst="rect">
            <a:avLst/>
          </a:prstGeom>
        </p:spPr>
      </p:pic>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384995"/>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during the 2024 Term. </a:t>
            </a:r>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spTree>
    <p:extLst>
      <p:ext uri="{BB962C8B-B14F-4D97-AF65-F5344CB8AC3E}">
        <p14:creationId xmlns:p14="http://schemas.microsoft.com/office/powerpoint/2010/main" val="257296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37E7D5-A21C-AD99-D448-C3B4EB6BE37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1A86FFE-0CBD-2C4E-D04F-6C7EB7E58CC0}"/>
              </a:ext>
            </a:extLst>
          </p:cNvPr>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22</a:t>
            </a:fld>
            <a:endParaRPr lang="en-US" sz="800" dirty="0">
              <a:latin typeface="Century Schoolbook" panose="02040604050505020304" pitchFamily="18" charset="0"/>
            </a:endParaRPr>
          </a:p>
        </p:txBody>
      </p:sp>
      <p:graphicFrame>
        <p:nvGraphicFramePr>
          <p:cNvPr id="10" name="Table 9">
            <a:extLst>
              <a:ext uri="{FF2B5EF4-FFF2-40B4-BE49-F238E27FC236}">
                <a16:creationId xmlns:a16="http://schemas.microsoft.com/office/drawing/2014/main" id="{9AA70B56-E3A0-D69E-A404-3E0898FC0C04}"/>
              </a:ext>
            </a:extLst>
          </p:cNvPr>
          <p:cNvGraphicFramePr>
            <a:graphicFrameLocks noGrp="1"/>
          </p:cNvGraphicFramePr>
          <p:nvPr>
            <p:extLst>
              <p:ext uri="{D42A27DB-BD31-4B8C-83A1-F6EECF244321}">
                <p14:modId xmlns:p14="http://schemas.microsoft.com/office/powerpoint/2010/main" val="2719656592"/>
              </p:ext>
            </p:extLst>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2</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Andrew</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Wisconsin Bell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F1EDA938-D0A1-3241-4F10-5243EF537D6D}"/>
              </a:ext>
            </a:extLst>
          </p:cNvPr>
          <p:cNvGraphicFramePr>
            <a:graphicFrameLocks noGrp="1"/>
          </p:cNvGraphicFramePr>
          <p:nvPr>
            <p:extLst>
              <p:ext uri="{D42A27DB-BD31-4B8C-83A1-F6EECF244321}">
                <p14:modId xmlns:p14="http://schemas.microsoft.com/office/powerpoint/2010/main" val="1128476356"/>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3,414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5,987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3,888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3,541</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3,380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3,814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2,400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3,415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3,328</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CC2D783-A1B5-FA39-F5AF-2F341C16BA4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6" name="TextBox 5">
            <a:extLst>
              <a:ext uri="{FF2B5EF4-FFF2-40B4-BE49-F238E27FC236}">
                <a16:creationId xmlns:a16="http://schemas.microsoft.com/office/drawing/2014/main" id="{99CF5190-5402-F10C-8B9B-A5FAF0DF535D}"/>
              </a:ext>
            </a:extLst>
          </p:cNvPr>
          <p:cNvSpPr txBox="1"/>
          <p:nvPr/>
        </p:nvSpPr>
        <p:spPr>
          <a:xfrm>
            <a:off x="3565405" y="1132113"/>
            <a:ext cx="3554951" cy="292388"/>
          </a:xfrm>
          <a:prstGeom prst="rect">
            <a:avLst/>
          </a:prstGeom>
          <a:noFill/>
        </p:spPr>
        <p:txBody>
          <a:bodyPr wrap="square" rtlCol="0">
            <a:spAutoFit/>
          </a:bodyPr>
          <a:lstStyle/>
          <a:p>
            <a:r>
              <a:rPr lang="en-US" sz="1300" b="1" dirty="0">
                <a:latin typeface="MULISH BOLD ROMAN" pitchFamily="2" charset="77"/>
              </a:rPr>
              <a:t>Average Length by Term</a:t>
            </a:r>
          </a:p>
        </p:txBody>
      </p:sp>
      <p:pic>
        <p:nvPicPr>
          <p:cNvPr id="9" name="Picture 8" descr="A graph of different types of numbers&#10;&#10;AI-generated content may be incorrect.">
            <a:extLst>
              <a:ext uri="{FF2B5EF4-FFF2-40B4-BE49-F238E27FC236}">
                <a16:creationId xmlns:a16="http://schemas.microsoft.com/office/drawing/2014/main" id="{E2FC222E-7A3A-751E-5777-798D7AA5A6C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80074" y="128592"/>
            <a:ext cx="6270611" cy="3762366"/>
          </a:xfrm>
          <a:prstGeom prst="rect">
            <a:avLst/>
          </a:prstGeom>
        </p:spPr>
      </p:pic>
      <p:sp>
        <p:nvSpPr>
          <p:cNvPr id="11" name="TextBox 10">
            <a:extLst>
              <a:ext uri="{FF2B5EF4-FFF2-40B4-BE49-F238E27FC236}">
                <a16:creationId xmlns:a16="http://schemas.microsoft.com/office/drawing/2014/main" id="{EB5BD753-CB10-60ED-B4A8-8C4D0151DD72}"/>
              </a:ext>
            </a:extLst>
          </p:cNvPr>
          <p:cNvSpPr txBox="1"/>
          <p:nvPr/>
        </p:nvSpPr>
        <p:spPr>
          <a:xfrm>
            <a:off x="3648974" y="1424501"/>
            <a:ext cx="1690777" cy="1200329"/>
          </a:xfrm>
          <a:prstGeom prst="rect">
            <a:avLst/>
          </a:prstGeom>
          <a:noFill/>
          <a:ln>
            <a:solidFill>
              <a:schemeClr val="tx1"/>
            </a:solidFill>
          </a:ln>
        </p:spPr>
        <p:txBody>
          <a:bodyPr wrap="square" rtlCol="0">
            <a:spAutoFit/>
          </a:bodyPr>
          <a:lstStyle/>
          <a:p>
            <a:r>
              <a:rPr lang="en-US" sz="1200" dirty="0">
                <a:latin typeface="MULISH REGULAR ROMAN"/>
              </a:rPr>
              <a:t>Figure shows the average length (in words) of opinions issued by the Court by type between the 2016 and 2024 terms. </a:t>
            </a:r>
          </a:p>
        </p:txBody>
      </p:sp>
    </p:spTree>
    <p:extLst>
      <p:ext uri="{BB962C8B-B14F-4D97-AF65-F5344CB8AC3E}">
        <p14:creationId xmlns:p14="http://schemas.microsoft.com/office/powerpoint/2010/main" val="2427992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23</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1457943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pattFill prst="wdUpDiag">
                      <a:fgClr>
                        <a:srgbClr val="4F4789"/>
                      </a:fgClr>
                      <a:bgClr>
                        <a:schemeClr val="bg1"/>
                      </a:bgClr>
                    </a:patt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198849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24</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74158378"/>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Monsalvo 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8160031"/>
                  </a:ext>
                </a:extLst>
              </a:tr>
              <a:tr h="320040">
                <a:tc>
                  <a:txBody>
                    <a:bodyPr/>
                    <a:lstStyle/>
                    <a:p>
                      <a:endParaRPr lang="en-US" sz="1100" dirty="0">
                        <a:latin typeface="MULISH BLACK ROMAN"/>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BLACK ROMAN"/>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BLACK ROMAN"/>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BLACK ROMAN"/>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BLACK ROMAN"/>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BLACK ROMAN"/>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BLACK ROMAN"/>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BLACK ROMAN"/>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BLACK ROMAN"/>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BLACK ROMAN"/>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BLACK ROMAN"/>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BLACK ROMAN"/>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42460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25</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29015768"/>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1D75A14-CC75-B921-D836-5642B6C05F5D}"/>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101980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26</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46154303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1A34A9-BE55-D741-FC68-AA580EA51CA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5656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16526</TotalTime>
  <Words>2680</Words>
  <Application>Microsoft Office PowerPoint</Application>
  <PresentationFormat>Widescreen</PresentationFormat>
  <Paragraphs>1109</Paragraphs>
  <Slides>26</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26</vt:i4>
      </vt:variant>
    </vt:vector>
  </HeadingPairs>
  <TitlesOfParts>
    <vt:vector size="37" baseType="lpstr">
      <vt:lpstr>Arial</vt:lpstr>
      <vt:lpstr>Calibri</vt:lpstr>
      <vt:lpstr>Calibri Light</vt:lpstr>
      <vt:lpstr>Century Schoolbook</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__, 2025  UPDATED MAY 12,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Closely divided cases: 5-4 Cases</vt:lpstr>
      <vt:lpstr>PowerPoint Presentation</vt:lpstr>
      <vt:lpstr>PowerPoint Presentation</vt:lpstr>
      <vt:lpstr>PowerPoint Presentation</vt:lpstr>
      <vt:lpstr>VOTING ALIGNMENT</vt:lpstr>
      <vt:lpstr>VOTING ALIGNMENT</vt:lpstr>
      <vt:lpstr>VOTING ALIGNMENT</vt:lpstr>
      <vt:lpstr>VOTING ALIGNMENT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210</cp:revision>
  <cp:lastPrinted>2019-06-28T21:02:00Z</cp:lastPrinted>
  <dcterms:created xsi:type="dcterms:W3CDTF">2019-02-07T19:44:00Z</dcterms:created>
  <dcterms:modified xsi:type="dcterms:W3CDTF">2025-05-13T15:03:40Z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